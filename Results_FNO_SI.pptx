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51" r:id="rId2"/>
    <p:sldId id="375" r:id="rId3"/>
    <p:sldId id="416" r:id="rId4"/>
    <p:sldId id="408" r:id="rId5"/>
    <p:sldId id="409" r:id="rId6"/>
    <p:sldId id="421" r:id="rId7"/>
    <p:sldId id="420" r:id="rId8"/>
    <p:sldId id="422" r:id="rId9"/>
    <p:sldId id="376" r:id="rId10"/>
    <p:sldId id="414" r:id="rId11"/>
    <p:sldId id="417" r:id="rId12"/>
    <p:sldId id="418" r:id="rId13"/>
    <p:sldId id="433" r:id="rId14"/>
    <p:sldId id="439" r:id="rId15"/>
    <p:sldId id="44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6"/>
  </p:normalViewPr>
  <p:slideViewPr>
    <p:cSldViewPr snapToGrid="0">
      <p:cViewPr varScale="1">
        <p:scale>
          <a:sx n="103" d="100"/>
          <a:sy n="103"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2C88AA-157A-6A49-A500-947DD14E093E}" type="datetimeFigureOut">
              <a:rPr lang="en-US" smtClean="0"/>
              <a:t>7/27/26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A5EEC-243E-0A41-A0D6-53E77627B593}" type="slidenum">
              <a:rPr lang="en-US" smtClean="0"/>
              <a:t>‹#›</a:t>
            </a:fld>
            <a:endParaRPr lang="en-US"/>
          </a:p>
        </p:txBody>
      </p:sp>
    </p:spTree>
    <p:extLst>
      <p:ext uri="{BB962C8B-B14F-4D97-AF65-F5344CB8AC3E}">
        <p14:creationId xmlns:p14="http://schemas.microsoft.com/office/powerpoint/2010/main" val="1401293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1</a:t>
            </a:fld>
            <a:endParaRPr lang="en-US" dirty="0"/>
          </a:p>
        </p:txBody>
      </p:sp>
    </p:spTree>
    <p:extLst>
      <p:ext uri="{BB962C8B-B14F-4D97-AF65-F5344CB8AC3E}">
        <p14:creationId xmlns:p14="http://schemas.microsoft.com/office/powerpoint/2010/main" val="387908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22AF8-2D97-D4D1-61D0-F718010C91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BAED7-29FC-85DF-9BA5-D7970495C0B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3CB5D1-7334-B0AE-71F3-2E86ACC3D1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645E79-172D-D4BE-DD16-CC48377830D7}"/>
              </a:ext>
            </a:extLst>
          </p:cNvPr>
          <p:cNvSpPr>
            <a:spLocks noGrp="1"/>
          </p:cNvSpPr>
          <p:nvPr>
            <p:ph type="sldNum" sz="quarter" idx="5"/>
          </p:nvPr>
        </p:nvSpPr>
        <p:spPr/>
        <p:txBody>
          <a:bodyPr/>
          <a:lstStyle/>
          <a:p>
            <a:fld id="{54EEB602-95FC-483A-B12D-216A7AD7EA24}" type="slidenum">
              <a:rPr lang="en-US" smtClean="0"/>
              <a:t>2</a:t>
            </a:fld>
            <a:endParaRPr lang="en-US" dirty="0"/>
          </a:p>
        </p:txBody>
      </p:sp>
    </p:spTree>
    <p:extLst>
      <p:ext uri="{BB962C8B-B14F-4D97-AF65-F5344CB8AC3E}">
        <p14:creationId xmlns:p14="http://schemas.microsoft.com/office/powerpoint/2010/main" val="1029871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57523-50AB-D5F7-73DD-298347EC5B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A196C2-5343-FC78-D83D-C58EDD7AF79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0FDF5B-97E4-5788-B88E-DF9F3882A9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BD1AE0-ABFC-5BB4-2692-DD8BA59308AC}"/>
              </a:ext>
            </a:extLst>
          </p:cNvPr>
          <p:cNvSpPr>
            <a:spLocks noGrp="1"/>
          </p:cNvSpPr>
          <p:nvPr>
            <p:ph type="sldNum" sz="quarter" idx="5"/>
          </p:nvPr>
        </p:nvSpPr>
        <p:spPr/>
        <p:txBody>
          <a:bodyPr/>
          <a:lstStyle/>
          <a:p>
            <a:fld id="{54EEB602-95FC-483A-B12D-216A7AD7EA24}" type="slidenum">
              <a:rPr lang="en-US" smtClean="0"/>
              <a:t>3</a:t>
            </a:fld>
            <a:endParaRPr lang="en-US" dirty="0"/>
          </a:p>
        </p:txBody>
      </p:sp>
    </p:spTree>
    <p:extLst>
      <p:ext uri="{BB962C8B-B14F-4D97-AF65-F5344CB8AC3E}">
        <p14:creationId xmlns:p14="http://schemas.microsoft.com/office/powerpoint/2010/main" val="1145617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8C653-9A13-6B29-A53A-CF032F4AE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E3761-6EBD-322B-1619-15196DC17B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E513670-64AB-87BD-1057-F9DC21A4C2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CC756F-6C48-7C4D-56C8-94B439E3B6C5}"/>
              </a:ext>
            </a:extLst>
          </p:cNvPr>
          <p:cNvSpPr>
            <a:spLocks noGrp="1"/>
          </p:cNvSpPr>
          <p:nvPr>
            <p:ph type="sldNum" sz="quarter" idx="5"/>
          </p:nvPr>
        </p:nvSpPr>
        <p:spPr/>
        <p:txBody>
          <a:bodyPr/>
          <a:lstStyle/>
          <a:p>
            <a:fld id="{54EEB602-95FC-483A-B12D-216A7AD7EA24}" type="slidenum">
              <a:rPr lang="en-US" smtClean="0"/>
              <a:t>4</a:t>
            </a:fld>
            <a:endParaRPr lang="en-US" dirty="0"/>
          </a:p>
        </p:txBody>
      </p:sp>
    </p:spTree>
    <p:extLst>
      <p:ext uri="{BB962C8B-B14F-4D97-AF65-F5344CB8AC3E}">
        <p14:creationId xmlns:p14="http://schemas.microsoft.com/office/powerpoint/2010/main" val="1068501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DA08F-6ADD-7A2C-F761-931A92F44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AC11D0-2700-1F58-38BD-5BC89C2CC69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0AE2E0-D88D-222A-A745-89EFC3D270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13B55A-2FF4-5F2D-9B71-47B65E91E3CA}"/>
              </a:ext>
            </a:extLst>
          </p:cNvPr>
          <p:cNvSpPr>
            <a:spLocks noGrp="1"/>
          </p:cNvSpPr>
          <p:nvPr>
            <p:ph type="sldNum" sz="quarter" idx="5"/>
          </p:nvPr>
        </p:nvSpPr>
        <p:spPr/>
        <p:txBody>
          <a:bodyPr/>
          <a:lstStyle/>
          <a:p>
            <a:fld id="{54EEB602-95FC-483A-B12D-216A7AD7EA24}" type="slidenum">
              <a:rPr lang="en-US" smtClean="0"/>
              <a:t>5</a:t>
            </a:fld>
            <a:endParaRPr lang="en-US" dirty="0"/>
          </a:p>
        </p:txBody>
      </p:sp>
    </p:spTree>
    <p:extLst>
      <p:ext uri="{BB962C8B-B14F-4D97-AF65-F5344CB8AC3E}">
        <p14:creationId xmlns:p14="http://schemas.microsoft.com/office/powerpoint/2010/main" val="3283510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8E531-689B-1730-C251-8DA6FB7750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C8240-2251-7D12-60D1-C01C6A18AA6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5741D4-5F34-7AD7-BF18-DBC0C9D482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E2457E-F04B-1076-41D8-75450D01EE8A}"/>
              </a:ext>
            </a:extLst>
          </p:cNvPr>
          <p:cNvSpPr>
            <a:spLocks noGrp="1"/>
          </p:cNvSpPr>
          <p:nvPr>
            <p:ph type="sldNum" sz="quarter" idx="5"/>
          </p:nvPr>
        </p:nvSpPr>
        <p:spPr/>
        <p:txBody>
          <a:bodyPr/>
          <a:lstStyle/>
          <a:p>
            <a:fld id="{54EEB602-95FC-483A-B12D-216A7AD7EA24}" type="slidenum">
              <a:rPr lang="en-US" smtClean="0"/>
              <a:t>6</a:t>
            </a:fld>
            <a:endParaRPr lang="en-US" dirty="0"/>
          </a:p>
        </p:txBody>
      </p:sp>
    </p:spTree>
    <p:extLst>
      <p:ext uri="{BB962C8B-B14F-4D97-AF65-F5344CB8AC3E}">
        <p14:creationId xmlns:p14="http://schemas.microsoft.com/office/powerpoint/2010/main" val="2052656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4D67B-EBDF-46D4-B983-553C276EA8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69974-53F2-B9A5-C647-1733704CCE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29AD282-F235-A5D6-7F4D-E883563C51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E92C7F-FDB8-EF1C-17ED-0EECE13ED9BA}"/>
              </a:ext>
            </a:extLst>
          </p:cNvPr>
          <p:cNvSpPr>
            <a:spLocks noGrp="1"/>
          </p:cNvSpPr>
          <p:nvPr>
            <p:ph type="sldNum" sz="quarter" idx="5"/>
          </p:nvPr>
        </p:nvSpPr>
        <p:spPr/>
        <p:txBody>
          <a:bodyPr/>
          <a:lstStyle/>
          <a:p>
            <a:fld id="{54EEB602-95FC-483A-B12D-216A7AD7EA24}" type="slidenum">
              <a:rPr lang="en-US" smtClean="0"/>
              <a:t>7</a:t>
            </a:fld>
            <a:endParaRPr lang="en-US" dirty="0"/>
          </a:p>
        </p:txBody>
      </p:sp>
    </p:spTree>
    <p:extLst>
      <p:ext uri="{BB962C8B-B14F-4D97-AF65-F5344CB8AC3E}">
        <p14:creationId xmlns:p14="http://schemas.microsoft.com/office/powerpoint/2010/main" val="1270523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DDE0D-A04C-A0E0-37E2-1E66EC4EF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5E3AF-3D64-0534-6B91-83F98E5F2A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8560A4B-C38A-694D-93A7-C8CF5EBD03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379211-67D8-7223-E460-9CA2D253E4A3}"/>
              </a:ext>
            </a:extLst>
          </p:cNvPr>
          <p:cNvSpPr>
            <a:spLocks noGrp="1"/>
          </p:cNvSpPr>
          <p:nvPr>
            <p:ph type="sldNum" sz="quarter" idx="5"/>
          </p:nvPr>
        </p:nvSpPr>
        <p:spPr/>
        <p:txBody>
          <a:bodyPr/>
          <a:lstStyle/>
          <a:p>
            <a:fld id="{54EEB602-95FC-483A-B12D-216A7AD7EA24}" type="slidenum">
              <a:rPr lang="en-US" smtClean="0"/>
              <a:t>8</a:t>
            </a:fld>
            <a:endParaRPr lang="en-US" dirty="0"/>
          </a:p>
        </p:txBody>
      </p:sp>
    </p:spTree>
    <p:extLst>
      <p:ext uri="{BB962C8B-B14F-4D97-AF65-F5344CB8AC3E}">
        <p14:creationId xmlns:p14="http://schemas.microsoft.com/office/powerpoint/2010/main" val="279971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42FCB-43C9-D426-CCE3-77E6524775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C0AC3-A6D5-6B4D-6C1F-4BE6528751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D50500-6E30-3118-5448-30645D7A85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A6759D-79F5-1097-EE5E-6333E6B6361D}"/>
              </a:ext>
            </a:extLst>
          </p:cNvPr>
          <p:cNvSpPr>
            <a:spLocks noGrp="1"/>
          </p:cNvSpPr>
          <p:nvPr>
            <p:ph type="sldNum" sz="quarter" idx="5"/>
          </p:nvPr>
        </p:nvSpPr>
        <p:spPr/>
        <p:txBody>
          <a:bodyPr/>
          <a:lstStyle/>
          <a:p>
            <a:fld id="{54EEB602-95FC-483A-B12D-216A7AD7EA24}" type="slidenum">
              <a:rPr lang="en-US" smtClean="0"/>
              <a:t>9</a:t>
            </a:fld>
            <a:endParaRPr lang="en-US" dirty="0"/>
          </a:p>
        </p:txBody>
      </p:sp>
    </p:spTree>
    <p:extLst>
      <p:ext uri="{BB962C8B-B14F-4D97-AF65-F5344CB8AC3E}">
        <p14:creationId xmlns:p14="http://schemas.microsoft.com/office/powerpoint/2010/main" val="3393006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FEC3C-E2C6-7755-E85D-FCE38E09C5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E4DC0-3CAE-363F-5CE7-2362BDFE077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35C3F5D-08F4-5F45-7E4C-A0B3E46E81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FFBDF1-BFDE-044D-7D3B-4533B88E2977}"/>
              </a:ext>
            </a:extLst>
          </p:cNvPr>
          <p:cNvSpPr>
            <a:spLocks noGrp="1"/>
          </p:cNvSpPr>
          <p:nvPr>
            <p:ph type="sldNum" sz="quarter" idx="5"/>
          </p:nvPr>
        </p:nvSpPr>
        <p:spPr/>
        <p:txBody>
          <a:bodyPr/>
          <a:lstStyle/>
          <a:p>
            <a:fld id="{54EEB602-95FC-483A-B12D-216A7AD7EA24}" type="slidenum">
              <a:rPr lang="en-US" smtClean="0"/>
              <a:t>10</a:t>
            </a:fld>
            <a:endParaRPr lang="en-US" dirty="0"/>
          </a:p>
        </p:txBody>
      </p:sp>
    </p:spTree>
    <p:extLst>
      <p:ext uri="{BB962C8B-B14F-4D97-AF65-F5344CB8AC3E}">
        <p14:creationId xmlns:p14="http://schemas.microsoft.com/office/powerpoint/2010/main" val="846189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80107-A29C-D8E6-F21C-4FC45BBEE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4B089B-27EA-7AB5-A1FD-FFBA1F854F2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A90CC12-E240-D702-88FF-662754412F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AA7361-A51F-6A1D-9F77-1FE4B9F60877}"/>
              </a:ext>
            </a:extLst>
          </p:cNvPr>
          <p:cNvSpPr>
            <a:spLocks noGrp="1"/>
          </p:cNvSpPr>
          <p:nvPr>
            <p:ph type="sldNum" sz="quarter" idx="5"/>
          </p:nvPr>
        </p:nvSpPr>
        <p:spPr/>
        <p:txBody>
          <a:bodyPr/>
          <a:lstStyle/>
          <a:p>
            <a:fld id="{54EEB602-95FC-483A-B12D-216A7AD7EA24}" type="slidenum">
              <a:rPr lang="en-US" smtClean="0"/>
              <a:t>11</a:t>
            </a:fld>
            <a:endParaRPr lang="en-US" dirty="0"/>
          </a:p>
        </p:txBody>
      </p:sp>
    </p:spTree>
    <p:extLst>
      <p:ext uri="{BB962C8B-B14F-4D97-AF65-F5344CB8AC3E}">
        <p14:creationId xmlns:p14="http://schemas.microsoft.com/office/powerpoint/2010/main" val="16576860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14AB6-25E5-FA6F-A2E1-EA80B975E9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7025C-4EAE-7436-F5FA-464C7CC5142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9BF17C-A9D7-F26A-E68B-A4ED833AE4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7F5577-A8E9-DCC6-78B9-2270465C89CC}"/>
              </a:ext>
            </a:extLst>
          </p:cNvPr>
          <p:cNvSpPr>
            <a:spLocks noGrp="1"/>
          </p:cNvSpPr>
          <p:nvPr>
            <p:ph type="sldNum" sz="quarter" idx="5"/>
          </p:nvPr>
        </p:nvSpPr>
        <p:spPr/>
        <p:txBody>
          <a:bodyPr/>
          <a:lstStyle/>
          <a:p>
            <a:fld id="{54EEB602-95FC-483A-B12D-216A7AD7EA24}" type="slidenum">
              <a:rPr lang="en-US" smtClean="0"/>
              <a:t>12</a:t>
            </a:fld>
            <a:endParaRPr lang="en-US" dirty="0"/>
          </a:p>
        </p:txBody>
      </p:sp>
    </p:spTree>
    <p:extLst>
      <p:ext uri="{BB962C8B-B14F-4D97-AF65-F5344CB8AC3E}">
        <p14:creationId xmlns:p14="http://schemas.microsoft.com/office/powerpoint/2010/main" val="1554175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02AC0-D135-3E70-1EC2-C688C7F7F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F4DE0-C74B-CB19-F202-BDE6624B28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93DA9A-CF2B-9881-45A4-85F208754D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F1FF6A-626C-BB92-4B77-69F5CA87EE1A}"/>
              </a:ext>
            </a:extLst>
          </p:cNvPr>
          <p:cNvSpPr>
            <a:spLocks noGrp="1"/>
          </p:cNvSpPr>
          <p:nvPr>
            <p:ph type="sldNum" sz="quarter" idx="5"/>
          </p:nvPr>
        </p:nvSpPr>
        <p:spPr/>
        <p:txBody>
          <a:bodyPr/>
          <a:lstStyle/>
          <a:p>
            <a:fld id="{54EEB602-95FC-483A-B12D-216A7AD7EA24}" type="slidenum">
              <a:rPr lang="en-US" smtClean="0"/>
              <a:t>13</a:t>
            </a:fld>
            <a:endParaRPr lang="en-US" dirty="0"/>
          </a:p>
        </p:txBody>
      </p:sp>
    </p:spTree>
    <p:extLst>
      <p:ext uri="{BB962C8B-B14F-4D97-AF65-F5344CB8AC3E}">
        <p14:creationId xmlns:p14="http://schemas.microsoft.com/office/powerpoint/2010/main" val="4111758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E95ED-36A4-CBD3-6CBC-A185B3BB5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62F6C-C1C7-8518-7175-FA7F2ECBBD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90FAF1-650A-FB09-E61B-AECBF63703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223F52-25C9-943B-E93F-F357DAE1ABCD}"/>
              </a:ext>
            </a:extLst>
          </p:cNvPr>
          <p:cNvSpPr>
            <a:spLocks noGrp="1"/>
          </p:cNvSpPr>
          <p:nvPr>
            <p:ph type="sldNum" sz="quarter" idx="5"/>
          </p:nvPr>
        </p:nvSpPr>
        <p:spPr/>
        <p:txBody>
          <a:bodyPr/>
          <a:lstStyle/>
          <a:p>
            <a:fld id="{54EEB602-95FC-483A-B12D-216A7AD7EA24}" type="slidenum">
              <a:rPr lang="en-US" smtClean="0"/>
              <a:t>14</a:t>
            </a:fld>
            <a:endParaRPr lang="en-US" dirty="0"/>
          </a:p>
        </p:txBody>
      </p:sp>
    </p:spTree>
    <p:extLst>
      <p:ext uri="{BB962C8B-B14F-4D97-AF65-F5344CB8AC3E}">
        <p14:creationId xmlns:p14="http://schemas.microsoft.com/office/powerpoint/2010/main" val="41951300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00E5C-F71E-B9EB-7090-B23595A12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29192-F691-7C00-D726-65A80A8E10D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02847E-1020-3A02-1A9D-AC5AB1E18B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AB5E49-32DD-196D-EC9B-28BA53446CC6}"/>
              </a:ext>
            </a:extLst>
          </p:cNvPr>
          <p:cNvSpPr>
            <a:spLocks noGrp="1"/>
          </p:cNvSpPr>
          <p:nvPr>
            <p:ph type="sldNum" sz="quarter" idx="5"/>
          </p:nvPr>
        </p:nvSpPr>
        <p:spPr/>
        <p:txBody>
          <a:bodyPr/>
          <a:lstStyle/>
          <a:p>
            <a:fld id="{54EEB602-95FC-483A-B12D-216A7AD7EA24}" type="slidenum">
              <a:rPr lang="en-US" smtClean="0"/>
              <a:t>15</a:t>
            </a:fld>
            <a:endParaRPr lang="en-US" dirty="0"/>
          </a:p>
        </p:txBody>
      </p:sp>
    </p:spTree>
    <p:extLst>
      <p:ext uri="{BB962C8B-B14F-4D97-AF65-F5344CB8AC3E}">
        <p14:creationId xmlns:p14="http://schemas.microsoft.com/office/powerpoint/2010/main" val="448641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EC507-2C78-B98E-6AF0-DE49E2AAC8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755D4A-B061-0161-8036-ADE83AC628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1796F3-A52A-9D70-DCA3-1317A9F0FAC8}"/>
              </a:ext>
            </a:extLst>
          </p:cNvPr>
          <p:cNvSpPr>
            <a:spLocks noGrp="1"/>
          </p:cNvSpPr>
          <p:nvPr>
            <p:ph type="dt" sz="half" idx="10"/>
          </p:nvPr>
        </p:nvSpPr>
        <p:spPr/>
        <p:txBody>
          <a:bodyPr/>
          <a:lstStyle/>
          <a:p>
            <a:fld id="{F7874DD9-1248-4C4F-B062-9DEB4812E5E4}" type="datetimeFigureOut">
              <a:rPr lang="en-US" smtClean="0"/>
              <a:t>7/27/26</a:t>
            </a:fld>
            <a:endParaRPr lang="en-US"/>
          </a:p>
        </p:txBody>
      </p:sp>
      <p:sp>
        <p:nvSpPr>
          <p:cNvPr id="5" name="Footer Placeholder 4">
            <a:extLst>
              <a:ext uri="{FF2B5EF4-FFF2-40B4-BE49-F238E27FC236}">
                <a16:creationId xmlns:a16="http://schemas.microsoft.com/office/drawing/2014/main" id="{DF2F43F3-40D4-1E9A-7A47-03687A6397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B62BD-0B78-4816-92E8-8AF96F3EB449}"/>
              </a:ext>
            </a:extLst>
          </p:cNvPr>
          <p:cNvSpPr>
            <a:spLocks noGrp="1"/>
          </p:cNvSpPr>
          <p:nvPr>
            <p:ph type="sldNum" sz="quarter" idx="12"/>
          </p:nvPr>
        </p:nvSpPr>
        <p:spPr/>
        <p:txBody>
          <a:bodyPr/>
          <a:lstStyle/>
          <a:p>
            <a:fld id="{0F424A98-D1E4-F34F-A27E-A7C6F57C2655}" type="slidenum">
              <a:rPr lang="en-US" smtClean="0"/>
              <a:t>‹#›</a:t>
            </a:fld>
            <a:endParaRPr lang="en-US"/>
          </a:p>
        </p:txBody>
      </p:sp>
    </p:spTree>
    <p:extLst>
      <p:ext uri="{BB962C8B-B14F-4D97-AF65-F5344CB8AC3E}">
        <p14:creationId xmlns:p14="http://schemas.microsoft.com/office/powerpoint/2010/main" val="860639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7023E-F45A-DA06-CF86-6AE9F74246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721BDB-ABB6-89F7-7046-41A809A267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1C45A5-45B6-A7C1-F198-8CB123C84044}"/>
              </a:ext>
            </a:extLst>
          </p:cNvPr>
          <p:cNvSpPr>
            <a:spLocks noGrp="1"/>
          </p:cNvSpPr>
          <p:nvPr>
            <p:ph type="dt" sz="half" idx="10"/>
          </p:nvPr>
        </p:nvSpPr>
        <p:spPr/>
        <p:txBody>
          <a:bodyPr/>
          <a:lstStyle/>
          <a:p>
            <a:fld id="{F7874DD9-1248-4C4F-B062-9DEB4812E5E4}" type="datetimeFigureOut">
              <a:rPr lang="en-US" smtClean="0"/>
              <a:t>7/27/26</a:t>
            </a:fld>
            <a:endParaRPr lang="en-US"/>
          </a:p>
        </p:txBody>
      </p:sp>
      <p:sp>
        <p:nvSpPr>
          <p:cNvPr id="5" name="Footer Placeholder 4">
            <a:extLst>
              <a:ext uri="{FF2B5EF4-FFF2-40B4-BE49-F238E27FC236}">
                <a16:creationId xmlns:a16="http://schemas.microsoft.com/office/drawing/2014/main" id="{A8676B34-E16E-713E-C6A4-95842EDB58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C6D7A3-E476-4EFE-0C79-10DF7E73AF11}"/>
              </a:ext>
            </a:extLst>
          </p:cNvPr>
          <p:cNvSpPr>
            <a:spLocks noGrp="1"/>
          </p:cNvSpPr>
          <p:nvPr>
            <p:ph type="sldNum" sz="quarter" idx="12"/>
          </p:nvPr>
        </p:nvSpPr>
        <p:spPr/>
        <p:txBody>
          <a:bodyPr/>
          <a:lstStyle/>
          <a:p>
            <a:fld id="{0F424A98-D1E4-F34F-A27E-A7C6F57C2655}" type="slidenum">
              <a:rPr lang="en-US" smtClean="0"/>
              <a:t>‹#›</a:t>
            </a:fld>
            <a:endParaRPr lang="en-US"/>
          </a:p>
        </p:txBody>
      </p:sp>
    </p:spTree>
    <p:extLst>
      <p:ext uri="{BB962C8B-B14F-4D97-AF65-F5344CB8AC3E}">
        <p14:creationId xmlns:p14="http://schemas.microsoft.com/office/powerpoint/2010/main" val="1958380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61C0-F434-A9E7-9445-F3B260DCF6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802F1B-82AA-D9A9-08BA-9E8760E2D1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2AD10D-9B57-F4C0-45F4-FC90BB6EE01A}"/>
              </a:ext>
            </a:extLst>
          </p:cNvPr>
          <p:cNvSpPr>
            <a:spLocks noGrp="1"/>
          </p:cNvSpPr>
          <p:nvPr>
            <p:ph type="dt" sz="half" idx="10"/>
          </p:nvPr>
        </p:nvSpPr>
        <p:spPr/>
        <p:txBody>
          <a:bodyPr/>
          <a:lstStyle/>
          <a:p>
            <a:fld id="{F7874DD9-1248-4C4F-B062-9DEB4812E5E4}" type="datetimeFigureOut">
              <a:rPr lang="en-US" smtClean="0"/>
              <a:t>7/27/26</a:t>
            </a:fld>
            <a:endParaRPr lang="en-US"/>
          </a:p>
        </p:txBody>
      </p:sp>
      <p:sp>
        <p:nvSpPr>
          <p:cNvPr id="5" name="Footer Placeholder 4">
            <a:extLst>
              <a:ext uri="{FF2B5EF4-FFF2-40B4-BE49-F238E27FC236}">
                <a16:creationId xmlns:a16="http://schemas.microsoft.com/office/drawing/2014/main" id="{595A93E3-0EC0-FC73-F0E2-9179D36E81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45EB9B-6F4B-52BF-2C61-B1406C3033D7}"/>
              </a:ext>
            </a:extLst>
          </p:cNvPr>
          <p:cNvSpPr>
            <a:spLocks noGrp="1"/>
          </p:cNvSpPr>
          <p:nvPr>
            <p:ph type="sldNum" sz="quarter" idx="12"/>
          </p:nvPr>
        </p:nvSpPr>
        <p:spPr/>
        <p:txBody>
          <a:bodyPr/>
          <a:lstStyle/>
          <a:p>
            <a:fld id="{0F424A98-D1E4-F34F-A27E-A7C6F57C2655}" type="slidenum">
              <a:rPr lang="en-US" smtClean="0"/>
              <a:t>‹#›</a:t>
            </a:fld>
            <a:endParaRPr lang="en-US"/>
          </a:p>
        </p:txBody>
      </p:sp>
    </p:spTree>
    <p:extLst>
      <p:ext uri="{BB962C8B-B14F-4D97-AF65-F5344CB8AC3E}">
        <p14:creationId xmlns:p14="http://schemas.microsoft.com/office/powerpoint/2010/main" val="3222238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26895-729E-A6ED-9527-DFB7687E66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A613E4-E9FD-796D-434E-4262919169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73EB6B-EB08-7CBD-3237-BB5CF378C1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7DB0B7-C8DF-9E68-24EB-DE63F7D18EF1}"/>
              </a:ext>
            </a:extLst>
          </p:cNvPr>
          <p:cNvSpPr>
            <a:spLocks noGrp="1"/>
          </p:cNvSpPr>
          <p:nvPr>
            <p:ph type="dt" sz="half" idx="10"/>
          </p:nvPr>
        </p:nvSpPr>
        <p:spPr/>
        <p:txBody>
          <a:bodyPr/>
          <a:lstStyle/>
          <a:p>
            <a:fld id="{F7874DD9-1248-4C4F-B062-9DEB4812E5E4}" type="datetimeFigureOut">
              <a:rPr lang="en-US" smtClean="0"/>
              <a:t>7/27/26</a:t>
            </a:fld>
            <a:endParaRPr lang="en-US"/>
          </a:p>
        </p:txBody>
      </p:sp>
      <p:sp>
        <p:nvSpPr>
          <p:cNvPr id="6" name="Footer Placeholder 5">
            <a:extLst>
              <a:ext uri="{FF2B5EF4-FFF2-40B4-BE49-F238E27FC236}">
                <a16:creationId xmlns:a16="http://schemas.microsoft.com/office/drawing/2014/main" id="{2334C026-376C-76C3-3E99-D230F0E985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CF0EFC-71FB-DEEB-14F0-9890CE513220}"/>
              </a:ext>
            </a:extLst>
          </p:cNvPr>
          <p:cNvSpPr>
            <a:spLocks noGrp="1"/>
          </p:cNvSpPr>
          <p:nvPr>
            <p:ph type="sldNum" sz="quarter" idx="12"/>
          </p:nvPr>
        </p:nvSpPr>
        <p:spPr/>
        <p:txBody>
          <a:bodyPr/>
          <a:lstStyle/>
          <a:p>
            <a:fld id="{0F424A98-D1E4-F34F-A27E-A7C6F57C2655}" type="slidenum">
              <a:rPr lang="en-US" smtClean="0"/>
              <a:t>‹#›</a:t>
            </a:fld>
            <a:endParaRPr lang="en-US"/>
          </a:p>
        </p:txBody>
      </p:sp>
    </p:spTree>
    <p:extLst>
      <p:ext uri="{BB962C8B-B14F-4D97-AF65-F5344CB8AC3E}">
        <p14:creationId xmlns:p14="http://schemas.microsoft.com/office/powerpoint/2010/main" val="164445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3992D-9116-9A94-8C22-5E05BD6B8EA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3EF5EB-932B-A560-4559-F1AA1A950E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9A7908-77E7-954D-7396-181D4CB078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EBBB14-EBBC-F598-C396-A5C0069B72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C34F0E-5068-64BA-4DC9-3FB8334C12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9347A5-5B2C-C993-2041-9F89B9C1CA81}"/>
              </a:ext>
            </a:extLst>
          </p:cNvPr>
          <p:cNvSpPr>
            <a:spLocks noGrp="1"/>
          </p:cNvSpPr>
          <p:nvPr>
            <p:ph type="dt" sz="half" idx="10"/>
          </p:nvPr>
        </p:nvSpPr>
        <p:spPr/>
        <p:txBody>
          <a:bodyPr/>
          <a:lstStyle/>
          <a:p>
            <a:fld id="{F7874DD9-1248-4C4F-B062-9DEB4812E5E4}" type="datetimeFigureOut">
              <a:rPr lang="en-US" smtClean="0"/>
              <a:t>7/27/26</a:t>
            </a:fld>
            <a:endParaRPr lang="en-US"/>
          </a:p>
        </p:txBody>
      </p:sp>
      <p:sp>
        <p:nvSpPr>
          <p:cNvPr id="8" name="Footer Placeholder 7">
            <a:extLst>
              <a:ext uri="{FF2B5EF4-FFF2-40B4-BE49-F238E27FC236}">
                <a16:creationId xmlns:a16="http://schemas.microsoft.com/office/drawing/2014/main" id="{44343D63-55CB-30EF-CA85-A8E760F498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57D8D2-840D-CBAD-680F-4FF563875397}"/>
              </a:ext>
            </a:extLst>
          </p:cNvPr>
          <p:cNvSpPr>
            <a:spLocks noGrp="1"/>
          </p:cNvSpPr>
          <p:nvPr>
            <p:ph type="sldNum" sz="quarter" idx="12"/>
          </p:nvPr>
        </p:nvSpPr>
        <p:spPr/>
        <p:txBody>
          <a:bodyPr/>
          <a:lstStyle/>
          <a:p>
            <a:fld id="{0F424A98-D1E4-F34F-A27E-A7C6F57C2655}" type="slidenum">
              <a:rPr lang="en-US" smtClean="0"/>
              <a:t>‹#›</a:t>
            </a:fld>
            <a:endParaRPr lang="en-US"/>
          </a:p>
        </p:txBody>
      </p:sp>
    </p:spTree>
    <p:extLst>
      <p:ext uri="{BB962C8B-B14F-4D97-AF65-F5344CB8AC3E}">
        <p14:creationId xmlns:p14="http://schemas.microsoft.com/office/powerpoint/2010/main" val="2132882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5134D-AF11-B613-62D1-12BDEFD599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DD36602-1ACD-2DBB-5E1C-D5FEA131BE6C}"/>
              </a:ext>
            </a:extLst>
          </p:cNvPr>
          <p:cNvSpPr>
            <a:spLocks noGrp="1"/>
          </p:cNvSpPr>
          <p:nvPr>
            <p:ph type="dt" sz="half" idx="10"/>
          </p:nvPr>
        </p:nvSpPr>
        <p:spPr/>
        <p:txBody>
          <a:bodyPr/>
          <a:lstStyle/>
          <a:p>
            <a:fld id="{F7874DD9-1248-4C4F-B062-9DEB4812E5E4}" type="datetimeFigureOut">
              <a:rPr lang="en-US" smtClean="0"/>
              <a:t>7/27/26</a:t>
            </a:fld>
            <a:endParaRPr lang="en-US"/>
          </a:p>
        </p:txBody>
      </p:sp>
      <p:sp>
        <p:nvSpPr>
          <p:cNvPr id="4" name="Footer Placeholder 3">
            <a:extLst>
              <a:ext uri="{FF2B5EF4-FFF2-40B4-BE49-F238E27FC236}">
                <a16:creationId xmlns:a16="http://schemas.microsoft.com/office/drawing/2014/main" id="{FFA0FC42-D5B3-7A87-310F-115F2BFEDE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BE4E30-07BC-9C97-2E3D-DA7BB7794983}"/>
              </a:ext>
            </a:extLst>
          </p:cNvPr>
          <p:cNvSpPr>
            <a:spLocks noGrp="1"/>
          </p:cNvSpPr>
          <p:nvPr>
            <p:ph type="sldNum" sz="quarter" idx="12"/>
          </p:nvPr>
        </p:nvSpPr>
        <p:spPr/>
        <p:txBody>
          <a:bodyPr/>
          <a:lstStyle/>
          <a:p>
            <a:fld id="{0F424A98-D1E4-F34F-A27E-A7C6F57C2655}" type="slidenum">
              <a:rPr lang="en-US" smtClean="0"/>
              <a:t>‹#›</a:t>
            </a:fld>
            <a:endParaRPr lang="en-US"/>
          </a:p>
        </p:txBody>
      </p:sp>
    </p:spTree>
    <p:extLst>
      <p:ext uri="{BB962C8B-B14F-4D97-AF65-F5344CB8AC3E}">
        <p14:creationId xmlns:p14="http://schemas.microsoft.com/office/powerpoint/2010/main" val="1369418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1E1EE2-CA7B-943D-21FC-27C24854F47B}"/>
              </a:ext>
            </a:extLst>
          </p:cNvPr>
          <p:cNvSpPr>
            <a:spLocks noGrp="1"/>
          </p:cNvSpPr>
          <p:nvPr>
            <p:ph type="dt" sz="half" idx="10"/>
          </p:nvPr>
        </p:nvSpPr>
        <p:spPr/>
        <p:txBody>
          <a:bodyPr/>
          <a:lstStyle/>
          <a:p>
            <a:fld id="{F7874DD9-1248-4C4F-B062-9DEB4812E5E4}" type="datetimeFigureOut">
              <a:rPr lang="en-US" smtClean="0"/>
              <a:t>7/27/26</a:t>
            </a:fld>
            <a:endParaRPr lang="en-US"/>
          </a:p>
        </p:txBody>
      </p:sp>
      <p:sp>
        <p:nvSpPr>
          <p:cNvPr id="3" name="Footer Placeholder 2">
            <a:extLst>
              <a:ext uri="{FF2B5EF4-FFF2-40B4-BE49-F238E27FC236}">
                <a16:creationId xmlns:a16="http://schemas.microsoft.com/office/drawing/2014/main" id="{C68C9A1B-2669-2443-8FE9-FBAFBAAD1E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7A5C444-D9F8-BECF-AF31-56496FDFF775}"/>
              </a:ext>
            </a:extLst>
          </p:cNvPr>
          <p:cNvSpPr>
            <a:spLocks noGrp="1"/>
          </p:cNvSpPr>
          <p:nvPr>
            <p:ph type="sldNum" sz="quarter" idx="12"/>
          </p:nvPr>
        </p:nvSpPr>
        <p:spPr/>
        <p:txBody>
          <a:bodyPr/>
          <a:lstStyle/>
          <a:p>
            <a:fld id="{0F424A98-D1E4-F34F-A27E-A7C6F57C2655}" type="slidenum">
              <a:rPr lang="en-US" smtClean="0"/>
              <a:t>‹#›</a:t>
            </a:fld>
            <a:endParaRPr lang="en-US"/>
          </a:p>
        </p:txBody>
      </p:sp>
    </p:spTree>
    <p:extLst>
      <p:ext uri="{BB962C8B-B14F-4D97-AF65-F5344CB8AC3E}">
        <p14:creationId xmlns:p14="http://schemas.microsoft.com/office/powerpoint/2010/main" val="1358358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C6AC-88AF-A41B-B9B2-E6A29D27B1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E79947-01D2-CE36-98E6-A861A678F3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1FEE0-E662-B3A7-F4F0-D1D55FE89C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9DE599-A693-D676-DDA4-B339F24B5A9E}"/>
              </a:ext>
            </a:extLst>
          </p:cNvPr>
          <p:cNvSpPr>
            <a:spLocks noGrp="1"/>
          </p:cNvSpPr>
          <p:nvPr>
            <p:ph type="dt" sz="half" idx="10"/>
          </p:nvPr>
        </p:nvSpPr>
        <p:spPr/>
        <p:txBody>
          <a:bodyPr/>
          <a:lstStyle/>
          <a:p>
            <a:fld id="{F7874DD9-1248-4C4F-B062-9DEB4812E5E4}" type="datetimeFigureOut">
              <a:rPr lang="en-US" smtClean="0"/>
              <a:t>7/27/26</a:t>
            </a:fld>
            <a:endParaRPr lang="en-US"/>
          </a:p>
        </p:txBody>
      </p:sp>
      <p:sp>
        <p:nvSpPr>
          <p:cNvPr id="6" name="Footer Placeholder 5">
            <a:extLst>
              <a:ext uri="{FF2B5EF4-FFF2-40B4-BE49-F238E27FC236}">
                <a16:creationId xmlns:a16="http://schemas.microsoft.com/office/drawing/2014/main" id="{23485A43-0367-2BCE-525B-27A17A33B0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D760C9-9D98-A8D7-F840-4691DD07B9CE}"/>
              </a:ext>
            </a:extLst>
          </p:cNvPr>
          <p:cNvSpPr>
            <a:spLocks noGrp="1"/>
          </p:cNvSpPr>
          <p:nvPr>
            <p:ph type="sldNum" sz="quarter" idx="12"/>
          </p:nvPr>
        </p:nvSpPr>
        <p:spPr/>
        <p:txBody>
          <a:bodyPr/>
          <a:lstStyle/>
          <a:p>
            <a:fld id="{0F424A98-D1E4-F34F-A27E-A7C6F57C2655}" type="slidenum">
              <a:rPr lang="en-US" smtClean="0"/>
              <a:t>‹#›</a:t>
            </a:fld>
            <a:endParaRPr lang="en-US"/>
          </a:p>
        </p:txBody>
      </p:sp>
    </p:spTree>
    <p:extLst>
      <p:ext uri="{BB962C8B-B14F-4D97-AF65-F5344CB8AC3E}">
        <p14:creationId xmlns:p14="http://schemas.microsoft.com/office/powerpoint/2010/main" val="3658984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54C7A-F6B4-15D6-88EA-A95D22BC1A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66D8A5-FB67-B379-4B8D-6A92B5A74D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6E90DF-9805-6756-54AB-5A3373D3A8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3975C-E6F7-E62B-4002-2C883FBE65FB}"/>
              </a:ext>
            </a:extLst>
          </p:cNvPr>
          <p:cNvSpPr>
            <a:spLocks noGrp="1"/>
          </p:cNvSpPr>
          <p:nvPr>
            <p:ph type="dt" sz="half" idx="10"/>
          </p:nvPr>
        </p:nvSpPr>
        <p:spPr/>
        <p:txBody>
          <a:bodyPr/>
          <a:lstStyle/>
          <a:p>
            <a:fld id="{F7874DD9-1248-4C4F-B062-9DEB4812E5E4}" type="datetimeFigureOut">
              <a:rPr lang="en-US" smtClean="0"/>
              <a:t>7/27/26</a:t>
            </a:fld>
            <a:endParaRPr lang="en-US"/>
          </a:p>
        </p:txBody>
      </p:sp>
      <p:sp>
        <p:nvSpPr>
          <p:cNvPr id="6" name="Footer Placeholder 5">
            <a:extLst>
              <a:ext uri="{FF2B5EF4-FFF2-40B4-BE49-F238E27FC236}">
                <a16:creationId xmlns:a16="http://schemas.microsoft.com/office/drawing/2014/main" id="{6912EAB5-4F9E-3779-3EF5-F3B48E9CDF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12C16D-2210-83F5-4097-B8EBF67565AA}"/>
              </a:ext>
            </a:extLst>
          </p:cNvPr>
          <p:cNvSpPr>
            <a:spLocks noGrp="1"/>
          </p:cNvSpPr>
          <p:nvPr>
            <p:ph type="sldNum" sz="quarter" idx="12"/>
          </p:nvPr>
        </p:nvSpPr>
        <p:spPr/>
        <p:txBody>
          <a:bodyPr/>
          <a:lstStyle/>
          <a:p>
            <a:fld id="{0F424A98-D1E4-F34F-A27E-A7C6F57C2655}" type="slidenum">
              <a:rPr lang="en-US" smtClean="0"/>
              <a:t>‹#›</a:t>
            </a:fld>
            <a:endParaRPr lang="en-US"/>
          </a:p>
        </p:txBody>
      </p:sp>
    </p:spTree>
    <p:extLst>
      <p:ext uri="{BB962C8B-B14F-4D97-AF65-F5344CB8AC3E}">
        <p14:creationId xmlns:p14="http://schemas.microsoft.com/office/powerpoint/2010/main" val="2812721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5F49D-76FF-B0DB-2907-600EB3D5C93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4361FE-DEA5-6C54-91AB-75FEFF2EEC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162C78-849B-3BC0-D285-6B2A1F8F2E53}"/>
              </a:ext>
            </a:extLst>
          </p:cNvPr>
          <p:cNvSpPr>
            <a:spLocks noGrp="1"/>
          </p:cNvSpPr>
          <p:nvPr>
            <p:ph type="dt" sz="half" idx="10"/>
          </p:nvPr>
        </p:nvSpPr>
        <p:spPr/>
        <p:txBody>
          <a:bodyPr/>
          <a:lstStyle/>
          <a:p>
            <a:fld id="{F7874DD9-1248-4C4F-B062-9DEB4812E5E4}" type="datetimeFigureOut">
              <a:rPr lang="en-US" smtClean="0"/>
              <a:t>7/27/26</a:t>
            </a:fld>
            <a:endParaRPr lang="en-US"/>
          </a:p>
        </p:txBody>
      </p:sp>
      <p:sp>
        <p:nvSpPr>
          <p:cNvPr id="5" name="Footer Placeholder 4">
            <a:extLst>
              <a:ext uri="{FF2B5EF4-FFF2-40B4-BE49-F238E27FC236}">
                <a16:creationId xmlns:a16="http://schemas.microsoft.com/office/drawing/2014/main" id="{E47B8106-CCC2-A355-3AD6-C66055FDEB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4F2275-A533-6533-975A-F6C9152272A8}"/>
              </a:ext>
            </a:extLst>
          </p:cNvPr>
          <p:cNvSpPr>
            <a:spLocks noGrp="1"/>
          </p:cNvSpPr>
          <p:nvPr>
            <p:ph type="sldNum" sz="quarter" idx="12"/>
          </p:nvPr>
        </p:nvSpPr>
        <p:spPr/>
        <p:txBody>
          <a:bodyPr/>
          <a:lstStyle/>
          <a:p>
            <a:fld id="{0F424A98-D1E4-F34F-A27E-A7C6F57C2655}" type="slidenum">
              <a:rPr lang="en-US" smtClean="0"/>
              <a:t>‹#›</a:t>
            </a:fld>
            <a:endParaRPr lang="en-US"/>
          </a:p>
        </p:txBody>
      </p:sp>
    </p:spTree>
    <p:extLst>
      <p:ext uri="{BB962C8B-B14F-4D97-AF65-F5344CB8AC3E}">
        <p14:creationId xmlns:p14="http://schemas.microsoft.com/office/powerpoint/2010/main" val="412462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660766-8415-F767-8943-331FFFA813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F142B0-54A4-5B17-7277-FB43C64677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2AED90-2B10-AB5D-8BA2-0CB0B6A78DF5}"/>
              </a:ext>
            </a:extLst>
          </p:cNvPr>
          <p:cNvSpPr>
            <a:spLocks noGrp="1"/>
          </p:cNvSpPr>
          <p:nvPr>
            <p:ph type="dt" sz="half" idx="10"/>
          </p:nvPr>
        </p:nvSpPr>
        <p:spPr/>
        <p:txBody>
          <a:bodyPr/>
          <a:lstStyle/>
          <a:p>
            <a:fld id="{F7874DD9-1248-4C4F-B062-9DEB4812E5E4}" type="datetimeFigureOut">
              <a:rPr lang="en-US" smtClean="0"/>
              <a:t>7/27/26</a:t>
            </a:fld>
            <a:endParaRPr lang="en-US"/>
          </a:p>
        </p:txBody>
      </p:sp>
      <p:sp>
        <p:nvSpPr>
          <p:cNvPr id="5" name="Footer Placeholder 4">
            <a:extLst>
              <a:ext uri="{FF2B5EF4-FFF2-40B4-BE49-F238E27FC236}">
                <a16:creationId xmlns:a16="http://schemas.microsoft.com/office/drawing/2014/main" id="{2CDC3F36-BCC1-CBB8-E67C-2125950083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7173EE-B3D5-8A8D-5BA2-34C658138E62}"/>
              </a:ext>
            </a:extLst>
          </p:cNvPr>
          <p:cNvSpPr>
            <a:spLocks noGrp="1"/>
          </p:cNvSpPr>
          <p:nvPr>
            <p:ph type="sldNum" sz="quarter" idx="12"/>
          </p:nvPr>
        </p:nvSpPr>
        <p:spPr/>
        <p:txBody>
          <a:bodyPr/>
          <a:lstStyle/>
          <a:p>
            <a:fld id="{0F424A98-D1E4-F34F-A27E-A7C6F57C2655}" type="slidenum">
              <a:rPr lang="en-US" smtClean="0"/>
              <a:t>‹#›</a:t>
            </a:fld>
            <a:endParaRPr lang="en-US"/>
          </a:p>
        </p:txBody>
      </p:sp>
    </p:spTree>
    <p:extLst>
      <p:ext uri="{BB962C8B-B14F-4D97-AF65-F5344CB8AC3E}">
        <p14:creationId xmlns:p14="http://schemas.microsoft.com/office/powerpoint/2010/main" val="552189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B0928F-49C3-34D4-0D91-D011A571A8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6093D2-A05F-3517-FA59-411F2D311D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16189C-33C8-C20C-7650-F9858CE9B5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7874DD9-1248-4C4F-B062-9DEB4812E5E4}" type="datetimeFigureOut">
              <a:rPr lang="en-US" smtClean="0"/>
              <a:t>7/27/26</a:t>
            </a:fld>
            <a:endParaRPr lang="en-US"/>
          </a:p>
        </p:txBody>
      </p:sp>
      <p:sp>
        <p:nvSpPr>
          <p:cNvPr id="5" name="Footer Placeholder 4">
            <a:extLst>
              <a:ext uri="{FF2B5EF4-FFF2-40B4-BE49-F238E27FC236}">
                <a16:creationId xmlns:a16="http://schemas.microsoft.com/office/drawing/2014/main" id="{2CAD296E-34C8-80DE-8AFC-FB68F38CA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6724322-EAB5-3757-D127-AB208D0F87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424A98-D1E4-F34F-A27E-A7C6F57C2655}" type="slidenum">
              <a:rPr lang="en-US" smtClean="0"/>
              <a:t>‹#›</a:t>
            </a:fld>
            <a:endParaRPr lang="en-US"/>
          </a:p>
        </p:txBody>
      </p:sp>
    </p:spTree>
    <p:extLst>
      <p:ext uri="{BB962C8B-B14F-4D97-AF65-F5344CB8AC3E}">
        <p14:creationId xmlns:p14="http://schemas.microsoft.com/office/powerpoint/2010/main" val="1891818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BC8001-941E-D99C-1AD7-869E398832BA}"/>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AADD8A6-0D9A-169D-93AB-3CFF0B468018}"/>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1230A21-3ED3-077C-AD44-CBFE8B56BBCD}"/>
              </a:ext>
            </a:extLst>
          </p:cNvPr>
          <p:cNvSpPr/>
          <p:nvPr/>
        </p:nvSpPr>
        <p:spPr>
          <a:xfrm>
            <a:off x="628164" y="1229324"/>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7F8D364-3A60-5524-0D78-89893154A017}"/>
              </a:ext>
            </a:extLst>
          </p:cNvPr>
          <p:cNvSpPr/>
          <p:nvPr/>
        </p:nvSpPr>
        <p:spPr>
          <a:xfrm>
            <a:off x="680716" y="1325231"/>
            <a:ext cx="11458732" cy="4562581"/>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2AF3E2D6-786A-1318-52B9-5B40736501A4}"/>
              </a:ext>
            </a:extLst>
          </p:cNvPr>
          <p:cNvSpPr txBox="1"/>
          <p:nvPr/>
        </p:nvSpPr>
        <p:spPr>
          <a:xfrm>
            <a:off x="838412" y="525906"/>
            <a:ext cx="4759199"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Machine Learning Methods</a:t>
            </a:r>
          </a:p>
        </p:txBody>
      </p:sp>
      <p:sp>
        <p:nvSpPr>
          <p:cNvPr id="10" name="Content Placeholder 2">
            <a:extLst>
              <a:ext uri="{FF2B5EF4-FFF2-40B4-BE49-F238E27FC236}">
                <a16:creationId xmlns:a16="http://schemas.microsoft.com/office/drawing/2014/main" id="{9961C173-4544-A7CB-F24F-C315F1EAF9EA}"/>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6419C9B6-EC1B-435E-C121-76F503716F5E}"/>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B1ED0FD4-A83D-085F-2E39-DE02BFA9D44D}"/>
              </a:ext>
            </a:extLst>
          </p:cNvPr>
          <p:cNvSpPr/>
          <p:nvPr/>
        </p:nvSpPr>
        <p:spPr>
          <a:xfrm>
            <a:off x="680716" y="5887812"/>
            <a:ext cx="11458732" cy="970188"/>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CD486D0-F522-80A5-621F-A7A241C8AAA1}"/>
              </a:ext>
            </a:extLst>
          </p:cNvPr>
          <p:cNvSpPr/>
          <p:nvPr/>
        </p:nvSpPr>
        <p:spPr>
          <a:xfrm>
            <a:off x="917367" y="2146534"/>
            <a:ext cx="2655482" cy="5426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Emulation of turbulence</a:t>
            </a:r>
          </a:p>
        </p:txBody>
      </p:sp>
      <p:sp>
        <p:nvSpPr>
          <p:cNvPr id="8" name="Right Arrow 7">
            <a:extLst>
              <a:ext uri="{FF2B5EF4-FFF2-40B4-BE49-F238E27FC236}">
                <a16:creationId xmlns:a16="http://schemas.microsoft.com/office/drawing/2014/main" id="{FA5B750B-BE7D-09A3-3374-3C74412BF11F}"/>
              </a:ext>
            </a:extLst>
          </p:cNvPr>
          <p:cNvSpPr/>
          <p:nvPr/>
        </p:nvSpPr>
        <p:spPr>
          <a:xfrm>
            <a:off x="3797042" y="2356999"/>
            <a:ext cx="950418" cy="121669"/>
          </a:xfrm>
          <a:prstGeom prst="rightArrow">
            <a:avLst/>
          </a:prstGeom>
          <a:solidFill>
            <a:schemeClr val="tx1"/>
          </a:solidFill>
          <a:ln>
            <a:solidFill>
              <a:srgbClr val="6D13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15E323C-CA89-36A0-8898-AD22E52990F6}"/>
              </a:ext>
            </a:extLst>
          </p:cNvPr>
          <p:cNvSpPr/>
          <p:nvPr/>
        </p:nvSpPr>
        <p:spPr>
          <a:xfrm>
            <a:off x="4971653" y="1529133"/>
            <a:ext cx="6742552" cy="17145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solidFill>
                  <a:srgbClr val="2B628C"/>
                </a:solidFill>
                <a:latin typeface="Tahoma" panose="020B0604030504040204" pitchFamily="34" charset="0"/>
                <a:ea typeface="Tahoma" panose="020B0604030504040204" pitchFamily="34" charset="0"/>
                <a:cs typeface="Tahoma" panose="020B0604030504040204" pitchFamily="34" charset="0"/>
              </a:rPr>
              <a:t>FNO</a:t>
            </a:r>
            <a:endParaRPr lang="en-US" sz="1200" dirty="0">
              <a:solidFill>
                <a:srgbClr val="2B628C"/>
              </a:solidFill>
              <a:latin typeface="Tahoma" panose="020B0604030504040204" pitchFamily="34" charset="0"/>
              <a:ea typeface="Tahoma" panose="020B0604030504040204" pitchFamily="34" charset="0"/>
              <a:cs typeface="Tahoma" panose="020B0604030504040204" pitchFamily="34" charset="0"/>
            </a:endParaRPr>
          </a:p>
          <a:p>
            <a:pPr algn="ctr"/>
            <a:r>
              <a:rPr lang="en-US" sz="1600" dirty="0">
                <a:latin typeface="Tahoma" panose="020B0604030504040204" pitchFamily="34" charset="0"/>
                <a:ea typeface="Tahoma" panose="020B0604030504040204" pitchFamily="34" charset="0"/>
                <a:cs typeface="Tahoma" panose="020B0604030504040204" pitchFamily="34" charset="0"/>
              </a:rPr>
              <a:t>Fourier neural operators (FNO) are resolution-invariant neural surrogates that learn solution operators for partial differential equations (PDE) directly in the Fourier space. They are well-suited to emulate the large-scale, deterministic structure of turbulent flow. </a:t>
            </a:r>
          </a:p>
          <a:p>
            <a:pPr algn="ct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3" name="Rectangle 12">
            <a:extLst>
              <a:ext uri="{FF2B5EF4-FFF2-40B4-BE49-F238E27FC236}">
                <a16:creationId xmlns:a16="http://schemas.microsoft.com/office/drawing/2014/main" id="{F35973B1-64A0-F6E3-203D-3D1FA468C862}"/>
              </a:ext>
            </a:extLst>
          </p:cNvPr>
          <p:cNvSpPr/>
          <p:nvPr/>
        </p:nvSpPr>
        <p:spPr>
          <a:xfrm>
            <a:off x="917367" y="4294422"/>
            <a:ext cx="2655482" cy="5426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Emulation of microphysics</a:t>
            </a:r>
          </a:p>
        </p:txBody>
      </p:sp>
      <p:sp>
        <p:nvSpPr>
          <p:cNvPr id="14" name="Rectangle 13">
            <a:extLst>
              <a:ext uri="{FF2B5EF4-FFF2-40B4-BE49-F238E27FC236}">
                <a16:creationId xmlns:a16="http://schemas.microsoft.com/office/drawing/2014/main" id="{3AD4CA72-472C-5690-EC0F-04EB4586B200}"/>
              </a:ext>
            </a:extLst>
          </p:cNvPr>
          <p:cNvSpPr/>
          <p:nvPr/>
        </p:nvSpPr>
        <p:spPr>
          <a:xfrm>
            <a:off x="4971653" y="3696205"/>
            <a:ext cx="6742552" cy="17145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solidFill>
                  <a:srgbClr val="2B628C"/>
                </a:solidFill>
                <a:latin typeface="Tahoma" panose="020B0604030504040204" pitchFamily="34" charset="0"/>
                <a:ea typeface="Tahoma" panose="020B0604030504040204" pitchFamily="34" charset="0"/>
                <a:cs typeface="Tahoma" panose="020B0604030504040204" pitchFamily="34" charset="0"/>
              </a:rPr>
              <a:t>SI</a:t>
            </a:r>
            <a:endParaRPr lang="en-US" sz="1200" dirty="0">
              <a:solidFill>
                <a:srgbClr val="2B628C"/>
              </a:solidFill>
              <a:latin typeface="Tahoma" panose="020B0604030504040204" pitchFamily="34" charset="0"/>
              <a:ea typeface="Tahoma" panose="020B0604030504040204" pitchFamily="34" charset="0"/>
              <a:cs typeface="Tahoma" panose="020B0604030504040204" pitchFamily="34" charset="0"/>
            </a:endParaRPr>
          </a:p>
          <a:p>
            <a:pPr algn="ctr"/>
            <a:r>
              <a:rPr lang="en-US" sz="1600" dirty="0">
                <a:latin typeface="Tahoma" panose="020B0604030504040204" pitchFamily="34" charset="0"/>
                <a:ea typeface="Tahoma" panose="020B0604030504040204" pitchFamily="34" charset="0"/>
                <a:cs typeface="Tahoma" panose="020B0604030504040204" pitchFamily="34" charset="0"/>
              </a:rPr>
              <a:t>Stochastic interpolants (SI) are generative models that transport samples along a learned velocity field to bridge the gap between FNO-predicted mean field and true instantaneous field. They are well-suited to emulate the small-scale, stochastic fluctuations of cloud microphysics.</a:t>
            </a:r>
          </a:p>
          <a:p>
            <a:pPr algn="ctr"/>
            <a:endParaRPr lang="en-US" sz="1600" dirty="0">
              <a:latin typeface="Tahoma" panose="020B0604030504040204" pitchFamily="34" charset="0"/>
              <a:ea typeface="Tahoma" panose="020B0604030504040204" pitchFamily="34" charset="0"/>
              <a:cs typeface="Tahoma" panose="020B0604030504040204" pitchFamily="34" charset="0"/>
            </a:endParaRPr>
          </a:p>
        </p:txBody>
      </p:sp>
      <p:sp>
        <p:nvSpPr>
          <p:cNvPr id="15" name="Right Arrow 14">
            <a:extLst>
              <a:ext uri="{FF2B5EF4-FFF2-40B4-BE49-F238E27FC236}">
                <a16:creationId xmlns:a16="http://schemas.microsoft.com/office/drawing/2014/main" id="{B44727E1-C974-A50F-5621-FE8DDC87EBDB}"/>
              </a:ext>
            </a:extLst>
          </p:cNvPr>
          <p:cNvSpPr/>
          <p:nvPr/>
        </p:nvSpPr>
        <p:spPr>
          <a:xfrm>
            <a:off x="3797042" y="4535968"/>
            <a:ext cx="950418" cy="121669"/>
          </a:xfrm>
          <a:prstGeom prst="rightArrow">
            <a:avLst/>
          </a:prstGeom>
          <a:solidFill>
            <a:schemeClr val="tx1"/>
          </a:solidFill>
          <a:ln>
            <a:solidFill>
              <a:srgbClr val="6D13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9667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CAF74-C2AF-9704-9B66-64F03770DF5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EE3C79A-8ABD-4B6C-E257-D72C40320AD6}"/>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8DE8071-2586-3DF5-59BC-D6F9A51AB19D}"/>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E191FA7-E0AA-DB22-4970-81DA945E30B0}"/>
              </a:ext>
            </a:extLst>
          </p:cNvPr>
          <p:cNvSpPr/>
          <p:nvPr/>
        </p:nvSpPr>
        <p:spPr>
          <a:xfrm>
            <a:off x="599090" y="782283"/>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DEF113E-E055-8104-DEC8-7225F31A7472}"/>
              </a:ext>
            </a:extLst>
          </p:cNvPr>
          <p:cNvSpPr/>
          <p:nvPr/>
        </p:nvSpPr>
        <p:spPr>
          <a:xfrm>
            <a:off x="680716" y="878191"/>
            <a:ext cx="11458732" cy="5696764"/>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9DE53CC3-F6D2-69A0-350A-B95BE204035E}"/>
              </a:ext>
            </a:extLst>
          </p:cNvPr>
          <p:cNvSpPr txBox="1"/>
          <p:nvPr/>
        </p:nvSpPr>
        <p:spPr>
          <a:xfrm>
            <a:off x="709790" y="148434"/>
            <a:ext cx="4759199"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FNO + SI Model: Training</a:t>
            </a:r>
          </a:p>
        </p:txBody>
      </p:sp>
      <p:sp>
        <p:nvSpPr>
          <p:cNvPr id="10" name="Content Placeholder 2">
            <a:extLst>
              <a:ext uri="{FF2B5EF4-FFF2-40B4-BE49-F238E27FC236}">
                <a16:creationId xmlns:a16="http://schemas.microsoft.com/office/drawing/2014/main" id="{7BF0BD06-E175-7AE2-A32C-BBC5D05AEE1C}"/>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30D9DA4C-402A-6BED-2829-B2678D24B06F}"/>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D808B592-4ABF-9D67-EDAB-01C7463979A5}"/>
              </a:ext>
            </a:extLst>
          </p:cNvPr>
          <p:cNvSpPr/>
          <p:nvPr/>
        </p:nvSpPr>
        <p:spPr>
          <a:xfrm>
            <a:off x="680716" y="6574956"/>
            <a:ext cx="11458732" cy="283043"/>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E0AC54EB-1756-616E-E732-4237E4CA9DF9}"/>
                  </a:ext>
                </a:extLst>
              </p:cNvPr>
              <p:cNvSpPr/>
              <p:nvPr/>
            </p:nvSpPr>
            <p:spPr>
              <a:xfrm>
                <a:off x="3737113" y="1089283"/>
                <a:ext cx="5777948" cy="3657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Multi-channel input. </a:t>
                </a:r>
                <a14:m>
                  <m:oMath xmlns:m="http://schemas.openxmlformats.org/officeDocument/2006/math">
                    <m:sSub>
                      <m:sSubPr>
                        <m:ctrlPr>
                          <a:rPr lang="en-US" sz="1600" i="1" dirty="0" smtClean="0">
                            <a:latin typeface="Cambria Math" panose="02040503050406030204" pitchFamily="18" charset="0"/>
                            <a:ea typeface="Tahoma" panose="020B0604030504040204" pitchFamily="34" charset="0"/>
                            <a:cs typeface="Tahoma" panose="020B0604030504040204" pitchFamily="34" charset="0"/>
                          </a:rPr>
                        </m:ctrlPr>
                      </m:sSubPr>
                      <m:e>
                        <m:r>
                          <a:rPr lang="en-US" sz="1600" b="0" i="1" dirty="0" smtClean="0">
                            <a:latin typeface="Cambria Math" panose="02040503050406030204" pitchFamily="18" charset="0"/>
                            <a:ea typeface="Tahoma" panose="020B0604030504040204" pitchFamily="34" charset="0"/>
                            <a:cs typeface="Tahoma" panose="020B0604030504040204" pitchFamily="34" charset="0"/>
                          </a:rPr>
                          <m:t>𝑆</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𝑒</m:t>
                        </m:r>
                      </m:sub>
                    </m:sSub>
                  </m:oMath>
                </a14:m>
                <a:r>
                  <a:rPr lang="en-US" sz="1600" dirty="0">
                    <a:latin typeface="Tahoma" panose="020B0604030504040204" pitchFamily="34" charset="0"/>
                    <a:ea typeface="Tahoma" panose="020B0604030504040204" pitchFamily="34" charset="0"/>
                    <a:cs typeface="Tahoma" panose="020B0604030504040204" pitchFamily="34" charset="0"/>
                  </a:rPr>
                  <a:t> and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𝑞</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𝑐</m:t>
                        </m:r>
                      </m:sub>
                    </m:sSub>
                  </m:oMath>
                </a14:m>
                <a:r>
                  <a:rPr lang="en-US" sz="1600"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7" name="Rounded Rectangle 6">
                <a:extLst>
                  <a:ext uri="{FF2B5EF4-FFF2-40B4-BE49-F238E27FC236}">
                    <a16:creationId xmlns:a16="http://schemas.microsoft.com/office/drawing/2014/main" id="{E0AC54EB-1756-616E-E732-4237E4CA9DF9}"/>
                  </a:ext>
                </a:extLst>
              </p:cNvPr>
              <p:cNvSpPr>
                <a:spLocks noRot="1" noChangeAspect="1" noMove="1" noResize="1" noEditPoints="1" noAdjustHandles="1" noChangeArrowheads="1" noChangeShapeType="1" noTextEdit="1"/>
              </p:cNvSpPr>
              <p:nvPr/>
            </p:nvSpPr>
            <p:spPr>
              <a:xfrm>
                <a:off x="3737113" y="1089283"/>
                <a:ext cx="5777948" cy="365760"/>
              </a:xfrm>
              <a:prstGeom prst="roundRect">
                <a:avLst/>
              </a:prstGeom>
              <a:blipFill>
                <a:blip r:embed="rId3"/>
                <a:stretch>
                  <a:fillRect b="-12903"/>
                </a:stretch>
              </a:blipFill>
            </p:spPr>
            <p:txBody>
              <a:bodyPr/>
              <a:lstStyle/>
              <a:p>
                <a:r>
                  <a:rPr lang="en-US">
                    <a:noFill/>
                  </a:rPr>
                  <a:t> </a:t>
                </a:r>
              </a:p>
            </p:txBody>
          </p:sp>
        </mc:Fallback>
      </mc:AlternateContent>
      <p:sp>
        <p:nvSpPr>
          <p:cNvPr id="8" name="Rounded Rectangle 7">
            <a:extLst>
              <a:ext uri="{FF2B5EF4-FFF2-40B4-BE49-F238E27FC236}">
                <a16:creationId xmlns:a16="http://schemas.microsoft.com/office/drawing/2014/main" id="{52722FD6-A750-8818-B8BF-B8BB4B577D4A}"/>
              </a:ext>
            </a:extLst>
          </p:cNvPr>
          <p:cNvSpPr/>
          <p:nvPr/>
        </p:nvSpPr>
        <p:spPr>
          <a:xfrm>
            <a:off x="3737113" y="1621239"/>
            <a:ext cx="5777947" cy="3657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FNO (spectral convolution, 3D). Fourier layers. Up-sampling.</a:t>
            </a:r>
          </a:p>
        </p:txBody>
      </p:sp>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ACBD462F-F968-3410-6D28-7E4E679E428B}"/>
                  </a:ext>
                </a:extLst>
              </p:cNvPr>
              <p:cNvSpPr/>
              <p:nvPr/>
            </p:nvSpPr>
            <p:spPr>
              <a:xfrm>
                <a:off x="5022554" y="2165298"/>
                <a:ext cx="2470383" cy="3657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Mean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𝑆</m:t>
                        </m:r>
                      </m:e>
                      <m:sub>
                        <m:r>
                          <a:rPr lang="en-US" sz="1600" i="1" dirty="0">
                            <a:latin typeface="Cambria Math" panose="02040503050406030204" pitchFamily="18" charset="0"/>
                            <a:ea typeface="Tahoma" panose="020B0604030504040204" pitchFamily="34" charset="0"/>
                            <a:cs typeface="Tahoma" panose="020B0604030504040204" pitchFamily="34" charset="0"/>
                          </a:rPr>
                          <m:t>𝑒</m:t>
                        </m:r>
                      </m:sub>
                    </m:sSub>
                  </m:oMath>
                </a14:m>
                <a:r>
                  <a:rPr lang="en-US" sz="1600" dirty="0">
                    <a:latin typeface="Tahoma" panose="020B0604030504040204" pitchFamily="34" charset="0"/>
                    <a:ea typeface="Tahoma" panose="020B0604030504040204" pitchFamily="34" charset="0"/>
                    <a:cs typeface="Tahoma" panose="020B0604030504040204" pitchFamily="34" charset="0"/>
                  </a:rPr>
                  <a:t> and mean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𝑞</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𝑐</m:t>
                        </m:r>
                      </m:sub>
                    </m:sSub>
                  </m:oMath>
                </a14:m>
                <a:r>
                  <a:rPr lang="en-US" sz="1600" dirty="0">
                    <a:latin typeface="Tahoma" panose="020B0604030504040204" pitchFamily="34" charset="0"/>
                    <a:ea typeface="Tahoma" panose="020B0604030504040204" pitchFamily="34" charset="0"/>
                    <a:cs typeface="Tahoma" panose="020B0604030504040204" pitchFamily="34" charset="0"/>
                  </a:rPr>
                  <a:t>.</a:t>
                </a:r>
                <a:endParaRPr lang="en-US" sz="1600" dirty="0"/>
              </a:p>
            </p:txBody>
          </p:sp>
        </mc:Choice>
        <mc:Fallback xmlns="">
          <p:sp>
            <p:nvSpPr>
              <p:cNvPr id="9" name="Rounded Rectangle 8">
                <a:extLst>
                  <a:ext uri="{FF2B5EF4-FFF2-40B4-BE49-F238E27FC236}">
                    <a16:creationId xmlns:a16="http://schemas.microsoft.com/office/drawing/2014/main" id="{ACBD462F-F968-3410-6D28-7E4E679E428B}"/>
                  </a:ext>
                </a:extLst>
              </p:cNvPr>
              <p:cNvSpPr>
                <a:spLocks noRot="1" noChangeAspect="1" noMove="1" noResize="1" noEditPoints="1" noAdjustHandles="1" noChangeArrowheads="1" noChangeShapeType="1" noTextEdit="1"/>
              </p:cNvSpPr>
              <p:nvPr/>
            </p:nvSpPr>
            <p:spPr>
              <a:xfrm>
                <a:off x="5022554" y="2165298"/>
                <a:ext cx="2470383" cy="365760"/>
              </a:xfrm>
              <a:prstGeom prst="roundRect">
                <a:avLst/>
              </a:prstGeom>
              <a:blipFill>
                <a:blip r:embed="rId4"/>
                <a:stretch>
                  <a:fillRect t="-3226" b="-96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287403E6-1756-AB90-92F2-02FA7D69D401}"/>
                  </a:ext>
                </a:extLst>
              </p:cNvPr>
              <p:cNvSpPr/>
              <p:nvPr/>
            </p:nvSpPr>
            <p:spPr>
              <a:xfrm>
                <a:off x="7044676" y="2706009"/>
                <a:ext cx="3888361" cy="3657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Detach mean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𝑆</m:t>
                        </m:r>
                      </m:e>
                      <m:sub>
                        <m:r>
                          <a:rPr lang="en-US" sz="1600" i="1" dirty="0">
                            <a:latin typeface="Cambria Math" panose="02040503050406030204" pitchFamily="18" charset="0"/>
                            <a:ea typeface="Tahoma" panose="020B0604030504040204" pitchFamily="34" charset="0"/>
                            <a:cs typeface="Tahoma" panose="020B0604030504040204" pitchFamily="34" charset="0"/>
                          </a:rPr>
                          <m:t>𝑒</m:t>
                        </m:r>
                      </m:sub>
                    </m:sSub>
                  </m:oMath>
                </a14:m>
                <a:r>
                  <a:rPr lang="en-US" sz="1600" dirty="0">
                    <a:latin typeface="Tahoma" panose="020B0604030504040204" pitchFamily="34" charset="0"/>
                    <a:ea typeface="Tahoma" panose="020B0604030504040204" pitchFamily="34" charset="0"/>
                    <a:cs typeface="Tahoma" panose="020B0604030504040204" pitchFamily="34" charset="0"/>
                  </a:rPr>
                  <a:t> and mean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𝑞</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𝑐</m:t>
                        </m:r>
                      </m:sub>
                    </m:sSub>
                  </m:oMath>
                </a14:m>
                <a:r>
                  <a:rPr lang="en-US" sz="1600" dirty="0"/>
                  <a:t>.</a:t>
                </a:r>
              </a:p>
            </p:txBody>
          </p:sp>
        </mc:Choice>
        <mc:Fallback xmlns="">
          <p:sp>
            <p:nvSpPr>
              <p:cNvPr id="13" name="Rounded Rectangle 12">
                <a:extLst>
                  <a:ext uri="{FF2B5EF4-FFF2-40B4-BE49-F238E27FC236}">
                    <a16:creationId xmlns:a16="http://schemas.microsoft.com/office/drawing/2014/main" id="{287403E6-1756-AB90-92F2-02FA7D69D401}"/>
                  </a:ext>
                </a:extLst>
              </p:cNvPr>
              <p:cNvSpPr>
                <a:spLocks noRot="1" noChangeAspect="1" noMove="1" noResize="1" noEditPoints="1" noAdjustHandles="1" noChangeArrowheads="1" noChangeShapeType="1" noTextEdit="1"/>
              </p:cNvSpPr>
              <p:nvPr/>
            </p:nvSpPr>
            <p:spPr>
              <a:xfrm>
                <a:off x="7044676" y="2706009"/>
                <a:ext cx="3888361" cy="365760"/>
              </a:xfrm>
              <a:prstGeom prst="roundRect">
                <a:avLst/>
              </a:prstGeom>
              <a:blipFill>
                <a:blip r:embed="rId5"/>
                <a:stretch>
                  <a:fillRect t="-6452" b="-16129"/>
                </a:stretch>
              </a:blipFill>
            </p:spPr>
            <p:txBody>
              <a:bodyPr/>
              <a:lstStyle/>
              <a:p>
                <a:r>
                  <a:rPr lang="en-US">
                    <a:noFill/>
                  </a:rPr>
                  <a:t> </a:t>
                </a:r>
              </a:p>
            </p:txBody>
          </p:sp>
        </mc:Fallback>
      </mc:AlternateContent>
      <p:sp>
        <p:nvSpPr>
          <p:cNvPr id="14" name="Rounded Rectangle 13">
            <a:extLst>
              <a:ext uri="{FF2B5EF4-FFF2-40B4-BE49-F238E27FC236}">
                <a16:creationId xmlns:a16="http://schemas.microsoft.com/office/drawing/2014/main" id="{C36B7FD6-69E7-05B1-660F-D924ADF484D2}"/>
              </a:ext>
            </a:extLst>
          </p:cNvPr>
          <p:cNvSpPr/>
          <p:nvPr/>
        </p:nvSpPr>
        <p:spPr>
          <a:xfrm>
            <a:off x="7044675" y="3824853"/>
            <a:ext cx="4246174" cy="3657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Velocity U-net. Predicts a new velocity.</a:t>
            </a:r>
            <a:endParaRPr lang="en-US" sz="1600" dirty="0"/>
          </a:p>
        </p:txBody>
      </p:sp>
      <p:sp>
        <p:nvSpPr>
          <p:cNvPr id="15" name="Rounded Rectangle 14">
            <a:extLst>
              <a:ext uri="{FF2B5EF4-FFF2-40B4-BE49-F238E27FC236}">
                <a16:creationId xmlns:a16="http://schemas.microsoft.com/office/drawing/2014/main" id="{DF9A7B2E-FF60-02F3-C725-3820A12D20A2}"/>
              </a:ext>
            </a:extLst>
          </p:cNvPr>
          <p:cNvSpPr/>
          <p:nvPr/>
        </p:nvSpPr>
        <p:spPr>
          <a:xfrm>
            <a:off x="7044675" y="4364276"/>
            <a:ext cx="2716695" cy="3657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Flow loss.</a:t>
            </a:r>
            <a:endParaRPr lang="en-US" dirty="0"/>
          </a:p>
        </p:txBody>
      </p:sp>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EC52CDF5-9D4A-9D5B-88F7-045ECBA2B650}"/>
                  </a:ext>
                </a:extLst>
              </p:cNvPr>
              <p:cNvSpPr/>
              <p:nvPr/>
            </p:nvSpPr>
            <p:spPr>
              <a:xfrm>
                <a:off x="7044675" y="3277470"/>
                <a:ext cx="4246175" cy="3657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Stochastic interpolant.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b="0" i="1" dirty="0" smtClean="0">
                            <a:latin typeface="Cambria Math" panose="02040503050406030204" pitchFamily="18" charset="0"/>
                            <a:ea typeface="Tahoma" panose="020B0604030504040204" pitchFamily="34" charset="0"/>
                            <a:cs typeface="Tahoma" panose="020B0604030504040204" pitchFamily="34" charset="0"/>
                          </a:rPr>
                          <m:t>𝑥</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1</m:t>
                        </m:r>
                      </m:sub>
                    </m:sSub>
                    <m:r>
                      <a:rPr lang="en-US" sz="1600" b="0" i="1" dirty="0" smtClean="0">
                        <a:latin typeface="Cambria Math" panose="02040503050406030204" pitchFamily="18" charset="0"/>
                        <a:ea typeface="Tahoma" panose="020B0604030504040204" pitchFamily="34" charset="0"/>
                        <a:cs typeface="Tahoma" panose="020B0604030504040204" pitchFamily="34" charset="0"/>
                      </a:rPr>
                      <m:t>=</m:t>
                    </m:r>
                    <m:d>
                      <m:dPr>
                        <m:ctrlPr>
                          <a:rPr lang="en-US" sz="1600" b="0" i="1" dirty="0" smtClean="0">
                            <a:latin typeface="Cambria Math" panose="02040503050406030204" pitchFamily="18" charset="0"/>
                            <a:ea typeface="Tahoma" panose="020B0604030504040204" pitchFamily="34" charset="0"/>
                            <a:cs typeface="Tahoma" panose="020B0604030504040204" pitchFamily="34" charset="0"/>
                          </a:rPr>
                        </m:ctrlPr>
                      </m:dPr>
                      <m:e>
                        <m:r>
                          <a:rPr lang="en-US" sz="1600" b="0" i="1" dirty="0" smtClean="0">
                            <a:latin typeface="Cambria Math" panose="02040503050406030204" pitchFamily="18" charset="0"/>
                            <a:ea typeface="Tahoma" panose="020B0604030504040204" pitchFamily="34" charset="0"/>
                            <a:cs typeface="Tahoma" panose="020B0604030504040204" pitchFamily="34" charset="0"/>
                          </a:rPr>
                          <m:t>1−</m:t>
                        </m:r>
                        <m:r>
                          <a:rPr lang="en-US" sz="1600" b="0" i="1" dirty="0" smtClean="0">
                            <a:latin typeface="Cambria Math" panose="02040503050406030204" pitchFamily="18" charset="0"/>
                            <a:ea typeface="Tahoma" panose="020B0604030504040204" pitchFamily="34" charset="0"/>
                            <a:cs typeface="Tahoma" panose="020B0604030504040204" pitchFamily="34" charset="0"/>
                          </a:rPr>
                          <m:t>𝑡</m:t>
                        </m:r>
                      </m:e>
                    </m:d>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𝑥</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0</m:t>
                        </m:r>
                      </m:sub>
                    </m:sSub>
                    <m:r>
                      <a:rPr lang="en-US" sz="1600" b="0" i="1" dirty="0" smtClean="0">
                        <a:latin typeface="Cambria Math" panose="02040503050406030204" pitchFamily="18" charset="0"/>
                        <a:ea typeface="Tahoma" panose="020B0604030504040204" pitchFamily="34" charset="0"/>
                        <a:cs typeface="Tahoma" panose="020B0604030504040204" pitchFamily="34" charset="0"/>
                      </a:rPr>
                      <m:t>+</m:t>
                    </m:r>
                    <m:r>
                      <a:rPr lang="en-US" sz="1600" b="0" i="1" dirty="0" smtClean="0">
                        <a:latin typeface="Cambria Math" panose="02040503050406030204" pitchFamily="18" charset="0"/>
                        <a:ea typeface="Tahoma" panose="020B0604030504040204" pitchFamily="34" charset="0"/>
                        <a:cs typeface="Tahoma" panose="020B0604030504040204" pitchFamily="34" charset="0"/>
                      </a:rPr>
                      <m:t>𝑡</m:t>
                    </m:r>
                    <m:sSub>
                      <m:sSubPr>
                        <m:ctrlPr>
                          <a:rPr lang="en-US" i="1" dirty="0">
                            <a:latin typeface="Cambria Math" panose="02040503050406030204" pitchFamily="18" charset="0"/>
                            <a:ea typeface="Tahoma" panose="020B0604030504040204" pitchFamily="34" charset="0"/>
                            <a:cs typeface="Tahoma" panose="020B0604030504040204" pitchFamily="34" charset="0"/>
                          </a:rPr>
                        </m:ctrlPr>
                      </m:sSubPr>
                      <m:e>
                        <m:r>
                          <a:rPr lang="en-US" i="1" dirty="0">
                            <a:latin typeface="Cambria Math" panose="02040503050406030204" pitchFamily="18" charset="0"/>
                            <a:ea typeface="Tahoma" panose="020B0604030504040204" pitchFamily="34" charset="0"/>
                            <a:cs typeface="Tahoma" panose="020B0604030504040204" pitchFamily="34" charset="0"/>
                          </a:rPr>
                          <m:t>𝑥</m:t>
                        </m:r>
                      </m:e>
                      <m:sub>
                        <m:r>
                          <a:rPr lang="en-US" i="1" dirty="0">
                            <a:latin typeface="Cambria Math" panose="02040503050406030204" pitchFamily="18" charset="0"/>
                            <a:ea typeface="Tahoma" panose="020B0604030504040204" pitchFamily="34" charset="0"/>
                            <a:cs typeface="Tahoma" panose="020B0604030504040204" pitchFamily="34" charset="0"/>
                          </a:rPr>
                          <m:t>1</m:t>
                        </m:r>
                      </m:sub>
                    </m:sSub>
                  </m:oMath>
                </a14:m>
                <a:r>
                  <a:rPr lang="en-US" dirty="0"/>
                  <a:t>.</a:t>
                </a:r>
              </a:p>
            </p:txBody>
          </p:sp>
        </mc:Choice>
        <mc:Fallback xmlns="">
          <p:sp>
            <p:nvSpPr>
              <p:cNvPr id="16" name="Rounded Rectangle 15">
                <a:extLst>
                  <a:ext uri="{FF2B5EF4-FFF2-40B4-BE49-F238E27FC236}">
                    <a16:creationId xmlns:a16="http://schemas.microsoft.com/office/drawing/2014/main" id="{EC52CDF5-9D4A-9D5B-88F7-045ECBA2B650}"/>
                  </a:ext>
                </a:extLst>
              </p:cNvPr>
              <p:cNvSpPr>
                <a:spLocks noRot="1" noChangeAspect="1" noMove="1" noResize="1" noEditPoints="1" noAdjustHandles="1" noChangeArrowheads="1" noChangeShapeType="1" noTextEdit="1"/>
              </p:cNvSpPr>
              <p:nvPr/>
            </p:nvSpPr>
            <p:spPr>
              <a:xfrm>
                <a:off x="7044675" y="3277470"/>
                <a:ext cx="4246175" cy="365760"/>
              </a:xfrm>
              <a:prstGeom prst="roundRect">
                <a:avLst/>
              </a:prstGeom>
              <a:blipFill>
                <a:blip r:embed="rId6"/>
                <a:stretch>
                  <a:fillRect t="-6452" b="-19355"/>
                </a:stretch>
              </a:blipFill>
            </p:spPr>
            <p:txBody>
              <a:bodyPr/>
              <a:lstStyle/>
              <a:p>
                <a:r>
                  <a:rPr lang="en-US">
                    <a:noFill/>
                  </a:rPr>
                  <a:t> </a:t>
                </a:r>
              </a:p>
            </p:txBody>
          </p:sp>
        </mc:Fallback>
      </mc:AlternateContent>
      <p:sp>
        <p:nvSpPr>
          <p:cNvPr id="17" name="Rounded Rectangle 16">
            <a:extLst>
              <a:ext uri="{FF2B5EF4-FFF2-40B4-BE49-F238E27FC236}">
                <a16:creationId xmlns:a16="http://schemas.microsoft.com/office/drawing/2014/main" id="{E23426EB-1160-6130-32B8-D90D0FB4D3E1}"/>
              </a:ext>
            </a:extLst>
          </p:cNvPr>
          <p:cNvSpPr/>
          <p:nvPr/>
        </p:nvSpPr>
        <p:spPr>
          <a:xfrm>
            <a:off x="5020716" y="4917934"/>
            <a:ext cx="2470383" cy="3657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Combined loss.</a:t>
            </a:r>
            <a:endParaRPr lang="en-US" sz="1600" dirty="0"/>
          </a:p>
        </p:txBody>
      </p:sp>
      <p:sp>
        <p:nvSpPr>
          <p:cNvPr id="18" name="Rounded Rectangle 17">
            <a:extLst>
              <a:ext uri="{FF2B5EF4-FFF2-40B4-BE49-F238E27FC236}">
                <a16:creationId xmlns:a16="http://schemas.microsoft.com/office/drawing/2014/main" id="{5294650B-A97F-60E9-5F2F-9AEB36DBE8C0}"/>
              </a:ext>
            </a:extLst>
          </p:cNvPr>
          <p:cNvSpPr/>
          <p:nvPr/>
        </p:nvSpPr>
        <p:spPr>
          <a:xfrm>
            <a:off x="5023489" y="5451957"/>
            <a:ext cx="2470383" cy="3657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Single backward step.</a:t>
            </a:r>
            <a:endParaRPr lang="en-US" sz="1600" dirty="0"/>
          </a:p>
        </p:txBody>
      </p:sp>
      <p:sp>
        <p:nvSpPr>
          <p:cNvPr id="19" name="Rounded Rectangle 18">
            <a:extLst>
              <a:ext uri="{FF2B5EF4-FFF2-40B4-BE49-F238E27FC236}">
                <a16:creationId xmlns:a16="http://schemas.microsoft.com/office/drawing/2014/main" id="{524942D2-F2D9-36B5-827F-AA851509A7BA}"/>
              </a:ext>
            </a:extLst>
          </p:cNvPr>
          <p:cNvSpPr/>
          <p:nvPr/>
        </p:nvSpPr>
        <p:spPr>
          <a:xfrm>
            <a:off x="4041914" y="5973921"/>
            <a:ext cx="5950226" cy="3657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Optimizer step. Updates FNO and velocity nets separately.</a:t>
            </a:r>
            <a:endParaRPr lang="en-US" sz="1600" dirty="0"/>
          </a:p>
        </p:txBody>
      </p:sp>
      <p:sp>
        <p:nvSpPr>
          <p:cNvPr id="20" name="Rounded Rectangle 19">
            <a:extLst>
              <a:ext uri="{FF2B5EF4-FFF2-40B4-BE49-F238E27FC236}">
                <a16:creationId xmlns:a16="http://schemas.microsoft.com/office/drawing/2014/main" id="{7B72D52F-E2E3-7F00-2469-8913172C936D}"/>
              </a:ext>
            </a:extLst>
          </p:cNvPr>
          <p:cNvSpPr/>
          <p:nvPr/>
        </p:nvSpPr>
        <p:spPr>
          <a:xfrm>
            <a:off x="3379304" y="2715136"/>
            <a:ext cx="2716696" cy="3657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MSE + spectral slope loss.</a:t>
            </a:r>
          </a:p>
        </p:txBody>
      </p:sp>
      <p:cxnSp>
        <p:nvCxnSpPr>
          <p:cNvPr id="41" name="Straight Arrow Connector 40">
            <a:extLst>
              <a:ext uri="{FF2B5EF4-FFF2-40B4-BE49-F238E27FC236}">
                <a16:creationId xmlns:a16="http://schemas.microsoft.com/office/drawing/2014/main" id="{B7C3EA5C-3C5C-2824-6136-28ADCEF24DE1}"/>
              </a:ext>
            </a:extLst>
          </p:cNvPr>
          <p:cNvCxnSpPr/>
          <p:nvPr/>
        </p:nvCxnSpPr>
        <p:spPr>
          <a:xfrm>
            <a:off x="6626086" y="1455043"/>
            <a:ext cx="0" cy="16619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C1399A35-E617-F1B8-D6B6-089022D25668}"/>
              </a:ext>
            </a:extLst>
          </p:cNvPr>
          <p:cNvCxnSpPr/>
          <p:nvPr/>
        </p:nvCxnSpPr>
        <p:spPr>
          <a:xfrm>
            <a:off x="6619459" y="1986999"/>
            <a:ext cx="0" cy="16619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E17EF54D-7BC7-AB5F-B106-8BE11FCD216B}"/>
              </a:ext>
            </a:extLst>
          </p:cNvPr>
          <p:cNvCxnSpPr>
            <a:cxnSpLocks/>
          </p:cNvCxnSpPr>
          <p:nvPr/>
        </p:nvCxnSpPr>
        <p:spPr>
          <a:xfrm>
            <a:off x="8429525" y="3075117"/>
            <a:ext cx="0" cy="202353"/>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A6841100-30D3-9FFD-9481-8E3A511C70FA}"/>
              </a:ext>
            </a:extLst>
          </p:cNvPr>
          <p:cNvCxnSpPr/>
          <p:nvPr/>
        </p:nvCxnSpPr>
        <p:spPr>
          <a:xfrm>
            <a:off x="8607286" y="3643230"/>
            <a:ext cx="0" cy="16619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BA6B09C7-982E-DE39-1967-925A6C714CBA}"/>
              </a:ext>
            </a:extLst>
          </p:cNvPr>
          <p:cNvCxnSpPr/>
          <p:nvPr/>
        </p:nvCxnSpPr>
        <p:spPr>
          <a:xfrm>
            <a:off x="8607286" y="4198080"/>
            <a:ext cx="0" cy="16619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39130F86-69CC-4DFB-4C69-5614E8089386}"/>
              </a:ext>
            </a:extLst>
          </p:cNvPr>
          <p:cNvCxnSpPr/>
          <p:nvPr/>
        </p:nvCxnSpPr>
        <p:spPr>
          <a:xfrm>
            <a:off x="6255908" y="5285761"/>
            <a:ext cx="0" cy="16619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9C9500F5-CFC0-F299-8672-C6324F3E8035}"/>
              </a:ext>
            </a:extLst>
          </p:cNvPr>
          <p:cNvCxnSpPr/>
          <p:nvPr/>
        </p:nvCxnSpPr>
        <p:spPr>
          <a:xfrm>
            <a:off x="6236029" y="5807725"/>
            <a:ext cx="0" cy="16619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B7095BC1-4C04-5371-3504-09FEDD767AC7}"/>
              </a:ext>
            </a:extLst>
          </p:cNvPr>
          <p:cNvCxnSpPr>
            <a:cxnSpLocks/>
          </p:cNvCxnSpPr>
          <p:nvPr/>
        </p:nvCxnSpPr>
        <p:spPr>
          <a:xfrm>
            <a:off x="5601511" y="2512783"/>
            <a:ext cx="0" cy="202353"/>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61499587-5C7D-2428-5C94-9955F513B775}"/>
              </a:ext>
            </a:extLst>
          </p:cNvPr>
          <p:cNvCxnSpPr>
            <a:cxnSpLocks/>
          </p:cNvCxnSpPr>
          <p:nvPr/>
        </p:nvCxnSpPr>
        <p:spPr>
          <a:xfrm>
            <a:off x="7283212" y="2529315"/>
            <a:ext cx="0" cy="202353"/>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1D540B67-4333-3D92-3D7B-59DA3B2BBFFC}"/>
              </a:ext>
            </a:extLst>
          </p:cNvPr>
          <p:cNvCxnSpPr>
            <a:cxnSpLocks/>
          </p:cNvCxnSpPr>
          <p:nvPr/>
        </p:nvCxnSpPr>
        <p:spPr>
          <a:xfrm>
            <a:off x="7283212" y="4730036"/>
            <a:ext cx="0" cy="202353"/>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3513118F-1745-8187-7A91-1E2C8F9576D3}"/>
              </a:ext>
            </a:extLst>
          </p:cNvPr>
          <p:cNvCxnSpPr>
            <a:cxnSpLocks/>
          </p:cNvCxnSpPr>
          <p:nvPr/>
        </p:nvCxnSpPr>
        <p:spPr>
          <a:xfrm>
            <a:off x="5437001" y="3090767"/>
            <a:ext cx="0" cy="1827167"/>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46509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8C17D-F492-8DB5-8EF7-2C054DBF00E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61AAD0-3C11-24A2-74DA-B45E3B68D8BF}"/>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AC8D679-36DF-FC1E-C2AD-7C7F2CDDC6FE}"/>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7936D6D-B9CB-F939-F4FF-2E89AA46B65F}"/>
              </a:ext>
            </a:extLst>
          </p:cNvPr>
          <p:cNvSpPr/>
          <p:nvPr/>
        </p:nvSpPr>
        <p:spPr>
          <a:xfrm>
            <a:off x="599090" y="782283"/>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8E7E941-942B-4435-302F-26B7855E1C8D}"/>
              </a:ext>
            </a:extLst>
          </p:cNvPr>
          <p:cNvSpPr>
            <a:spLocks noChangeAspect="1"/>
          </p:cNvSpPr>
          <p:nvPr/>
        </p:nvSpPr>
        <p:spPr>
          <a:xfrm>
            <a:off x="680716" y="878191"/>
            <a:ext cx="11458732" cy="5696764"/>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F0B92BF8-C825-6934-67D4-6AEBDE6A9778}"/>
              </a:ext>
            </a:extLst>
          </p:cNvPr>
          <p:cNvSpPr txBox="1"/>
          <p:nvPr/>
        </p:nvSpPr>
        <p:spPr>
          <a:xfrm>
            <a:off x="709790" y="148434"/>
            <a:ext cx="4759199"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FNO + SI Model: Inference</a:t>
            </a:r>
          </a:p>
        </p:txBody>
      </p:sp>
      <p:sp>
        <p:nvSpPr>
          <p:cNvPr id="10" name="Content Placeholder 2">
            <a:extLst>
              <a:ext uri="{FF2B5EF4-FFF2-40B4-BE49-F238E27FC236}">
                <a16:creationId xmlns:a16="http://schemas.microsoft.com/office/drawing/2014/main" id="{57344260-B779-21B4-F9C5-D196AC51758B}"/>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FEB19DF9-57C9-EC9E-ED4E-7BA692BFA0B1}"/>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4B17AE43-B99F-DF9B-5712-A3A2520DC8EA}"/>
              </a:ext>
            </a:extLst>
          </p:cNvPr>
          <p:cNvSpPr/>
          <p:nvPr/>
        </p:nvSpPr>
        <p:spPr>
          <a:xfrm>
            <a:off x="680716" y="6574956"/>
            <a:ext cx="11458732" cy="283043"/>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D1C3107D-B17B-832D-C12F-07130DC08C94}"/>
                  </a:ext>
                </a:extLst>
              </p:cNvPr>
              <p:cNvSpPr/>
              <p:nvPr/>
            </p:nvSpPr>
            <p:spPr>
              <a:xfrm>
                <a:off x="3737113" y="1089283"/>
                <a:ext cx="5777948" cy="62521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Input data. Normalized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b="0" i="1" dirty="0" smtClean="0">
                            <a:latin typeface="Cambria Math" panose="02040503050406030204" pitchFamily="18" charset="0"/>
                            <a:ea typeface="Tahoma" panose="020B0604030504040204" pitchFamily="34" charset="0"/>
                            <a:cs typeface="Tahoma" panose="020B0604030504040204" pitchFamily="34" charset="0"/>
                          </a:rPr>
                          <m:t>𝑆</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𝑒</m:t>
                        </m:r>
                      </m:sub>
                    </m:sSub>
                  </m:oMath>
                </a14:m>
                <a:r>
                  <a:rPr lang="en-US" sz="1600" dirty="0">
                    <a:latin typeface="Tahoma" panose="020B0604030504040204" pitchFamily="34" charset="0"/>
                    <a:ea typeface="Tahoma" panose="020B0604030504040204" pitchFamily="34" charset="0"/>
                    <a:cs typeface="Tahoma" panose="020B0604030504040204" pitchFamily="34" charset="0"/>
                  </a:rPr>
                  <a:t> and </a:t>
                </a:r>
                <a14:m>
                  <m:oMath xmlns:m="http://schemas.openxmlformats.org/officeDocument/2006/math">
                    <m:sSub>
                      <m:sSubPr>
                        <m:ctrlPr>
                          <a:rPr lang="en-US" sz="1600" i="1" dirty="0" smtClean="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𝑞</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𝑐</m:t>
                        </m:r>
                      </m:sub>
                    </m:sSub>
                  </m:oMath>
                </a14:m>
                <a:r>
                  <a:rPr lang="en-US" sz="1600"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7" name="Rounded Rectangle 6">
                <a:extLst>
                  <a:ext uri="{FF2B5EF4-FFF2-40B4-BE49-F238E27FC236}">
                    <a16:creationId xmlns:a16="http://schemas.microsoft.com/office/drawing/2014/main" id="{D1C3107D-B17B-832D-C12F-07130DC08C94}"/>
                  </a:ext>
                </a:extLst>
              </p:cNvPr>
              <p:cNvSpPr>
                <a:spLocks noRot="1" noChangeAspect="1" noMove="1" noResize="1" noEditPoints="1" noAdjustHandles="1" noChangeArrowheads="1" noChangeShapeType="1" noTextEdit="1"/>
              </p:cNvSpPr>
              <p:nvPr/>
            </p:nvSpPr>
            <p:spPr>
              <a:xfrm>
                <a:off x="3737113" y="1089283"/>
                <a:ext cx="5777948" cy="625216"/>
              </a:xfrm>
              <a:prstGeom prst="round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ounded Rectangle 7">
                <a:extLst>
                  <a:ext uri="{FF2B5EF4-FFF2-40B4-BE49-F238E27FC236}">
                    <a16:creationId xmlns:a16="http://schemas.microsoft.com/office/drawing/2014/main" id="{068257AB-8C30-8A6C-9632-C053A73A7485}"/>
                  </a:ext>
                </a:extLst>
              </p:cNvPr>
              <p:cNvSpPr/>
              <p:nvPr/>
            </p:nvSpPr>
            <p:spPr>
              <a:xfrm>
                <a:off x="3737113" y="2016830"/>
                <a:ext cx="5777947" cy="68927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FNO forward. Frozen weights        mean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𝑞</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𝑐</m:t>
                        </m:r>
                      </m:sub>
                    </m:sSub>
                  </m:oMath>
                </a14:m>
                <a:r>
                  <a:rPr lang="en-US" sz="1600" dirty="0">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8" name="Rounded Rectangle 7">
                <a:extLst>
                  <a:ext uri="{FF2B5EF4-FFF2-40B4-BE49-F238E27FC236}">
                    <a16:creationId xmlns:a16="http://schemas.microsoft.com/office/drawing/2014/main" id="{068257AB-8C30-8A6C-9632-C053A73A7485}"/>
                  </a:ext>
                </a:extLst>
              </p:cNvPr>
              <p:cNvSpPr>
                <a:spLocks noRot="1" noChangeAspect="1" noMove="1" noResize="1" noEditPoints="1" noAdjustHandles="1" noChangeArrowheads="1" noChangeShapeType="1" noTextEdit="1"/>
              </p:cNvSpPr>
              <p:nvPr/>
            </p:nvSpPr>
            <p:spPr>
              <a:xfrm>
                <a:off x="3737113" y="2016830"/>
                <a:ext cx="5777947" cy="689270"/>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99DF5AE4-88D0-1CE0-8866-D47BCA193DB2}"/>
                  </a:ext>
                </a:extLst>
              </p:cNvPr>
              <p:cNvSpPr/>
              <p:nvPr/>
            </p:nvSpPr>
            <p:spPr>
              <a:xfrm>
                <a:off x="3737114" y="2915394"/>
                <a:ext cx="5777946" cy="67323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Initialize base state.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𝑥</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0</m:t>
                        </m:r>
                      </m:sub>
                    </m:sSub>
                    <m:r>
                      <a:rPr lang="en-US" sz="1600" i="1" dirty="0">
                        <a:latin typeface="Cambria Math" panose="02040503050406030204" pitchFamily="18" charset="0"/>
                        <a:ea typeface="Tahoma" panose="020B0604030504040204" pitchFamily="34" charset="0"/>
                        <a:cs typeface="Tahoma" panose="020B0604030504040204" pitchFamily="34" charset="0"/>
                      </a:rPr>
                      <m:t>=</m:t>
                    </m:r>
                    <m:d>
                      <m:dPr>
                        <m:begChr m:val="⟨"/>
                        <m:endChr m:val="⟩"/>
                        <m:ctrlPr>
                          <a:rPr lang="en-US" sz="1600" i="1" dirty="0" smtClean="0">
                            <a:latin typeface="Cambria Math" panose="02040503050406030204" pitchFamily="18" charset="0"/>
                            <a:ea typeface="Tahoma" panose="020B0604030504040204" pitchFamily="34" charset="0"/>
                            <a:cs typeface="Tahoma" panose="020B0604030504040204" pitchFamily="34" charset="0"/>
                          </a:rPr>
                        </m:ctrlPr>
                      </m:dPr>
                      <m:e>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b="0" i="1" dirty="0" smtClean="0">
                                <a:latin typeface="Cambria Math" panose="02040503050406030204" pitchFamily="18" charset="0"/>
                                <a:ea typeface="Tahoma" panose="020B0604030504040204" pitchFamily="34" charset="0"/>
                                <a:cs typeface="Tahoma" panose="020B0604030504040204" pitchFamily="34" charset="0"/>
                              </a:rPr>
                              <m:t>𝑞</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𝑐</m:t>
                            </m:r>
                          </m:sub>
                        </m:sSub>
                      </m:e>
                    </m:d>
                    <m:r>
                      <a:rPr lang="en-US" sz="1600" i="1" dirty="0">
                        <a:latin typeface="Cambria Math" panose="02040503050406030204" pitchFamily="18" charset="0"/>
                        <a:ea typeface="Tahoma" panose="020B0604030504040204" pitchFamily="34" charset="0"/>
                        <a:cs typeface="Tahoma" panose="020B0604030504040204" pitchFamily="34" charset="0"/>
                      </a:rPr>
                      <m:t>+</m:t>
                    </m:r>
                  </m:oMath>
                </a14:m>
                <a:r>
                  <a:rPr lang="en-US" sz="1600" dirty="0"/>
                  <a:t> </a:t>
                </a:r>
                <a:r>
                  <a:rPr lang="en-US" sz="1600" dirty="0" err="1"/>
                  <a:t>noise_scale</a:t>
                </a:r>
                <a:r>
                  <a:rPr lang="en-US" sz="1600" dirty="0"/>
                  <a:t>*z.</a:t>
                </a:r>
              </a:p>
            </p:txBody>
          </p:sp>
        </mc:Choice>
        <mc:Fallback xmlns="">
          <p:sp>
            <p:nvSpPr>
              <p:cNvPr id="9" name="Rounded Rectangle 8">
                <a:extLst>
                  <a:ext uri="{FF2B5EF4-FFF2-40B4-BE49-F238E27FC236}">
                    <a16:creationId xmlns:a16="http://schemas.microsoft.com/office/drawing/2014/main" id="{99DF5AE4-88D0-1CE0-8866-D47BCA193DB2}"/>
                  </a:ext>
                </a:extLst>
              </p:cNvPr>
              <p:cNvSpPr>
                <a:spLocks noRot="1" noChangeAspect="1" noMove="1" noResize="1" noEditPoints="1" noAdjustHandles="1" noChangeArrowheads="1" noChangeShapeType="1" noTextEdit="1"/>
              </p:cNvSpPr>
              <p:nvPr/>
            </p:nvSpPr>
            <p:spPr>
              <a:xfrm>
                <a:off x="3737114" y="2915394"/>
                <a:ext cx="5777946" cy="673235"/>
              </a:xfrm>
              <a:prstGeom prst="round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ounded Rectangle 16">
                <a:extLst>
                  <a:ext uri="{FF2B5EF4-FFF2-40B4-BE49-F238E27FC236}">
                    <a16:creationId xmlns:a16="http://schemas.microsoft.com/office/drawing/2014/main" id="{4083FFDB-0D41-66D9-F751-C0204B87D3DC}"/>
                  </a:ext>
                </a:extLst>
              </p:cNvPr>
              <p:cNvSpPr/>
              <p:nvPr/>
            </p:nvSpPr>
            <p:spPr>
              <a:xfrm>
                <a:off x="3737113" y="3887537"/>
                <a:ext cx="5777937" cy="67323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Heun ODE step. </a:t>
                </a:r>
                <a14:m>
                  <m:oMath xmlns:m="http://schemas.openxmlformats.org/officeDocument/2006/math">
                    <m:r>
                      <a:rPr lang="en-US" sz="1600" b="0" i="1" dirty="0" smtClean="0">
                        <a:latin typeface="Cambria Math" panose="02040503050406030204" pitchFamily="18" charset="0"/>
                        <a:ea typeface="Tahoma" panose="020B0604030504040204" pitchFamily="34" charset="0"/>
                        <a:cs typeface="Tahoma" panose="020B0604030504040204" pitchFamily="34" charset="0"/>
                      </a:rPr>
                      <m:t>𝑥</m:t>
                    </m:r>
                    <m:r>
                      <a:rPr lang="en-US" sz="1600" b="0" i="1" dirty="0" smtClean="0">
                        <a:latin typeface="Cambria Math" panose="02040503050406030204" pitchFamily="18" charset="0"/>
                        <a:ea typeface="Tahoma" panose="020B0604030504040204" pitchFamily="34" charset="0"/>
                        <a:cs typeface="Tahoma" panose="020B0604030504040204" pitchFamily="34" charset="0"/>
                      </a:rPr>
                      <m:t>+=0.5</m:t>
                    </m:r>
                    <m:d>
                      <m:dPr>
                        <m:ctrlPr>
                          <a:rPr lang="en-US" sz="1600" b="0" i="1" dirty="0" smtClean="0">
                            <a:latin typeface="Cambria Math" panose="02040503050406030204" pitchFamily="18" charset="0"/>
                            <a:ea typeface="Tahoma" panose="020B0604030504040204" pitchFamily="34" charset="0"/>
                            <a:cs typeface="Tahoma" panose="020B0604030504040204" pitchFamily="34" charset="0"/>
                          </a:rPr>
                        </m:ctrlPr>
                      </m:dPr>
                      <m:e>
                        <m:sSub>
                          <m:sSubPr>
                            <m:ctrlPr>
                              <a:rPr lang="en-US" sz="1600" b="0" i="1" dirty="0" smtClean="0">
                                <a:latin typeface="Cambria Math" panose="02040503050406030204" pitchFamily="18" charset="0"/>
                                <a:ea typeface="Tahoma" panose="020B0604030504040204" pitchFamily="34" charset="0"/>
                                <a:cs typeface="Tahoma" panose="020B0604030504040204" pitchFamily="34" charset="0"/>
                              </a:rPr>
                            </m:ctrlPr>
                          </m:sSubPr>
                          <m:e>
                            <m:r>
                              <a:rPr lang="en-US" sz="1600" b="0" i="1" dirty="0" smtClean="0">
                                <a:latin typeface="Cambria Math" panose="02040503050406030204" pitchFamily="18" charset="0"/>
                                <a:ea typeface="Tahoma" panose="020B0604030504040204" pitchFamily="34" charset="0"/>
                                <a:cs typeface="Tahoma" panose="020B0604030504040204" pitchFamily="34" charset="0"/>
                              </a:rPr>
                              <m:t>𝑣</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0</m:t>
                            </m:r>
                          </m:sub>
                        </m:sSub>
                        <m:r>
                          <a:rPr lang="en-US" sz="1600" i="1" dirty="0">
                            <a:latin typeface="Cambria Math" panose="02040503050406030204" pitchFamily="18" charset="0"/>
                            <a:ea typeface="Tahoma" panose="020B0604030504040204" pitchFamily="34" charset="0"/>
                            <a:cs typeface="Tahoma" panose="020B0604030504040204" pitchFamily="34" charset="0"/>
                          </a:rPr>
                          <m:t>+</m:t>
                        </m:r>
                        <m:sSub>
                          <m:sSubPr>
                            <m:ctrlPr>
                              <a:rPr lang="en-US" sz="1600" i="1" dirty="0" smtClean="0">
                                <a:latin typeface="Cambria Math" panose="02040503050406030204" pitchFamily="18" charset="0"/>
                                <a:ea typeface="Tahoma" panose="020B0604030504040204" pitchFamily="34" charset="0"/>
                                <a:cs typeface="Tahoma" panose="020B0604030504040204" pitchFamily="34" charset="0"/>
                              </a:rPr>
                            </m:ctrlPr>
                          </m:sSubPr>
                          <m:e>
                            <m:r>
                              <a:rPr lang="en-US" sz="1600" b="0" i="1" dirty="0" smtClean="0">
                                <a:latin typeface="Cambria Math" panose="02040503050406030204" pitchFamily="18" charset="0"/>
                                <a:ea typeface="Tahoma" panose="020B0604030504040204" pitchFamily="34" charset="0"/>
                                <a:cs typeface="Tahoma" panose="020B0604030504040204" pitchFamily="34" charset="0"/>
                              </a:rPr>
                              <m:t>𝑣</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1</m:t>
                            </m:r>
                          </m:sub>
                        </m:sSub>
                      </m:e>
                    </m:d>
                    <m:r>
                      <a:rPr lang="en-US" sz="1600" b="0" i="1" dirty="0" smtClean="0">
                        <a:latin typeface="Cambria Math" panose="02040503050406030204" pitchFamily="18" charset="0"/>
                        <a:ea typeface="Tahoma" panose="020B0604030504040204" pitchFamily="34" charset="0"/>
                        <a:cs typeface="Tahoma" panose="020B0604030504040204" pitchFamily="34" charset="0"/>
                      </a:rPr>
                      <m:t>.</m:t>
                    </m:r>
                  </m:oMath>
                </a14:m>
                <a:r>
                  <a:rPr lang="en-US" sz="1600" dirty="0">
                    <a:latin typeface="Tahoma" panose="020B0604030504040204" pitchFamily="34" charset="0"/>
                    <a:ea typeface="Tahoma" panose="020B0604030504040204" pitchFamily="34" charset="0"/>
                    <a:cs typeface="Tahoma" panose="020B0604030504040204" pitchFamily="34" charset="0"/>
                  </a:rPr>
                  <a:t> </a:t>
                </a:r>
                <a:endParaRPr lang="en-US" sz="1600" dirty="0"/>
              </a:p>
            </p:txBody>
          </p:sp>
        </mc:Choice>
        <mc:Fallback xmlns="">
          <p:sp>
            <p:nvSpPr>
              <p:cNvPr id="17" name="Rounded Rectangle 16">
                <a:extLst>
                  <a:ext uri="{FF2B5EF4-FFF2-40B4-BE49-F238E27FC236}">
                    <a16:creationId xmlns:a16="http://schemas.microsoft.com/office/drawing/2014/main" id="{4083FFDB-0D41-66D9-F751-C0204B87D3DC}"/>
                  </a:ext>
                </a:extLst>
              </p:cNvPr>
              <p:cNvSpPr>
                <a:spLocks noRot="1" noChangeAspect="1" noMove="1" noResize="1" noEditPoints="1" noAdjustHandles="1" noChangeArrowheads="1" noChangeShapeType="1" noTextEdit="1"/>
              </p:cNvSpPr>
              <p:nvPr/>
            </p:nvSpPr>
            <p:spPr>
              <a:xfrm>
                <a:off x="3737113" y="3887537"/>
                <a:ext cx="5777937" cy="673235"/>
              </a:xfrm>
              <a:prstGeom prst="round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ounded Rectangle 17">
                <a:extLst>
                  <a:ext uri="{FF2B5EF4-FFF2-40B4-BE49-F238E27FC236}">
                    <a16:creationId xmlns:a16="http://schemas.microsoft.com/office/drawing/2014/main" id="{05041E53-9C90-BF05-DE82-4E835CA1167E}"/>
                  </a:ext>
                </a:extLst>
              </p:cNvPr>
              <p:cNvSpPr/>
              <p:nvPr/>
            </p:nvSpPr>
            <p:spPr>
              <a:xfrm>
                <a:off x="3737113" y="4839022"/>
                <a:ext cx="5777929" cy="67323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 xmlns:m="http://schemas.openxmlformats.org/officeDocument/2006/math">
                    <m:sSub>
                      <m:sSubPr>
                        <m:ctrlPr>
                          <a:rPr lang="en-US" sz="1600" i="1" dirty="0" smtClean="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𝑆</m:t>
                        </m:r>
                      </m:e>
                      <m:sub>
                        <m:r>
                          <a:rPr lang="en-US" sz="1600" i="1" dirty="0">
                            <a:latin typeface="Cambria Math" panose="02040503050406030204" pitchFamily="18" charset="0"/>
                            <a:ea typeface="Tahoma" panose="020B0604030504040204" pitchFamily="34" charset="0"/>
                            <a:cs typeface="Tahoma" panose="020B0604030504040204" pitchFamily="34" charset="0"/>
                          </a:rPr>
                          <m:t>𝑒</m:t>
                        </m:r>
                      </m:sub>
                    </m:sSub>
                  </m:oMath>
                </a14:m>
                <a:r>
                  <a:rPr lang="en-US" sz="1600" dirty="0">
                    <a:latin typeface="Tahoma" panose="020B0604030504040204" pitchFamily="34" charset="0"/>
                    <a:ea typeface="Tahoma" panose="020B0604030504040204" pitchFamily="34" charset="0"/>
                    <a:cs typeface="Tahoma" panose="020B0604030504040204" pitchFamily="34" charset="0"/>
                  </a:rPr>
                  <a:t> and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𝑞</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𝑐</m:t>
                        </m:r>
                      </m:sub>
                    </m:sSub>
                    <m:r>
                      <a:rPr lang="en-US" sz="1600" b="0" i="0" dirty="0" smtClean="0">
                        <a:latin typeface="Cambria Math" panose="02040503050406030204" pitchFamily="18" charset="0"/>
                        <a:ea typeface="Tahoma" panose="020B0604030504040204" pitchFamily="34" charset="0"/>
                        <a:cs typeface="Tahoma" panose="020B0604030504040204" pitchFamily="34" charset="0"/>
                      </a:rPr>
                      <m:t> </m:t>
                    </m:r>
                  </m:oMath>
                </a14:m>
                <a:r>
                  <a:rPr lang="en-US" sz="1600" dirty="0"/>
                  <a:t>at output resolution.</a:t>
                </a:r>
              </a:p>
            </p:txBody>
          </p:sp>
        </mc:Choice>
        <mc:Fallback xmlns="">
          <p:sp>
            <p:nvSpPr>
              <p:cNvPr id="18" name="Rounded Rectangle 17">
                <a:extLst>
                  <a:ext uri="{FF2B5EF4-FFF2-40B4-BE49-F238E27FC236}">
                    <a16:creationId xmlns:a16="http://schemas.microsoft.com/office/drawing/2014/main" id="{05041E53-9C90-BF05-DE82-4E835CA1167E}"/>
                  </a:ext>
                </a:extLst>
              </p:cNvPr>
              <p:cNvSpPr>
                <a:spLocks noRot="1" noChangeAspect="1" noMove="1" noResize="1" noEditPoints="1" noAdjustHandles="1" noChangeArrowheads="1" noChangeShapeType="1" noTextEdit="1"/>
              </p:cNvSpPr>
              <p:nvPr/>
            </p:nvSpPr>
            <p:spPr>
              <a:xfrm>
                <a:off x="3737113" y="4839022"/>
                <a:ext cx="5777929" cy="673235"/>
              </a:xfrm>
              <a:prstGeom prst="roundRect">
                <a:avLst/>
              </a:prstGeom>
              <a:blipFill>
                <a:blip r:embed="rId7"/>
                <a:stretch>
                  <a:fillRect/>
                </a:stretch>
              </a:blipFill>
            </p:spPr>
            <p:txBody>
              <a:bodyPr/>
              <a:lstStyle/>
              <a:p>
                <a:r>
                  <a:rPr lang="en-US">
                    <a:noFill/>
                  </a:rPr>
                  <a:t> </a:t>
                </a:r>
              </a:p>
            </p:txBody>
          </p:sp>
        </mc:Fallback>
      </mc:AlternateContent>
      <p:sp>
        <p:nvSpPr>
          <p:cNvPr id="19" name="Rounded Rectangle 18">
            <a:extLst>
              <a:ext uri="{FF2B5EF4-FFF2-40B4-BE49-F238E27FC236}">
                <a16:creationId xmlns:a16="http://schemas.microsoft.com/office/drawing/2014/main" id="{AB690DCC-99B5-67D5-59AC-9B6DC68CCBF9}"/>
              </a:ext>
            </a:extLst>
          </p:cNvPr>
          <p:cNvSpPr/>
          <p:nvPr/>
        </p:nvSpPr>
        <p:spPr>
          <a:xfrm>
            <a:off x="4373217" y="5759840"/>
            <a:ext cx="4505739" cy="61803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Validation against DNS.</a:t>
            </a:r>
            <a:endParaRPr lang="en-US" sz="1600" dirty="0"/>
          </a:p>
        </p:txBody>
      </p:sp>
      <p:cxnSp>
        <p:nvCxnSpPr>
          <p:cNvPr id="49" name="Straight Arrow Connector 48">
            <a:extLst>
              <a:ext uri="{FF2B5EF4-FFF2-40B4-BE49-F238E27FC236}">
                <a16:creationId xmlns:a16="http://schemas.microsoft.com/office/drawing/2014/main" id="{6FFF1566-8F2F-38DC-35C9-AFD3BE0175C4}"/>
              </a:ext>
            </a:extLst>
          </p:cNvPr>
          <p:cNvCxnSpPr>
            <a:cxnSpLocks/>
          </p:cNvCxnSpPr>
          <p:nvPr/>
        </p:nvCxnSpPr>
        <p:spPr>
          <a:xfrm>
            <a:off x="7354957" y="2385391"/>
            <a:ext cx="323412" cy="0"/>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21FDFD49-17C7-A0B4-BFB6-669D7B71628D}"/>
              </a:ext>
            </a:extLst>
          </p:cNvPr>
          <p:cNvCxnSpPr>
            <a:cxnSpLocks/>
          </p:cNvCxnSpPr>
          <p:nvPr/>
        </p:nvCxnSpPr>
        <p:spPr>
          <a:xfrm>
            <a:off x="6444319" y="1714499"/>
            <a:ext cx="0" cy="302331"/>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271189B2-FE12-513F-0680-D25B54F97D9A}"/>
              </a:ext>
            </a:extLst>
          </p:cNvPr>
          <p:cNvCxnSpPr>
            <a:cxnSpLocks/>
          </p:cNvCxnSpPr>
          <p:nvPr/>
        </p:nvCxnSpPr>
        <p:spPr>
          <a:xfrm>
            <a:off x="6410082" y="2706100"/>
            <a:ext cx="0" cy="209294"/>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A73E0B83-3E8D-55D9-161E-E742AE4A20C4}"/>
              </a:ext>
            </a:extLst>
          </p:cNvPr>
          <p:cNvCxnSpPr>
            <a:cxnSpLocks/>
          </p:cNvCxnSpPr>
          <p:nvPr/>
        </p:nvCxnSpPr>
        <p:spPr>
          <a:xfrm>
            <a:off x="6444319" y="3588629"/>
            <a:ext cx="0" cy="302331"/>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AA52878D-8BF2-310B-FDA8-F6828C70CC32}"/>
              </a:ext>
            </a:extLst>
          </p:cNvPr>
          <p:cNvCxnSpPr>
            <a:cxnSpLocks/>
          </p:cNvCxnSpPr>
          <p:nvPr/>
        </p:nvCxnSpPr>
        <p:spPr>
          <a:xfrm>
            <a:off x="6448081" y="4560772"/>
            <a:ext cx="0" cy="302331"/>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0A276EFA-0B7A-7609-61BF-7F25623267C6}"/>
              </a:ext>
            </a:extLst>
          </p:cNvPr>
          <p:cNvCxnSpPr>
            <a:cxnSpLocks/>
          </p:cNvCxnSpPr>
          <p:nvPr/>
        </p:nvCxnSpPr>
        <p:spPr>
          <a:xfrm>
            <a:off x="6444319" y="5512257"/>
            <a:ext cx="0" cy="226391"/>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89612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2F680-68AC-0592-2043-A7C169340E1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A14F727-E5D2-9BCB-D431-084A1B807EB4}"/>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385B685-92D9-A709-83B1-04FDA18FC14E}"/>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8FFA0E1-990E-1C24-40E1-E8342717EF11}"/>
              </a:ext>
            </a:extLst>
          </p:cNvPr>
          <p:cNvSpPr/>
          <p:nvPr/>
        </p:nvSpPr>
        <p:spPr>
          <a:xfrm>
            <a:off x="628164" y="1229324"/>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9CB2DCF-0597-CC6F-7C96-8C66C9A06407}"/>
              </a:ext>
            </a:extLst>
          </p:cNvPr>
          <p:cNvSpPr/>
          <p:nvPr/>
        </p:nvSpPr>
        <p:spPr>
          <a:xfrm>
            <a:off x="680716" y="1325231"/>
            <a:ext cx="11458732" cy="4868625"/>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816E06A1-B34A-DC5E-F7FF-4B747904F340}"/>
              </a:ext>
            </a:extLst>
          </p:cNvPr>
          <p:cNvSpPr txBox="1"/>
          <p:nvPr/>
        </p:nvSpPr>
        <p:spPr>
          <a:xfrm>
            <a:off x="838413" y="525906"/>
            <a:ext cx="3283014"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FNO Architecture</a:t>
            </a:r>
          </a:p>
        </p:txBody>
      </p:sp>
      <p:sp>
        <p:nvSpPr>
          <p:cNvPr id="10" name="Content Placeholder 2">
            <a:extLst>
              <a:ext uri="{FF2B5EF4-FFF2-40B4-BE49-F238E27FC236}">
                <a16:creationId xmlns:a16="http://schemas.microsoft.com/office/drawing/2014/main" id="{49F38EE2-4D3C-6B4F-CA3D-9F0E069CA73B}"/>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2ECE916B-E9FB-BF8C-D30E-5922A0FF8304}"/>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6E8906C7-E622-A65E-13E4-E9FA35589C5A}"/>
              </a:ext>
            </a:extLst>
          </p:cNvPr>
          <p:cNvSpPr/>
          <p:nvPr/>
        </p:nvSpPr>
        <p:spPr>
          <a:xfrm>
            <a:off x="680716" y="6193856"/>
            <a:ext cx="11458732" cy="664144"/>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00BF788C-B6CD-4CB8-7D91-435180456E18}"/>
              </a:ext>
            </a:extLst>
          </p:cNvPr>
          <p:cNvSpPr/>
          <p:nvPr/>
        </p:nvSpPr>
        <p:spPr>
          <a:xfrm>
            <a:off x="7045205" y="1576038"/>
            <a:ext cx="4571182" cy="494530"/>
          </a:xfrm>
          <a:prstGeom prst="roundRect">
            <a:avLst/>
          </a:prstGeom>
          <a:solidFill>
            <a:srgbClr val="2B628C"/>
          </a:solidFill>
          <a:ln>
            <a:solidFill>
              <a:srgbClr val="2B628C"/>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Forward Pass</a:t>
            </a:r>
            <a:endParaRPr lang="en-US" sz="1600" b="1" dirty="0">
              <a:solidFill>
                <a:schemeClr val="bg1"/>
              </a:solidFill>
            </a:endParaRPr>
          </a:p>
        </p:txBody>
      </p:sp>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id="{D93C6F19-F943-AE9D-0658-00B1FE7FE359}"/>
                  </a:ext>
                </a:extLst>
              </p:cNvPr>
              <p:cNvSpPr/>
              <p:nvPr/>
            </p:nvSpPr>
            <p:spPr>
              <a:xfrm>
                <a:off x="1060309" y="1566984"/>
                <a:ext cx="5614067" cy="4173312"/>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Wingdings" pitchFamily="2" charset="2"/>
                  <a:buChar char="§"/>
                </a:pP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Spectral convolution layers: </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Truncate the lowest Fourier modes. Apply learned complex weights. Transform back the core FNO operator.</a:t>
                </a:r>
              </a:p>
              <a:p>
                <a:pPr marL="285750" indent="-285750">
                  <a:buFont typeface="Wingdings" pitchFamily="2" charset="2"/>
                  <a:buChar char="§"/>
                </a:pP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Spectral zero-padding: </a:t>
                </a:r>
                <a:r>
                  <a:rPr lang="en-US" sz="1600" dirty="0">
                    <a:latin typeface="Tahoma" panose="020B0604030504040204" pitchFamily="34" charset="0"/>
                    <a:ea typeface="Tahoma" panose="020B0604030504040204" pitchFamily="34" charset="0"/>
                    <a:cs typeface="Tahoma" panose="020B0604030504040204" pitchFamily="34" charset="0"/>
                  </a:rPr>
                  <a:t>Pads the field in Fourier space from 128</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to 192</a:t>
                </a:r>
                <a:r>
                  <a:rPr lang="en-US" sz="1600" baseline="30000" dirty="0">
                    <a:latin typeface="Tahoma" panose="020B0604030504040204" pitchFamily="34" charset="0"/>
                    <a:ea typeface="Tahoma" panose="020B0604030504040204" pitchFamily="34" charset="0"/>
                    <a:cs typeface="Tahoma" panose="020B0604030504040204" pitchFamily="34" charset="0"/>
                  </a:rPr>
                  <a:t>3 </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by filling the high-wavenumbers with </a:t>
                </a:r>
                <a:r>
                  <a:rPr lang="en-US" sz="1600" dirty="0">
                    <a:latin typeface="Tahoma" panose="020B0604030504040204" pitchFamily="34" charset="0"/>
                    <a:ea typeface="Tahoma" panose="020B0604030504040204" pitchFamily="34" charset="0"/>
                    <a:cs typeface="Tahoma" panose="020B0604030504040204" pitchFamily="34" charset="0"/>
                  </a:rPr>
                  <a:t>zeros. It gives resolution-independent output size.</a:t>
                </a:r>
              </a:p>
              <a:p>
                <a:pPr marL="285750" indent="-285750">
                  <a:buFont typeface="Wingdings" pitchFamily="2" charset="2"/>
                  <a:buChar char="§"/>
                </a:pP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Lifting layer: </a:t>
                </a:r>
                <a:r>
                  <a:rPr lang="en-US" sz="1600" dirty="0">
                    <a:latin typeface="Tahoma" panose="020B0604030504040204" pitchFamily="34" charset="0"/>
                    <a:ea typeface="Tahoma" panose="020B0604030504040204" pitchFamily="34" charset="0"/>
                    <a:cs typeface="Tahoma" panose="020B0604030504040204" pitchFamily="34" charset="0"/>
                  </a:rPr>
                  <a:t>Lifts [</a:t>
                </a:r>
                <a14:m>
                  <m:oMath xmlns:m="http://schemas.openxmlformats.org/officeDocument/2006/math">
                    <m:r>
                      <a:rPr lang="en-US" sz="1600" i="1" dirty="0">
                        <a:latin typeface="Cambria Math" panose="02040503050406030204" pitchFamily="18" charset="0"/>
                        <a:ea typeface="Tahoma" panose="020B0604030504040204" pitchFamily="34" charset="0"/>
                        <a:cs typeface="Tahoma" panose="020B0604030504040204" pitchFamily="34" charset="0"/>
                      </a:rPr>
                      <m:t>𝑆𝑒</m:t>
                    </m:r>
                  </m:oMath>
                </a14:m>
                <a:r>
                  <a:rPr lang="en-US" sz="16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1600" i="1">
                            <a:latin typeface="Cambria Math" panose="02040503050406030204" pitchFamily="18" charset="0"/>
                            <a:ea typeface="Tahoma" panose="020B0604030504040204" pitchFamily="34" charset="0"/>
                            <a:cs typeface="Tahoma" panose="020B0604030504040204" pitchFamily="34" charset="0"/>
                          </a:rPr>
                        </m:ctrlPr>
                      </m:sSubPr>
                      <m:e>
                        <m:r>
                          <a:rPr lang="en-US" sz="1600" i="1">
                            <a:latin typeface="Cambria Math" panose="02040503050406030204" pitchFamily="18" charset="0"/>
                            <a:ea typeface="Tahoma" panose="020B0604030504040204" pitchFamily="34" charset="0"/>
                            <a:cs typeface="Tahoma" panose="020B0604030504040204" pitchFamily="34" charset="0"/>
                          </a:rPr>
                          <m:t>𝑞</m:t>
                        </m:r>
                      </m:e>
                      <m:sub>
                        <m:r>
                          <a:rPr lang="en-US" sz="1600" b="0" i="1" smtClean="0">
                            <a:latin typeface="Cambria Math" panose="02040503050406030204" pitchFamily="18" charset="0"/>
                            <a:ea typeface="Tahoma" panose="020B0604030504040204" pitchFamily="34" charset="0"/>
                            <a:cs typeface="Tahoma" panose="020B0604030504040204" pitchFamily="34" charset="0"/>
                          </a:rPr>
                          <m:t>𝑐</m:t>
                        </m:r>
                      </m:sub>
                    </m:sSub>
                  </m:oMath>
                </a14:m>
                <a:r>
                  <a:rPr lang="en-US" sz="1600" dirty="0">
                    <a:latin typeface="Tahoma" panose="020B0604030504040204" pitchFamily="34" charset="0"/>
                    <a:ea typeface="Tahoma" panose="020B0604030504040204" pitchFamily="34" charset="0"/>
                    <a:cs typeface="Tahoma" panose="020B0604030504040204" pitchFamily="34" charset="0"/>
                  </a:rPr>
                  <a:t>] to a higher dimensional latent space through a </a:t>
                </a:r>
                <a14:m>
                  <m:oMath xmlns:m="http://schemas.openxmlformats.org/officeDocument/2006/math">
                    <m:r>
                      <a:rPr lang="en-US" sz="1600" i="1">
                        <a:latin typeface="Cambria Math" panose="02040503050406030204" pitchFamily="18" charset="0"/>
                        <a:ea typeface="Tahoma" panose="020B0604030504040204" pitchFamily="34" charset="0"/>
                        <a:cs typeface="Tahoma" panose="020B0604030504040204" pitchFamily="34" charset="0"/>
                      </a:rPr>
                      <m:t>1</m:t>
                    </m:r>
                    <m:r>
                      <a:rPr lang="en-US" sz="1600" i="1">
                        <a:latin typeface="Cambria Math" panose="02040503050406030204" pitchFamily="18" charset="0"/>
                        <a:ea typeface="Cambria Math" panose="02040503050406030204" pitchFamily="18" charset="0"/>
                        <a:cs typeface="Tahoma" panose="020B0604030504040204" pitchFamily="34" charset="0"/>
                      </a:rPr>
                      <m:t>×1×1</m:t>
                    </m:r>
                  </m:oMath>
                </a14:m>
                <a:r>
                  <a:rPr lang="en-US" sz="1600" dirty="0">
                    <a:latin typeface="Tahoma" panose="020B0604030504040204" pitchFamily="34" charset="0"/>
                    <a:ea typeface="Tahoma" panose="020B0604030504040204" pitchFamily="34" charset="0"/>
                    <a:cs typeface="Tahoma" panose="020B0604030504040204" pitchFamily="34" charset="0"/>
                  </a:rPr>
                  <a:t> convolution.</a:t>
                </a:r>
              </a:p>
              <a:p>
                <a:pPr marL="285750" indent="-285750">
                  <a:buFont typeface="Wingdings" pitchFamily="2" charset="2"/>
                  <a:buChar char="§"/>
                </a:pP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Fourier layers: </a:t>
                </a:r>
                <a:r>
                  <a:rPr lang="en-US" sz="1600" dirty="0">
                    <a:latin typeface="Tahoma" panose="020B0604030504040204" pitchFamily="34" charset="0"/>
                    <a:ea typeface="Tahoma" panose="020B0604030504040204" pitchFamily="34" charset="0"/>
                    <a:cs typeface="Tahoma" panose="020B0604030504040204" pitchFamily="34" charset="0"/>
                  </a:rPr>
                  <a:t>Applies the global spectral convolution alongside the local </a:t>
                </a:r>
                <a14:m>
                  <m:oMath xmlns:m="http://schemas.openxmlformats.org/officeDocument/2006/math">
                    <m:r>
                      <a:rPr lang="en-US" sz="1600" i="1">
                        <a:latin typeface="Cambria Math" panose="02040503050406030204" pitchFamily="18" charset="0"/>
                        <a:ea typeface="Tahoma" panose="020B0604030504040204" pitchFamily="34" charset="0"/>
                        <a:cs typeface="Tahoma" panose="020B0604030504040204" pitchFamily="34" charset="0"/>
                      </a:rPr>
                      <m:t>1</m:t>
                    </m:r>
                    <m:r>
                      <a:rPr lang="en-US" sz="1600" i="1">
                        <a:latin typeface="Cambria Math" panose="02040503050406030204" pitchFamily="18" charset="0"/>
                        <a:ea typeface="Cambria Math" panose="02040503050406030204" pitchFamily="18" charset="0"/>
                        <a:cs typeface="Tahoma" panose="020B0604030504040204" pitchFamily="34" charset="0"/>
                      </a:rPr>
                      <m:t>×1×1</m:t>
                    </m:r>
                  </m:oMath>
                </a14:m>
                <a:r>
                  <a:rPr lang="en-US" sz="1600" dirty="0">
                    <a:latin typeface="Tahoma" panose="020B0604030504040204" pitchFamily="34" charset="0"/>
                    <a:ea typeface="Tahoma" panose="020B0604030504040204" pitchFamily="34" charset="0"/>
                    <a:cs typeface="Tahoma" panose="020B0604030504040204" pitchFamily="34" charset="0"/>
                  </a:rPr>
                  <a:t> convolution, adds them, and passes through Gaussian error linear unit (GELU). </a:t>
                </a:r>
              </a:p>
              <a:p>
                <a:pPr marL="285750" indent="-285750">
                  <a:buFont typeface="Wingdings" pitchFamily="2" charset="2"/>
                  <a:buChar char="§"/>
                </a:pP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Projection: </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The local linear transformations project the high-dimensional latent features to the desired physical outputs.</a:t>
                </a:r>
                <a:endParaRPr lang="en-US"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p:sp>
            <p:nvSpPr>
              <p:cNvPr id="9" name="Rectangle 8">
                <a:extLst>
                  <a:ext uri="{FF2B5EF4-FFF2-40B4-BE49-F238E27FC236}">
                    <a16:creationId xmlns:a16="http://schemas.microsoft.com/office/drawing/2014/main" id="{D93C6F19-F943-AE9D-0658-00B1FE7FE359}"/>
                  </a:ext>
                </a:extLst>
              </p:cNvPr>
              <p:cNvSpPr>
                <a:spLocks noRot="1" noChangeAspect="1" noMove="1" noResize="1" noEditPoints="1" noAdjustHandles="1" noChangeArrowheads="1" noChangeShapeType="1" noTextEdit="1"/>
              </p:cNvSpPr>
              <p:nvPr/>
            </p:nvSpPr>
            <p:spPr>
              <a:xfrm>
                <a:off x="1060309" y="1566984"/>
                <a:ext cx="5614067" cy="4173312"/>
              </a:xfrm>
              <a:prstGeom prst="rect">
                <a:avLst/>
              </a:prstGeom>
              <a:blipFill>
                <a:blip r:embed="rId3"/>
                <a:stretch>
                  <a:fillRect l="-450" r="-450"/>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68E68BEB-616A-C080-3011-459F52054D87}"/>
                  </a:ext>
                </a:extLst>
              </p:cNvPr>
              <p:cNvSpPr/>
              <p:nvPr/>
            </p:nvSpPr>
            <p:spPr>
              <a:xfrm>
                <a:off x="7045205" y="2276863"/>
                <a:ext cx="4571182" cy="49453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Input (2, 128</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𝑆</m:t>
                        </m:r>
                      </m:e>
                      <m:sub>
                        <m:r>
                          <a:rPr lang="en-US" sz="1600" i="1" dirty="0">
                            <a:latin typeface="Cambria Math" panose="02040503050406030204" pitchFamily="18" charset="0"/>
                            <a:ea typeface="Tahoma" panose="020B0604030504040204" pitchFamily="34" charset="0"/>
                            <a:cs typeface="Tahoma" panose="020B0604030504040204" pitchFamily="34" charset="0"/>
                          </a:rPr>
                          <m:t>𝑒</m:t>
                        </m:r>
                      </m:sub>
                    </m:sSub>
                    <m:r>
                      <a:rPr lang="en-US" sz="1600" i="1" dirty="0">
                        <a:latin typeface="Cambria Math" panose="02040503050406030204" pitchFamily="18" charset="0"/>
                        <a:ea typeface="Tahoma" panose="020B0604030504040204" pitchFamily="34" charset="0"/>
                        <a:cs typeface="Tahoma" panose="020B0604030504040204" pitchFamily="34" charset="0"/>
                      </a:rPr>
                      <m:t> </m:t>
                    </m:r>
                  </m:oMath>
                </a14:m>
                <a:r>
                  <a:rPr lang="en-US" sz="1600" dirty="0">
                    <a:latin typeface="Tahoma" panose="020B0604030504040204" pitchFamily="34" charset="0"/>
                    <a:ea typeface="Tahoma" panose="020B0604030504040204" pitchFamily="34" charset="0"/>
                    <a:cs typeface="Tahoma" panose="020B0604030504040204" pitchFamily="34" charset="0"/>
                  </a:rPr>
                  <a:t>and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b="0" i="1" dirty="0" smtClean="0">
                            <a:latin typeface="Cambria Math" panose="02040503050406030204" pitchFamily="18" charset="0"/>
                            <a:ea typeface="Tahoma" panose="020B0604030504040204" pitchFamily="34" charset="0"/>
                            <a:cs typeface="Tahoma" panose="020B0604030504040204" pitchFamily="34" charset="0"/>
                          </a:rPr>
                          <m:t>𝑞</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𝑐</m:t>
                        </m:r>
                      </m:sub>
                    </m:sSub>
                  </m:oMath>
                </a14:m>
                <a:r>
                  <a:rPr lang="en-US" sz="1600" dirty="0"/>
                  <a:t>.</a:t>
                </a:r>
              </a:p>
            </p:txBody>
          </p:sp>
        </mc:Choice>
        <mc:Fallback xmlns="">
          <p:sp>
            <p:nvSpPr>
              <p:cNvPr id="13" name="Rounded Rectangle 12">
                <a:extLst>
                  <a:ext uri="{FF2B5EF4-FFF2-40B4-BE49-F238E27FC236}">
                    <a16:creationId xmlns:a16="http://schemas.microsoft.com/office/drawing/2014/main" id="{68E68BEB-616A-C080-3011-459F52054D87}"/>
                  </a:ext>
                </a:extLst>
              </p:cNvPr>
              <p:cNvSpPr>
                <a:spLocks noRot="1" noChangeAspect="1" noMove="1" noResize="1" noEditPoints="1" noAdjustHandles="1" noChangeArrowheads="1" noChangeShapeType="1" noTextEdit="1"/>
              </p:cNvSpPr>
              <p:nvPr/>
            </p:nvSpPr>
            <p:spPr>
              <a:xfrm>
                <a:off x="7045205" y="2276863"/>
                <a:ext cx="4571182" cy="494530"/>
              </a:xfrm>
              <a:prstGeom prst="round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ounded Rectangle 13">
                <a:extLst>
                  <a:ext uri="{FF2B5EF4-FFF2-40B4-BE49-F238E27FC236}">
                    <a16:creationId xmlns:a16="http://schemas.microsoft.com/office/drawing/2014/main" id="{E09917E2-6BBB-F39A-605A-EB99A2C974F9}"/>
                  </a:ext>
                </a:extLst>
              </p:cNvPr>
              <p:cNvSpPr/>
              <p:nvPr/>
            </p:nvSpPr>
            <p:spPr>
              <a:xfrm>
                <a:off x="7045205" y="2911021"/>
                <a:ext cx="4571182" cy="49453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Convolution of</a:t>
                </a:r>
                <a:r>
                  <a:rPr lang="en-US" sz="1600" dirty="0">
                    <a:ea typeface="Tahoma" panose="020B0604030504040204" pitchFamily="34" charset="0"/>
                    <a:cs typeface="Tahoma" panose="020B0604030504040204" pitchFamily="34" charset="0"/>
                  </a:rPr>
                  <a:t>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𝑆</m:t>
                        </m:r>
                      </m:e>
                      <m:sub>
                        <m:r>
                          <a:rPr lang="en-US" sz="1600" i="1" dirty="0">
                            <a:latin typeface="Cambria Math" panose="02040503050406030204" pitchFamily="18" charset="0"/>
                            <a:ea typeface="Tahoma" panose="020B0604030504040204" pitchFamily="34" charset="0"/>
                            <a:cs typeface="Tahoma" panose="020B0604030504040204" pitchFamily="34" charset="0"/>
                          </a:rPr>
                          <m:t>𝑒</m:t>
                        </m:r>
                      </m:sub>
                    </m:sSub>
                    <m:r>
                      <a:rPr lang="en-US" sz="1600" i="1" dirty="0">
                        <a:latin typeface="Cambria Math" panose="02040503050406030204" pitchFamily="18" charset="0"/>
                        <a:ea typeface="Tahoma" panose="020B0604030504040204" pitchFamily="34" charset="0"/>
                        <a:cs typeface="Tahoma" panose="020B0604030504040204" pitchFamily="34" charset="0"/>
                      </a:rPr>
                      <m:t> </m:t>
                    </m:r>
                  </m:oMath>
                </a14:m>
                <a:r>
                  <a:rPr lang="en-US" sz="1600" dirty="0">
                    <a:latin typeface="Tahoma" panose="020B0604030504040204" pitchFamily="34" charset="0"/>
                    <a:ea typeface="Tahoma" panose="020B0604030504040204" pitchFamily="34" charset="0"/>
                    <a:cs typeface="Tahoma" panose="020B0604030504040204" pitchFamily="34" charset="0"/>
                  </a:rPr>
                  <a:t>and </a:t>
                </a:r>
                <a14:m>
                  <m:oMath xmlns:m="http://schemas.openxmlformats.org/officeDocument/2006/math">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𝑞</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𝑐</m:t>
                        </m:r>
                      </m:sub>
                    </m:sSub>
                  </m:oMath>
                </a14:m>
                <a:r>
                  <a:rPr lang="en-US" sz="1600" dirty="0"/>
                  <a:t>.</a:t>
                </a:r>
                <a:endParaRPr lang="en-US" sz="1600" dirty="0">
                  <a:solidFill>
                    <a:schemeClr val="tx1"/>
                  </a:solidFill>
                </a:endParaRPr>
              </a:p>
            </p:txBody>
          </p:sp>
        </mc:Choice>
        <mc:Fallback xmlns="">
          <p:sp>
            <p:nvSpPr>
              <p:cNvPr id="14" name="Rounded Rectangle 13">
                <a:extLst>
                  <a:ext uri="{FF2B5EF4-FFF2-40B4-BE49-F238E27FC236}">
                    <a16:creationId xmlns:a16="http://schemas.microsoft.com/office/drawing/2014/main" id="{E09917E2-6BBB-F39A-605A-EB99A2C974F9}"/>
                  </a:ext>
                </a:extLst>
              </p:cNvPr>
              <p:cNvSpPr>
                <a:spLocks noRot="1" noChangeAspect="1" noMove="1" noResize="1" noEditPoints="1" noAdjustHandles="1" noChangeArrowheads="1" noChangeShapeType="1" noTextEdit="1"/>
              </p:cNvSpPr>
              <p:nvPr/>
            </p:nvSpPr>
            <p:spPr>
              <a:xfrm>
                <a:off x="7045205" y="2911021"/>
                <a:ext cx="4571182" cy="494530"/>
              </a:xfrm>
              <a:prstGeom prst="roundRect">
                <a:avLst/>
              </a:prstGeom>
              <a:blipFill>
                <a:blip r:embed="rId5"/>
                <a:stretch>
                  <a:fillRect/>
                </a:stretch>
              </a:blipFill>
            </p:spPr>
            <p:txBody>
              <a:bodyPr/>
              <a:lstStyle/>
              <a:p>
                <a:r>
                  <a:rPr lang="en-US">
                    <a:noFill/>
                  </a:rPr>
                  <a:t> </a:t>
                </a:r>
              </a:p>
            </p:txBody>
          </p:sp>
        </mc:Fallback>
      </mc:AlternateContent>
      <p:sp>
        <p:nvSpPr>
          <p:cNvPr id="15" name="Rounded Rectangle 14">
            <a:extLst>
              <a:ext uri="{FF2B5EF4-FFF2-40B4-BE49-F238E27FC236}">
                <a16:creationId xmlns:a16="http://schemas.microsoft.com/office/drawing/2014/main" id="{C231FA25-5F91-D612-C445-CC864AD8958D}"/>
              </a:ext>
            </a:extLst>
          </p:cNvPr>
          <p:cNvSpPr/>
          <p:nvPr/>
        </p:nvSpPr>
        <p:spPr>
          <a:xfrm>
            <a:off x="7045205" y="3526387"/>
            <a:ext cx="4571182" cy="49453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Spectral zero-padding. 128</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a:t>
            </a:r>
            <a:r>
              <a:rPr lang="en-US" sz="1600" dirty="0">
                <a:latin typeface="Tahoma" panose="020B0604030504040204" pitchFamily="34" charset="0"/>
                <a:ea typeface="Tahoma" panose="020B0604030504040204" pitchFamily="34" charset="0"/>
                <a:cs typeface="Tahoma" panose="020B0604030504040204" pitchFamily="34" charset="0"/>
                <a:sym typeface="Wingdings" pitchFamily="2" charset="2"/>
              </a:rPr>
              <a:t></a:t>
            </a:r>
            <a:r>
              <a:rPr lang="en-US" sz="1600" dirty="0">
                <a:latin typeface="Tahoma" panose="020B0604030504040204" pitchFamily="34" charset="0"/>
                <a:ea typeface="Tahoma" panose="020B0604030504040204" pitchFamily="34" charset="0"/>
                <a:cs typeface="Tahoma" panose="020B0604030504040204" pitchFamily="34" charset="0"/>
              </a:rPr>
              <a:t> 192</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a:t>
            </a:r>
            <a:endParaRPr lang="en-US" sz="1600" dirty="0"/>
          </a:p>
        </p:txBody>
      </p:sp>
      <p:sp>
        <p:nvSpPr>
          <p:cNvPr id="16" name="Rounded Rectangle 15">
            <a:extLst>
              <a:ext uri="{FF2B5EF4-FFF2-40B4-BE49-F238E27FC236}">
                <a16:creationId xmlns:a16="http://schemas.microsoft.com/office/drawing/2014/main" id="{B8A24939-8A62-08FE-F6AD-2AB4234997CE}"/>
              </a:ext>
            </a:extLst>
          </p:cNvPr>
          <p:cNvSpPr/>
          <p:nvPr/>
        </p:nvSpPr>
        <p:spPr>
          <a:xfrm>
            <a:off x="7045205" y="4150556"/>
            <a:ext cx="4571182" cy="49453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Lifting layer. Fourier layers.</a:t>
            </a:r>
            <a:endParaRPr lang="en-US" sz="1600" dirty="0">
              <a:solidFill>
                <a:srgbClr val="C00000"/>
              </a:solidFill>
            </a:endParaRPr>
          </a:p>
        </p:txBody>
      </p:sp>
      <p:sp>
        <p:nvSpPr>
          <p:cNvPr id="17" name="Rounded Rectangle 16">
            <a:extLst>
              <a:ext uri="{FF2B5EF4-FFF2-40B4-BE49-F238E27FC236}">
                <a16:creationId xmlns:a16="http://schemas.microsoft.com/office/drawing/2014/main" id="{51412D13-90C5-9243-AC9A-AAEBA8700961}"/>
              </a:ext>
            </a:extLst>
          </p:cNvPr>
          <p:cNvSpPr/>
          <p:nvPr/>
        </p:nvSpPr>
        <p:spPr>
          <a:xfrm>
            <a:off x="7053969" y="4778501"/>
            <a:ext cx="4571182" cy="49453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Projection.</a:t>
            </a:r>
            <a:endParaRPr lang="en-US" sz="1600" dirty="0">
              <a:solidFill>
                <a:srgbClr val="C00000"/>
              </a:solidFill>
            </a:endParaRPr>
          </a:p>
        </p:txBody>
      </p:sp>
      <mc:AlternateContent xmlns:mc="http://schemas.openxmlformats.org/markup-compatibility/2006" xmlns:a14="http://schemas.microsoft.com/office/drawing/2010/main">
        <mc:Choice Requires="a14">
          <p:sp>
            <p:nvSpPr>
              <p:cNvPr id="18" name="Rounded Rectangle 17">
                <a:extLst>
                  <a:ext uri="{FF2B5EF4-FFF2-40B4-BE49-F238E27FC236}">
                    <a16:creationId xmlns:a16="http://schemas.microsoft.com/office/drawing/2014/main" id="{FAC93DB0-BC6E-5098-1246-A030EBAD1E80}"/>
                  </a:ext>
                </a:extLst>
              </p:cNvPr>
              <p:cNvSpPr/>
              <p:nvPr/>
            </p:nvSpPr>
            <p:spPr>
              <a:xfrm>
                <a:off x="7053969" y="5407903"/>
                <a:ext cx="4571182" cy="49453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Output (2, 192</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1600" i="1" dirty="0">
                            <a:latin typeface="Cambria Math" panose="02040503050406030204" pitchFamily="18" charset="0"/>
                            <a:ea typeface="Tahoma" panose="020B0604030504040204" pitchFamily="34" charset="0"/>
                            <a:cs typeface="Tahoma" panose="020B0604030504040204" pitchFamily="34" charset="0"/>
                          </a:rPr>
                        </m:ctrlPr>
                      </m:dPr>
                      <m:e>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i="1" dirty="0">
                                <a:latin typeface="Cambria Math" panose="02040503050406030204" pitchFamily="18" charset="0"/>
                                <a:ea typeface="Tahoma" panose="020B0604030504040204" pitchFamily="34" charset="0"/>
                                <a:cs typeface="Tahoma" panose="020B0604030504040204" pitchFamily="34" charset="0"/>
                              </a:rPr>
                              <m:t>𝑆</m:t>
                            </m:r>
                          </m:e>
                          <m:sub>
                            <m:r>
                              <a:rPr lang="en-US" sz="1600" i="1" dirty="0">
                                <a:latin typeface="Cambria Math" panose="02040503050406030204" pitchFamily="18" charset="0"/>
                                <a:ea typeface="Tahoma" panose="020B0604030504040204" pitchFamily="34" charset="0"/>
                                <a:cs typeface="Tahoma" panose="020B0604030504040204" pitchFamily="34" charset="0"/>
                              </a:rPr>
                              <m:t>𝑒</m:t>
                            </m:r>
                          </m:sub>
                        </m:sSub>
                      </m:e>
                    </m:d>
                  </m:oMath>
                </a14:m>
                <a:r>
                  <a:rPr lang="en-US" sz="1600" dirty="0">
                    <a:latin typeface="Tahoma" panose="020B0604030504040204" pitchFamily="34" charset="0"/>
                    <a:ea typeface="Tahoma" panose="020B0604030504040204" pitchFamily="34" charset="0"/>
                    <a:cs typeface="Tahoma" panose="020B0604030504040204" pitchFamily="34" charset="0"/>
                  </a:rPr>
                  <a:t> and </a:t>
                </a:r>
                <a14:m>
                  <m:oMath xmlns:m="http://schemas.openxmlformats.org/officeDocument/2006/math">
                    <m:d>
                      <m:dPr>
                        <m:begChr m:val="⟨"/>
                        <m:endChr m:val="⟩"/>
                        <m:ctrlPr>
                          <a:rPr lang="en-US" sz="1600" i="1" dirty="0">
                            <a:latin typeface="Cambria Math" panose="02040503050406030204" pitchFamily="18" charset="0"/>
                            <a:ea typeface="Tahoma" panose="020B0604030504040204" pitchFamily="34" charset="0"/>
                            <a:cs typeface="Tahoma" panose="020B0604030504040204" pitchFamily="34" charset="0"/>
                          </a:rPr>
                        </m:ctrlPr>
                      </m:dPr>
                      <m:e>
                        <m:sSub>
                          <m:sSubPr>
                            <m:ctrlPr>
                              <a:rPr lang="en-US" sz="1600" i="1" dirty="0">
                                <a:latin typeface="Cambria Math" panose="02040503050406030204" pitchFamily="18" charset="0"/>
                                <a:ea typeface="Tahoma" panose="020B0604030504040204" pitchFamily="34" charset="0"/>
                                <a:cs typeface="Tahoma" panose="020B0604030504040204" pitchFamily="34" charset="0"/>
                              </a:rPr>
                            </m:ctrlPr>
                          </m:sSubPr>
                          <m:e>
                            <m:r>
                              <a:rPr lang="en-US" sz="1600" b="0" i="1" dirty="0" smtClean="0">
                                <a:latin typeface="Cambria Math" panose="02040503050406030204" pitchFamily="18" charset="0"/>
                                <a:ea typeface="Tahoma" panose="020B0604030504040204" pitchFamily="34" charset="0"/>
                                <a:cs typeface="Tahoma" panose="020B0604030504040204" pitchFamily="34" charset="0"/>
                              </a:rPr>
                              <m:t>𝑞</m:t>
                            </m:r>
                          </m:e>
                          <m:sub>
                            <m:r>
                              <a:rPr lang="en-US" sz="1600" b="0" i="1" dirty="0" smtClean="0">
                                <a:latin typeface="Cambria Math" panose="02040503050406030204" pitchFamily="18" charset="0"/>
                                <a:ea typeface="Tahoma" panose="020B0604030504040204" pitchFamily="34" charset="0"/>
                                <a:cs typeface="Tahoma" panose="020B0604030504040204" pitchFamily="34" charset="0"/>
                              </a:rPr>
                              <m:t>𝑐</m:t>
                            </m:r>
                          </m:sub>
                        </m:sSub>
                      </m:e>
                    </m:d>
                  </m:oMath>
                </a14:m>
                <a:r>
                  <a:rPr lang="en-US" sz="1600"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8" name="Rounded Rectangle 17">
                <a:extLst>
                  <a:ext uri="{FF2B5EF4-FFF2-40B4-BE49-F238E27FC236}">
                    <a16:creationId xmlns:a16="http://schemas.microsoft.com/office/drawing/2014/main" id="{FAC93DB0-BC6E-5098-1246-A030EBAD1E80}"/>
                  </a:ext>
                </a:extLst>
              </p:cNvPr>
              <p:cNvSpPr>
                <a:spLocks noRot="1" noChangeAspect="1" noMove="1" noResize="1" noEditPoints="1" noAdjustHandles="1" noChangeArrowheads="1" noChangeShapeType="1" noTextEdit="1"/>
              </p:cNvSpPr>
              <p:nvPr/>
            </p:nvSpPr>
            <p:spPr>
              <a:xfrm>
                <a:off x="7053969" y="5407903"/>
                <a:ext cx="4571182" cy="494530"/>
              </a:xfrm>
              <a:prstGeom prst="roundRect">
                <a:avLst/>
              </a:prstGeom>
              <a:blipFill>
                <a:blip r:embed="rId6"/>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BE3868AD-B0EA-D6EA-CBC5-16E789E2222D}"/>
              </a:ext>
            </a:extLst>
          </p:cNvPr>
          <p:cNvCxnSpPr>
            <a:cxnSpLocks/>
          </p:cNvCxnSpPr>
          <p:nvPr/>
        </p:nvCxnSpPr>
        <p:spPr>
          <a:xfrm>
            <a:off x="9259300" y="2771393"/>
            <a:ext cx="0" cy="139628"/>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ABB9DD72-24CA-BF44-2DE8-49AEE10FD209}"/>
              </a:ext>
            </a:extLst>
          </p:cNvPr>
          <p:cNvCxnSpPr>
            <a:cxnSpLocks/>
          </p:cNvCxnSpPr>
          <p:nvPr/>
        </p:nvCxnSpPr>
        <p:spPr>
          <a:xfrm>
            <a:off x="9259300" y="3386759"/>
            <a:ext cx="0" cy="139628"/>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0E524878-E02A-A243-B319-FFEE3FC9DB11}"/>
              </a:ext>
            </a:extLst>
          </p:cNvPr>
          <p:cNvCxnSpPr>
            <a:cxnSpLocks/>
          </p:cNvCxnSpPr>
          <p:nvPr/>
        </p:nvCxnSpPr>
        <p:spPr>
          <a:xfrm>
            <a:off x="9248704" y="4010928"/>
            <a:ext cx="0" cy="139628"/>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9F6CB927-70BD-EBE6-C09A-20C65BE30A3A}"/>
              </a:ext>
            </a:extLst>
          </p:cNvPr>
          <p:cNvCxnSpPr>
            <a:cxnSpLocks/>
          </p:cNvCxnSpPr>
          <p:nvPr/>
        </p:nvCxnSpPr>
        <p:spPr>
          <a:xfrm>
            <a:off x="9259300" y="4645086"/>
            <a:ext cx="0" cy="139628"/>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613B3142-6454-E00B-4A42-5997B50E1E4D}"/>
              </a:ext>
            </a:extLst>
          </p:cNvPr>
          <p:cNvCxnSpPr>
            <a:cxnSpLocks/>
          </p:cNvCxnSpPr>
          <p:nvPr/>
        </p:nvCxnSpPr>
        <p:spPr>
          <a:xfrm>
            <a:off x="9259300" y="5268275"/>
            <a:ext cx="0" cy="139628"/>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62024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C8C8E-CB5F-C7C3-99CB-FAE4F7A5B1C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F0619E4-E1FB-DCF2-D712-A727D30B061B}"/>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AEBE3C9-3283-8D7F-0034-701F78469182}"/>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02BAF69-308F-8D6F-12BF-297E54AEA9C7}"/>
              </a:ext>
            </a:extLst>
          </p:cNvPr>
          <p:cNvSpPr/>
          <p:nvPr/>
        </p:nvSpPr>
        <p:spPr>
          <a:xfrm>
            <a:off x="628164" y="1229324"/>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5C94BC2-CCF8-7E59-DB45-EFCEC4770861}"/>
              </a:ext>
            </a:extLst>
          </p:cNvPr>
          <p:cNvSpPr/>
          <p:nvPr/>
        </p:nvSpPr>
        <p:spPr>
          <a:xfrm>
            <a:off x="680716" y="1325231"/>
            <a:ext cx="11458732" cy="4562581"/>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16E292C8-D55D-00E4-2F45-D9ECBD19D326}"/>
              </a:ext>
            </a:extLst>
          </p:cNvPr>
          <p:cNvSpPr txBox="1"/>
          <p:nvPr/>
        </p:nvSpPr>
        <p:spPr>
          <a:xfrm>
            <a:off x="838411" y="525906"/>
            <a:ext cx="7025375"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FNO Architecture : Spectral Convolution</a:t>
            </a:r>
          </a:p>
        </p:txBody>
      </p:sp>
      <p:sp>
        <p:nvSpPr>
          <p:cNvPr id="10" name="Content Placeholder 2">
            <a:extLst>
              <a:ext uri="{FF2B5EF4-FFF2-40B4-BE49-F238E27FC236}">
                <a16:creationId xmlns:a16="http://schemas.microsoft.com/office/drawing/2014/main" id="{4EECBED6-492A-1694-2EA4-A6B2954B7A3F}"/>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4004D5BC-D641-2D88-77FC-C7BC1073495A}"/>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D7468CBF-2DBA-56D3-96D9-D61717EE7D4A}"/>
              </a:ext>
            </a:extLst>
          </p:cNvPr>
          <p:cNvSpPr/>
          <p:nvPr/>
        </p:nvSpPr>
        <p:spPr>
          <a:xfrm>
            <a:off x="680716" y="5887812"/>
            <a:ext cx="11458732" cy="970188"/>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E841BB-090D-D243-478B-EC4E343E197C}"/>
              </a:ext>
            </a:extLst>
          </p:cNvPr>
          <p:cNvSpPr/>
          <p:nvPr/>
        </p:nvSpPr>
        <p:spPr>
          <a:xfrm>
            <a:off x="1563755" y="1848002"/>
            <a:ext cx="9183757" cy="2609546"/>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1) </a:t>
            </a:r>
            <a:r>
              <a:rPr lang="en-US" sz="1600" dirty="0">
                <a:latin typeface="Tahoma" panose="020B0604030504040204" pitchFamily="34" charset="0"/>
                <a:ea typeface="Tahoma" panose="020B0604030504040204" pitchFamily="34" charset="0"/>
                <a:cs typeface="Tahoma" panose="020B0604030504040204" pitchFamily="34" charset="0"/>
              </a:rPr>
              <a:t>Fast Fourier transform (FFT) of input data over 3 dimensions. The data is transformed from physical space to frequency space.  </a:t>
            </a:r>
          </a:p>
          <a:p>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2) </a:t>
            </a:r>
            <a:r>
              <a:rPr lang="en-US" sz="1600" dirty="0">
                <a:latin typeface="Tahoma" panose="020B0604030504040204" pitchFamily="34" charset="0"/>
                <a:ea typeface="Tahoma" panose="020B0604030504040204" pitchFamily="34" charset="0"/>
                <a:cs typeface="Tahoma" panose="020B0604030504040204" pitchFamily="34" charset="0"/>
              </a:rPr>
              <a:t>Keep only the 6</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lowest frequency modes and truncate the high frequency modes. The frequency domain has a conjugate symmetry. Because half of the data is mathematically redundant, only 4 of the 8 3D quadrants (octants) are need to capture the full picture.</a:t>
            </a:r>
          </a:p>
          <a:p>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3) </a:t>
            </a:r>
            <a:r>
              <a:rPr lang="en-US" sz="1600" dirty="0">
                <a:latin typeface="Tahoma" panose="020B0604030504040204" pitchFamily="34" charset="0"/>
                <a:ea typeface="Tahoma" panose="020B0604030504040204" pitchFamily="34" charset="0"/>
                <a:cs typeface="Tahoma" panose="020B0604030504040204" pitchFamily="34" charset="0"/>
              </a:rPr>
              <a:t>The network applies a linear transformation (a weight matrix) directly to these low frequency modes. </a:t>
            </a:r>
          </a:p>
          <a:p>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4) </a:t>
            </a:r>
            <a:r>
              <a:rPr lang="en-US" sz="1600" dirty="0">
                <a:latin typeface="Tahoma" panose="020B0604030504040204" pitchFamily="34" charset="0"/>
                <a:ea typeface="Tahoma" panose="020B0604030504040204" pitchFamily="34" charset="0"/>
                <a:cs typeface="Tahoma" panose="020B0604030504040204" pitchFamily="34" charset="0"/>
              </a:rPr>
              <a:t>Once the frequency data is updated by the learned weights, an inverse FFT is applied to get data in 3D physical space.</a:t>
            </a:r>
          </a:p>
        </p:txBody>
      </p:sp>
      <mc:AlternateContent xmlns:mc="http://schemas.openxmlformats.org/markup-compatibility/2006">
        <mc:Choice xmlns:a14="http://schemas.microsoft.com/office/drawing/2010/main" Requires="a14">
          <p:sp>
            <p:nvSpPr>
              <p:cNvPr id="15" name="Rectangle 14">
                <a:extLst>
                  <a:ext uri="{FF2B5EF4-FFF2-40B4-BE49-F238E27FC236}">
                    <a16:creationId xmlns:a16="http://schemas.microsoft.com/office/drawing/2014/main" id="{3D38B815-0191-60B5-B1D1-9CF1B984DEC1}"/>
                  </a:ext>
                </a:extLst>
              </p:cNvPr>
              <p:cNvSpPr/>
              <p:nvPr/>
            </p:nvSpPr>
            <p:spPr>
              <a:xfrm>
                <a:off x="1563755" y="4680591"/>
                <a:ext cx="9183757" cy="755093"/>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Weights per octant: </a:t>
                </a:r>
                <a:r>
                  <a:rPr lang="en-US" sz="1600" dirty="0">
                    <a:latin typeface="Tahoma" panose="020B0604030504040204" pitchFamily="34" charset="0"/>
                    <a:ea typeface="Tahoma" panose="020B0604030504040204" pitchFamily="34" charset="0"/>
                    <a:cs typeface="Tahoma" panose="020B0604030504040204" pitchFamily="34" charset="0"/>
                  </a:rPr>
                  <a:t>4 octants </a:t>
                </a:r>
                <a14:m>
                  <m:oMath xmlns:m="http://schemas.openxmlformats.org/officeDocument/2006/math">
                    <m:r>
                      <a:rPr lang="en-US" sz="1600" i="1">
                        <a:latin typeface="Cambria Math" panose="02040503050406030204" pitchFamily="18" charset="0"/>
                        <a:ea typeface="Cambria Math" panose="02040503050406030204" pitchFamily="18" charset="0"/>
                        <a:cs typeface="Tahoma" panose="020B0604030504040204" pitchFamily="34" charset="0"/>
                      </a:rPr>
                      <m:t>×</m:t>
                    </m:r>
                  </m:oMath>
                </a14:m>
                <a:r>
                  <a:rPr lang="en-US" sz="1600" dirty="0">
                    <a:latin typeface="Tahoma" panose="020B0604030504040204" pitchFamily="34" charset="0"/>
                    <a:ea typeface="Tahoma" panose="020B0604030504040204" pitchFamily="34" charset="0"/>
                    <a:cs typeface="Tahoma" panose="020B0604030504040204" pitchFamily="34" charset="0"/>
                  </a:rPr>
                  <a:t> 2 layers </a:t>
                </a:r>
                <a14:m>
                  <m:oMath xmlns:m="http://schemas.openxmlformats.org/officeDocument/2006/math">
                    <m:r>
                      <a:rPr lang="en-US" sz="1600" i="1">
                        <a:latin typeface="Cambria Math" panose="02040503050406030204" pitchFamily="18" charset="0"/>
                        <a:ea typeface="Cambria Math" panose="02040503050406030204" pitchFamily="18" charset="0"/>
                        <a:cs typeface="Tahoma" panose="020B0604030504040204" pitchFamily="34" charset="0"/>
                      </a:rPr>
                      <m:t>×</m:t>
                    </m:r>
                  </m:oMath>
                </a14:m>
                <a:r>
                  <a:rPr lang="en-US" sz="16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1600" i="1">
                        <a:latin typeface="Cambria Math" panose="02040503050406030204" pitchFamily="18" charset="0"/>
                        <a:ea typeface="Tahoma" panose="020B0604030504040204" pitchFamily="34" charset="0"/>
                        <a:cs typeface="Tahoma" panose="020B0604030504040204" pitchFamily="34" charset="0"/>
                      </a:rPr>
                      <m:t>4</m:t>
                    </m:r>
                    <m:r>
                      <a:rPr lang="en-US" sz="1600" i="1">
                        <a:latin typeface="Cambria Math" panose="02040503050406030204" pitchFamily="18" charset="0"/>
                        <a:ea typeface="Cambria Math" panose="02040503050406030204" pitchFamily="18" charset="0"/>
                        <a:cs typeface="Tahoma" panose="020B0604030504040204" pitchFamily="34" charset="0"/>
                      </a:rPr>
                      <m:t>×4×6×6×6×2</m:t>
                    </m:r>
                  </m:oMath>
                </a14:m>
                <a:r>
                  <a:rPr lang="en-US" sz="1600" dirty="0">
                    <a:latin typeface="Tahoma" panose="020B0604030504040204" pitchFamily="34" charset="0"/>
                    <a:ea typeface="Tahoma" panose="020B0604030504040204" pitchFamily="34" charset="0"/>
                    <a:cs typeface="Tahoma" panose="020B0604030504040204" pitchFamily="34" charset="0"/>
                  </a:rPr>
                  <a:t>) = 55296 spectral weights. Inside the parenthesis, 4 </a:t>
                </a:r>
                <a:r>
                  <a:rPr lang="en-US" sz="1600" dirty="0">
                    <a:latin typeface="Tahoma" panose="020B0604030504040204" pitchFamily="34" charset="0"/>
                    <a:ea typeface="Tahoma" panose="020B0604030504040204" pitchFamily="34" charset="0"/>
                    <a:cs typeface="Tahoma" panose="020B0604030504040204" pitchFamily="34" charset="0"/>
                    <a:sym typeface="Wingdings" pitchFamily="2" charset="2"/>
                  </a:rPr>
                  <a:t> input channels, </a:t>
                </a:r>
                <a:r>
                  <a:rPr lang="en-US" sz="1600" dirty="0">
                    <a:latin typeface="Tahoma" panose="020B0604030504040204" pitchFamily="34" charset="0"/>
                    <a:ea typeface="Tahoma" panose="020B0604030504040204" pitchFamily="34" charset="0"/>
                    <a:cs typeface="Tahoma" panose="020B0604030504040204" pitchFamily="34" charset="0"/>
                  </a:rPr>
                  <a:t>4 </a:t>
                </a:r>
                <a:r>
                  <a:rPr lang="en-US" sz="1600" dirty="0">
                    <a:latin typeface="Tahoma" panose="020B0604030504040204" pitchFamily="34" charset="0"/>
                    <a:ea typeface="Tahoma" panose="020B0604030504040204" pitchFamily="34" charset="0"/>
                    <a:cs typeface="Tahoma" panose="020B0604030504040204" pitchFamily="34" charset="0"/>
                    <a:sym typeface="Wingdings" pitchFamily="2" charset="2"/>
                  </a:rPr>
                  <a:t> output channels, </a:t>
                </a:r>
                <a:r>
                  <a:rPr lang="en-US" sz="1600" dirty="0">
                    <a:latin typeface="Tahoma" panose="020B0604030504040204" pitchFamily="34" charset="0"/>
                    <a:ea typeface="Tahoma" panose="020B0604030504040204" pitchFamily="34" charset="0"/>
                    <a:cs typeface="Tahoma" panose="020B0604030504040204" pitchFamily="34" charset="0"/>
                  </a:rPr>
                  <a:t>6</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a:t>
                </a:r>
                <a:r>
                  <a:rPr lang="en-US" sz="1600" dirty="0">
                    <a:latin typeface="Tahoma" panose="020B0604030504040204" pitchFamily="34" charset="0"/>
                    <a:ea typeface="Tahoma" panose="020B0604030504040204" pitchFamily="34" charset="0"/>
                    <a:cs typeface="Tahoma" panose="020B0604030504040204" pitchFamily="34" charset="0"/>
                    <a:sym typeface="Wingdings" pitchFamily="2" charset="2"/>
                  </a:rPr>
                  <a:t> modes, 2  </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sym typeface="Wingdings" pitchFamily="2" charset="2"/>
                  </a:rPr>
                  <a:t>complex number.</a:t>
                </a:r>
                <a:endParaRPr lang="en-US" sz="16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p:sp>
            <p:nvSpPr>
              <p:cNvPr id="15" name="Rectangle 14">
                <a:extLst>
                  <a:ext uri="{FF2B5EF4-FFF2-40B4-BE49-F238E27FC236}">
                    <a16:creationId xmlns:a16="http://schemas.microsoft.com/office/drawing/2014/main" id="{3D38B815-0191-60B5-B1D1-9CF1B984DEC1}"/>
                  </a:ext>
                </a:extLst>
              </p:cNvPr>
              <p:cNvSpPr>
                <a:spLocks noRot="1" noChangeAspect="1" noMove="1" noResize="1" noEditPoints="1" noAdjustHandles="1" noChangeArrowheads="1" noChangeShapeType="1" noTextEdit="1"/>
              </p:cNvSpPr>
              <p:nvPr/>
            </p:nvSpPr>
            <p:spPr>
              <a:xfrm>
                <a:off x="1563755" y="4680591"/>
                <a:ext cx="9183757" cy="755093"/>
              </a:xfrm>
              <a:prstGeom prst="rect">
                <a:avLst/>
              </a:prstGeom>
              <a:blipFill>
                <a:blip r:embed="rId3"/>
                <a:stretch>
                  <a:fillRect l="-275"/>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787081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3960D-E44E-B0B6-B2AE-32175D443AE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26197E-1CB5-0CBF-6DDD-1792C3B3026B}"/>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DB3BC41-F543-2EC3-1229-22FF38AC1601}"/>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FB3F995-0B66-3E65-F9A6-EDDA093AB1F9}"/>
              </a:ext>
            </a:extLst>
          </p:cNvPr>
          <p:cNvSpPr/>
          <p:nvPr/>
        </p:nvSpPr>
        <p:spPr>
          <a:xfrm>
            <a:off x="628164" y="1229324"/>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011713C-42F6-9744-876E-9155724FD969}"/>
              </a:ext>
            </a:extLst>
          </p:cNvPr>
          <p:cNvSpPr/>
          <p:nvPr/>
        </p:nvSpPr>
        <p:spPr>
          <a:xfrm>
            <a:off x="680716" y="1325231"/>
            <a:ext cx="11458732" cy="4868625"/>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18BD961D-5E0C-474C-28DF-8470CA1815B4}"/>
              </a:ext>
            </a:extLst>
          </p:cNvPr>
          <p:cNvSpPr txBox="1"/>
          <p:nvPr/>
        </p:nvSpPr>
        <p:spPr>
          <a:xfrm>
            <a:off x="838413" y="525906"/>
            <a:ext cx="3283014"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SI Architecture</a:t>
            </a:r>
          </a:p>
        </p:txBody>
      </p:sp>
      <p:sp>
        <p:nvSpPr>
          <p:cNvPr id="10" name="Content Placeholder 2">
            <a:extLst>
              <a:ext uri="{FF2B5EF4-FFF2-40B4-BE49-F238E27FC236}">
                <a16:creationId xmlns:a16="http://schemas.microsoft.com/office/drawing/2014/main" id="{276CE609-6760-EF28-D761-5D68F910EF17}"/>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C1FC338C-46D6-44E4-40C2-72836D120EEA}"/>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E37E06E9-57AB-DE94-097F-845736D06A42}"/>
              </a:ext>
            </a:extLst>
          </p:cNvPr>
          <p:cNvSpPr/>
          <p:nvPr/>
        </p:nvSpPr>
        <p:spPr>
          <a:xfrm>
            <a:off x="680716" y="6193856"/>
            <a:ext cx="11458732" cy="664144"/>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2569D679-C870-1369-7AFB-EB04D4971CB5}"/>
              </a:ext>
            </a:extLst>
          </p:cNvPr>
          <p:cNvSpPr/>
          <p:nvPr/>
        </p:nvSpPr>
        <p:spPr>
          <a:xfrm>
            <a:off x="7045205" y="1576038"/>
            <a:ext cx="4571182" cy="494530"/>
          </a:xfrm>
          <a:prstGeom prst="roundRect">
            <a:avLst/>
          </a:prstGeom>
          <a:solidFill>
            <a:srgbClr val="2B628C"/>
          </a:solidFill>
          <a:ln>
            <a:solidFill>
              <a:srgbClr val="2B628C"/>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solidFill>
                  <a:schemeClr val="bg1"/>
                </a:solidFill>
                <a:latin typeface="Tahoma" panose="020B0604030504040204" pitchFamily="34" charset="0"/>
                <a:ea typeface="Tahoma" panose="020B0604030504040204" pitchFamily="34" charset="0"/>
                <a:cs typeface="Tahoma" panose="020B0604030504040204" pitchFamily="34" charset="0"/>
              </a:rPr>
              <a:t>Flow Matching</a:t>
            </a:r>
            <a:endParaRPr lang="en-US" sz="1600" b="1" dirty="0">
              <a:solidFill>
                <a:schemeClr val="bg1"/>
              </a:solidFill>
            </a:endParaRP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60DC5988-C67D-B4DA-BFF9-F5625D74108B}"/>
                  </a:ext>
                </a:extLst>
              </p:cNvPr>
              <p:cNvSpPr/>
              <p:nvPr/>
            </p:nvSpPr>
            <p:spPr>
              <a:xfrm>
                <a:off x="1060309" y="1566984"/>
                <a:ext cx="5614067" cy="4173312"/>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Wingdings" pitchFamily="2" charset="2"/>
                  <a:buChar char="§"/>
                </a:pP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The start: </a:t>
                </a:r>
                <a:r>
                  <a:rPr lang="en-US" sz="1600" dirty="0">
                    <a:latin typeface="Tahoma" panose="020B0604030504040204" pitchFamily="34" charset="0"/>
                    <a:ea typeface="Tahoma" panose="020B0604030504040204" pitchFamily="34" charset="0"/>
                    <a:cs typeface="Tahoma" panose="020B0604030504040204" pitchFamily="34" charset="0"/>
                  </a:rPr>
                  <a:t>A small amount of noise (noise_scale*z) is added to the FNO-predicted mean to get the starting point </a:t>
                </a:r>
                <a14:m>
                  <m:oMath xmlns:m="http://schemas.openxmlformats.org/officeDocument/2006/math">
                    <m:sSub>
                      <m:sSubPr>
                        <m:ctrlPr>
                          <a:rPr lang="en-US" sz="1600" i="1" smtClean="0">
                            <a:latin typeface="Cambria Math" panose="02040503050406030204" pitchFamily="18" charset="0"/>
                            <a:ea typeface="Tahoma" panose="020B0604030504040204" pitchFamily="34" charset="0"/>
                            <a:cs typeface="Tahoma" panose="020B0604030504040204" pitchFamily="34" charset="0"/>
                          </a:rPr>
                        </m:ctrlPr>
                      </m:sSubPr>
                      <m:e>
                        <m:r>
                          <a:rPr lang="en-US" sz="1600" b="0" i="1" smtClean="0">
                            <a:latin typeface="Cambria Math" panose="02040503050406030204" pitchFamily="18" charset="0"/>
                            <a:ea typeface="Tahoma" panose="020B0604030504040204" pitchFamily="34" charset="0"/>
                            <a:cs typeface="Tahoma" panose="020B0604030504040204" pitchFamily="34" charset="0"/>
                          </a:rPr>
                          <m:t>𝑥</m:t>
                        </m:r>
                      </m:e>
                      <m:sub>
                        <m:r>
                          <a:rPr lang="en-US" sz="1600" b="0" i="1" smtClean="0">
                            <a:latin typeface="Cambria Math" panose="02040503050406030204" pitchFamily="18" charset="0"/>
                            <a:ea typeface="Tahoma" panose="020B0604030504040204" pitchFamily="34" charset="0"/>
                            <a:cs typeface="Tahoma" panose="020B0604030504040204" pitchFamily="34" charset="0"/>
                          </a:rPr>
                          <m:t>0</m:t>
                        </m:r>
                      </m:sub>
                    </m:sSub>
                  </m:oMath>
                </a14:m>
                <a:r>
                  <a:rPr lang="en-US" sz="1600" dirty="0">
                    <a:latin typeface="Tahoma" panose="020B0604030504040204" pitchFamily="34" charset="0"/>
                    <a:ea typeface="Tahoma" panose="020B0604030504040204" pitchFamily="34" charset="0"/>
                    <a:cs typeface="Tahoma" panose="020B0604030504040204" pitchFamily="34" charset="0"/>
                  </a:rPr>
                  <a:t>.</a:t>
                </a:r>
              </a:p>
              <a:p>
                <a:pPr marL="285750" indent="-285750">
                  <a:buFont typeface="Wingdings" pitchFamily="2" charset="2"/>
                  <a:buChar char="§"/>
                </a:pP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The target: </a:t>
                </a:r>
                <a:r>
                  <a:rPr lang="en-US" sz="1600" dirty="0">
                    <a:latin typeface="Tahoma" panose="020B0604030504040204" pitchFamily="34" charset="0"/>
                    <a:ea typeface="Tahoma" panose="020B0604030504040204" pitchFamily="34" charset="0"/>
                    <a:cs typeface="Tahoma" panose="020B0604030504040204" pitchFamily="34" charset="0"/>
                  </a:rPr>
                  <a:t>The actual high-resolution ground truth data is the target </a:t>
                </a:r>
                <a14:m>
                  <m:oMath xmlns:m="http://schemas.openxmlformats.org/officeDocument/2006/math">
                    <m:sSub>
                      <m:sSubPr>
                        <m:ctrlPr>
                          <a:rPr lang="en-US" sz="1600" i="1">
                            <a:latin typeface="Cambria Math" panose="02040503050406030204" pitchFamily="18" charset="0"/>
                            <a:ea typeface="Tahoma" panose="020B0604030504040204" pitchFamily="34" charset="0"/>
                            <a:cs typeface="Tahoma" panose="020B0604030504040204" pitchFamily="34" charset="0"/>
                          </a:rPr>
                        </m:ctrlPr>
                      </m:sSubPr>
                      <m:e>
                        <m:r>
                          <a:rPr lang="en-US" sz="1600" i="1">
                            <a:latin typeface="Cambria Math" panose="02040503050406030204" pitchFamily="18" charset="0"/>
                            <a:ea typeface="Tahoma" panose="020B0604030504040204" pitchFamily="34" charset="0"/>
                            <a:cs typeface="Tahoma" panose="020B0604030504040204" pitchFamily="34" charset="0"/>
                          </a:rPr>
                          <m:t>𝑥</m:t>
                        </m:r>
                      </m:e>
                      <m:sub>
                        <m:r>
                          <a:rPr lang="en-US" sz="1600" b="0" i="1" smtClean="0">
                            <a:latin typeface="Cambria Math" panose="02040503050406030204" pitchFamily="18" charset="0"/>
                            <a:ea typeface="Tahoma" panose="020B0604030504040204" pitchFamily="34" charset="0"/>
                            <a:cs typeface="Tahoma" panose="020B0604030504040204" pitchFamily="34" charset="0"/>
                          </a:rPr>
                          <m:t>1</m:t>
                        </m:r>
                      </m:sub>
                    </m:sSub>
                  </m:oMath>
                </a14:m>
                <a:r>
                  <a:rPr lang="en-US" sz="1600" dirty="0">
                    <a:latin typeface="Tahoma" panose="020B0604030504040204" pitchFamily="34" charset="0"/>
                    <a:ea typeface="Tahoma" panose="020B0604030504040204" pitchFamily="34" charset="0"/>
                    <a:cs typeface="Tahoma" panose="020B0604030504040204" pitchFamily="34" charset="0"/>
                  </a:rPr>
                  <a:t>.</a:t>
                </a:r>
              </a:p>
              <a:p>
                <a:pPr marL="285750" indent="-285750">
                  <a:buFont typeface="Wingdings" pitchFamily="2" charset="2"/>
                  <a:buChar char="§"/>
                </a:pP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The path: </a:t>
                </a:r>
                <a:r>
                  <a:rPr lang="en-US" sz="1600" dirty="0">
                    <a:latin typeface="Tahoma" panose="020B0604030504040204" pitchFamily="34" charset="0"/>
                    <a:ea typeface="Tahoma" panose="020B0604030504040204" pitchFamily="34" charset="0"/>
                    <a:cs typeface="Tahoma" panose="020B0604030504040204" pitchFamily="34" charset="0"/>
                  </a:rPr>
                  <a:t>The framework defines a straight line between the start and the target: </a:t>
                </a:r>
                <a14:m>
                  <m:oMath xmlns:m="http://schemas.openxmlformats.org/officeDocument/2006/math">
                    <m:sSub>
                      <m:sSubPr>
                        <m:ctrlPr>
                          <a:rPr lang="en-US" sz="1600" i="1">
                            <a:latin typeface="Cambria Math" panose="02040503050406030204" pitchFamily="18" charset="0"/>
                            <a:ea typeface="Tahoma" panose="020B0604030504040204" pitchFamily="34" charset="0"/>
                            <a:cs typeface="Tahoma" panose="020B0604030504040204" pitchFamily="34" charset="0"/>
                          </a:rPr>
                        </m:ctrlPr>
                      </m:sSubPr>
                      <m:e>
                        <m:r>
                          <a:rPr lang="en-US" sz="1600" i="1">
                            <a:latin typeface="Cambria Math" panose="02040503050406030204" pitchFamily="18" charset="0"/>
                            <a:ea typeface="Tahoma" panose="020B0604030504040204" pitchFamily="34" charset="0"/>
                            <a:cs typeface="Tahoma" panose="020B0604030504040204" pitchFamily="34" charset="0"/>
                          </a:rPr>
                          <m:t>𝑥</m:t>
                        </m:r>
                      </m:e>
                      <m:sub>
                        <m:r>
                          <a:rPr lang="en-US" sz="1600" b="0" i="1" smtClean="0">
                            <a:latin typeface="Cambria Math" panose="02040503050406030204" pitchFamily="18" charset="0"/>
                            <a:ea typeface="Tahoma" panose="020B0604030504040204" pitchFamily="34" charset="0"/>
                            <a:cs typeface="Tahoma" panose="020B0604030504040204" pitchFamily="34" charset="0"/>
                          </a:rPr>
                          <m:t>𝑡</m:t>
                        </m:r>
                      </m:sub>
                    </m:sSub>
                    <m:r>
                      <a:rPr lang="en-US" sz="1600" b="0" i="1" smtClean="0">
                        <a:latin typeface="Cambria Math" panose="02040503050406030204" pitchFamily="18" charset="0"/>
                        <a:ea typeface="Tahoma" panose="020B0604030504040204" pitchFamily="34" charset="0"/>
                        <a:cs typeface="Tahoma" panose="020B0604030504040204" pitchFamily="34" charset="0"/>
                      </a:rPr>
                      <m:t>=</m:t>
                    </m:r>
                    <m:d>
                      <m:dPr>
                        <m:ctrlPr>
                          <a:rPr lang="en-US" sz="1600" b="0" i="1" smtClean="0">
                            <a:latin typeface="Cambria Math" panose="02040503050406030204" pitchFamily="18" charset="0"/>
                            <a:ea typeface="Tahoma" panose="020B0604030504040204" pitchFamily="34" charset="0"/>
                            <a:cs typeface="Tahoma" panose="020B0604030504040204" pitchFamily="34" charset="0"/>
                          </a:rPr>
                        </m:ctrlPr>
                      </m:dPr>
                      <m:e>
                        <m:r>
                          <a:rPr lang="en-US" sz="1600" b="0" i="1" smtClean="0">
                            <a:latin typeface="Cambria Math" panose="02040503050406030204" pitchFamily="18" charset="0"/>
                            <a:ea typeface="Tahoma" panose="020B0604030504040204" pitchFamily="34" charset="0"/>
                            <a:cs typeface="Tahoma" panose="020B0604030504040204" pitchFamily="34" charset="0"/>
                          </a:rPr>
                          <m:t>1−</m:t>
                        </m:r>
                        <m:r>
                          <a:rPr lang="en-US" sz="1600" b="0" i="1" smtClean="0">
                            <a:latin typeface="Cambria Math" panose="02040503050406030204" pitchFamily="18" charset="0"/>
                            <a:ea typeface="Tahoma" panose="020B0604030504040204" pitchFamily="34" charset="0"/>
                            <a:cs typeface="Tahoma" panose="020B0604030504040204" pitchFamily="34" charset="0"/>
                          </a:rPr>
                          <m:t>𝑡</m:t>
                        </m:r>
                      </m:e>
                    </m:d>
                    <m:sSub>
                      <m:sSubPr>
                        <m:ctrlPr>
                          <a:rPr lang="en-US" sz="1600" i="1">
                            <a:latin typeface="Cambria Math" panose="02040503050406030204" pitchFamily="18" charset="0"/>
                            <a:ea typeface="Tahoma" panose="020B0604030504040204" pitchFamily="34" charset="0"/>
                            <a:cs typeface="Tahoma" panose="020B0604030504040204" pitchFamily="34" charset="0"/>
                          </a:rPr>
                        </m:ctrlPr>
                      </m:sSubPr>
                      <m:e>
                        <m:r>
                          <a:rPr lang="en-US" sz="1600" i="1">
                            <a:latin typeface="Cambria Math" panose="02040503050406030204" pitchFamily="18" charset="0"/>
                            <a:ea typeface="Tahoma" panose="020B0604030504040204" pitchFamily="34" charset="0"/>
                            <a:cs typeface="Tahoma" panose="020B0604030504040204" pitchFamily="34" charset="0"/>
                          </a:rPr>
                          <m:t>𝑥</m:t>
                        </m:r>
                      </m:e>
                      <m:sub>
                        <m:r>
                          <a:rPr lang="en-US" sz="1600" i="1">
                            <a:latin typeface="Cambria Math" panose="02040503050406030204" pitchFamily="18" charset="0"/>
                            <a:ea typeface="Tahoma" panose="020B0604030504040204" pitchFamily="34" charset="0"/>
                            <a:cs typeface="Tahoma" panose="020B0604030504040204" pitchFamily="34" charset="0"/>
                          </a:rPr>
                          <m:t>0</m:t>
                        </m:r>
                      </m:sub>
                    </m:sSub>
                    <m:r>
                      <a:rPr lang="en-US" sz="1600" b="0" i="1" smtClean="0">
                        <a:latin typeface="Cambria Math" panose="02040503050406030204" pitchFamily="18" charset="0"/>
                        <a:ea typeface="Tahoma" panose="020B0604030504040204" pitchFamily="34" charset="0"/>
                        <a:cs typeface="Tahoma" panose="020B0604030504040204" pitchFamily="34" charset="0"/>
                      </a:rPr>
                      <m:t>+</m:t>
                    </m:r>
                    <m:r>
                      <a:rPr lang="en-US" sz="1600" b="0" i="1" smtClean="0">
                        <a:latin typeface="Cambria Math" panose="02040503050406030204" pitchFamily="18" charset="0"/>
                        <a:ea typeface="Tahoma" panose="020B0604030504040204" pitchFamily="34" charset="0"/>
                        <a:cs typeface="Tahoma" panose="020B0604030504040204" pitchFamily="34" charset="0"/>
                      </a:rPr>
                      <m:t>𝑡</m:t>
                    </m:r>
                    <m:sSub>
                      <m:sSubPr>
                        <m:ctrlPr>
                          <a:rPr lang="en-US" sz="1600" i="1">
                            <a:latin typeface="Cambria Math" panose="02040503050406030204" pitchFamily="18" charset="0"/>
                            <a:ea typeface="Tahoma" panose="020B0604030504040204" pitchFamily="34" charset="0"/>
                            <a:cs typeface="Tahoma" panose="020B0604030504040204" pitchFamily="34" charset="0"/>
                          </a:rPr>
                        </m:ctrlPr>
                      </m:sSubPr>
                      <m:e>
                        <m:r>
                          <a:rPr lang="en-US" sz="1600" i="1">
                            <a:latin typeface="Cambria Math" panose="02040503050406030204" pitchFamily="18" charset="0"/>
                            <a:ea typeface="Tahoma" panose="020B0604030504040204" pitchFamily="34" charset="0"/>
                            <a:cs typeface="Tahoma" panose="020B0604030504040204" pitchFamily="34" charset="0"/>
                          </a:rPr>
                          <m:t>𝑥</m:t>
                        </m:r>
                      </m:e>
                      <m:sub>
                        <m:r>
                          <a:rPr lang="en-US" sz="1600" b="0" i="1" smtClean="0">
                            <a:latin typeface="Cambria Math" panose="02040503050406030204" pitchFamily="18" charset="0"/>
                            <a:ea typeface="Tahoma" panose="020B0604030504040204" pitchFamily="34" charset="0"/>
                            <a:cs typeface="Tahoma" panose="020B0604030504040204" pitchFamily="34" charset="0"/>
                          </a:rPr>
                          <m:t>1</m:t>
                        </m:r>
                      </m:sub>
                    </m:sSub>
                  </m:oMath>
                </a14:m>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a:t>
                </a:r>
              </a:p>
              <a:p>
                <a:pPr marL="285750" indent="-285750">
                  <a:buFont typeface="Wingdings" pitchFamily="2" charset="2"/>
                  <a:buChar char="§"/>
                </a:pP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The velocity: </a:t>
                </a:r>
                <a:r>
                  <a:rPr lang="en-US" sz="1600" dirty="0">
                    <a:solidFill>
                      <a:schemeClr val="tx1"/>
                    </a:solidFill>
                    <a:latin typeface="Tahoma" panose="020B0604030504040204" pitchFamily="34" charset="0"/>
                    <a:ea typeface="Tahoma" panose="020B0604030504040204" pitchFamily="34" charset="0"/>
                    <a:cs typeface="Tahoma" panose="020B0604030504040204" pitchFamily="34" charset="0"/>
                  </a:rPr>
                  <a:t>Because the path is a straight line, the ‘velocity’ required to move from start to target is constant: </a:t>
                </a:r>
                <a14:m>
                  <m:oMath xmlns:m="http://schemas.openxmlformats.org/officeDocument/2006/math">
                    <m:r>
                      <a:rPr lang="en-US" sz="16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t>𝑣</m:t>
                    </m:r>
                    <m:r>
                      <a:rPr lang="en-US" sz="16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t>=</m:t>
                    </m:r>
                    <m:sSub>
                      <m:sSubPr>
                        <m:ctrlPr>
                          <a:rPr lang="en-US" sz="1600" i="1">
                            <a:solidFill>
                              <a:schemeClr val="tx1"/>
                            </a:solidFill>
                            <a:latin typeface="Cambria Math" panose="02040503050406030204" pitchFamily="18" charset="0"/>
                            <a:ea typeface="Tahoma" panose="020B0604030504040204" pitchFamily="34" charset="0"/>
                            <a:cs typeface="Tahoma" panose="020B0604030504040204" pitchFamily="34" charset="0"/>
                          </a:rPr>
                        </m:ctrlPr>
                      </m:sSubPr>
                      <m:e>
                        <m:r>
                          <a:rPr lang="en-US" sz="1600" i="1">
                            <a:solidFill>
                              <a:schemeClr val="tx1"/>
                            </a:solidFill>
                            <a:latin typeface="Cambria Math" panose="02040503050406030204" pitchFamily="18" charset="0"/>
                            <a:ea typeface="Tahoma" panose="020B0604030504040204" pitchFamily="34" charset="0"/>
                            <a:cs typeface="Tahoma" panose="020B0604030504040204" pitchFamily="34" charset="0"/>
                          </a:rPr>
                          <m:t>𝑥</m:t>
                        </m:r>
                      </m:e>
                      <m:sub>
                        <m:r>
                          <a:rPr lang="en-US" sz="16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t>1</m:t>
                        </m:r>
                      </m:sub>
                    </m:sSub>
                    <m:r>
                      <a:rPr lang="en-US" sz="16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t>−</m:t>
                    </m:r>
                    <m:sSub>
                      <m:sSubPr>
                        <m:ctrlPr>
                          <a:rPr lang="en-US" sz="1600" i="1">
                            <a:solidFill>
                              <a:schemeClr val="tx1"/>
                            </a:solidFill>
                            <a:latin typeface="Cambria Math" panose="02040503050406030204" pitchFamily="18" charset="0"/>
                            <a:ea typeface="Tahoma" panose="020B0604030504040204" pitchFamily="34" charset="0"/>
                            <a:cs typeface="Tahoma" panose="020B0604030504040204" pitchFamily="34" charset="0"/>
                          </a:rPr>
                        </m:ctrlPr>
                      </m:sSubPr>
                      <m:e>
                        <m:r>
                          <a:rPr lang="en-US" sz="1600" i="1">
                            <a:solidFill>
                              <a:schemeClr val="tx1"/>
                            </a:solidFill>
                            <a:latin typeface="Cambria Math" panose="02040503050406030204" pitchFamily="18" charset="0"/>
                            <a:ea typeface="Tahoma" panose="020B0604030504040204" pitchFamily="34" charset="0"/>
                            <a:cs typeface="Tahoma" panose="020B0604030504040204" pitchFamily="34" charset="0"/>
                          </a:rPr>
                          <m:t>𝑥</m:t>
                        </m:r>
                      </m:e>
                      <m:sub>
                        <m:r>
                          <a:rPr lang="en-US" sz="1600" i="1">
                            <a:solidFill>
                              <a:schemeClr val="tx1"/>
                            </a:solidFill>
                            <a:latin typeface="Cambria Math" panose="02040503050406030204" pitchFamily="18" charset="0"/>
                            <a:ea typeface="Tahoma" panose="020B0604030504040204" pitchFamily="34" charset="0"/>
                            <a:cs typeface="Tahoma" panose="020B0604030504040204" pitchFamily="34" charset="0"/>
                          </a:rPr>
                          <m:t>0</m:t>
                        </m:r>
                      </m:sub>
                    </m:sSub>
                    <m:r>
                      <a:rPr lang="en-US" sz="16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t>.</m:t>
                    </m:r>
                  </m:oMath>
                </a14:m>
                <a:endParaRPr lang="en-US" sz="1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itchFamily="2" charset="2"/>
                  <a:buChar char="§"/>
                </a:pPr>
                <a:endParaRPr lang="en-US"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 name="Rectangle 8">
                <a:extLst>
                  <a:ext uri="{FF2B5EF4-FFF2-40B4-BE49-F238E27FC236}">
                    <a16:creationId xmlns:a16="http://schemas.microsoft.com/office/drawing/2014/main" id="{60DC5988-C67D-B4DA-BFF9-F5625D74108B}"/>
                  </a:ext>
                </a:extLst>
              </p:cNvPr>
              <p:cNvSpPr>
                <a:spLocks noRot="1" noChangeAspect="1" noMove="1" noResize="1" noEditPoints="1" noAdjustHandles="1" noChangeArrowheads="1" noChangeShapeType="1" noTextEdit="1"/>
              </p:cNvSpPr>
              <p:nvPr/>
            </p:nvSpPr>
            <p:spPr>
              <a:xfrm>
                <a:off x="1060309" y="1566984"/>
                <a:ext cx="5614067" cy="4173312"/>
              </a:xfrm>
              <a:prstGeom prst="rect">
                <a:avLst/>
              </a:prstGeom>
              <a:blipFill>
                <a:blip r:embed="rId3"/>
                <a:stretch>
                  <a:fillRect l="-450"/>
                </a:stretch>
              </a:blipFill>
              <a:ln>
                <a:solidFill>
                  <a:schemeClr val="bg1"/>
                </a:solidFill>
              </a:ln>
            </p:spPr>
            <p:txBody>
              <a:bodyPr/>
              <a:lstStyle/>
              <a:p>
                <a:r>
                  <a:rPr lang="en-US">
                    <a:noFill/>
                  </a:rPr>
                  <a:t> </a:t>
                </a:r>
              </a:p>
            </p:txBody>
          </p:sp>
        </mc:Fallback>
      </mc:AlternateContent>
      <p:sp>
        <p:nvSpPr>
          <p:cNvPr id="13" name="Rounded Rectangle 12">
            <a:extLst>
              <a:ext uri="{FF2B5EF4-FFF2-40B4-BE49-F238E27FC236}">
                <a16:creationId xmlns:a16="http://schemas.microsoft.com/office/drawing/2014/main" id="{E646A1D3-25A0-60F7-E308-C84AA3ADD197}"/>
              </a:ext>
            </a:extLst>
          </p:cNvPr>
          <p:cNvSpPr/>
          <p:nvPr/>
        </p:nvSpPr>
        <p:spPr>
          <a:xfrm>
            <a:off x="7045205" y="2276863"/>
            <a:ext cx="4571182" cy="70318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The start.</a:t>
            </a:r>
            <a:endParaRPr lang="en-US" sz="1600" dirty="0"/>
          </a:p>
        </p:txBody>
      </p:sp>
      <p:sp>
        <p:nvSpPr>
          <p:cNvPr id="14" name="Rounded Rectangle 13">
            <a:extLst>
              <a:ext uri="{FF2B5EF4-FFF2-40B4-BE49-F238E27FC236}">
                <a16:creationId xmlns:a16="http://schemas.microsoft.com/office/drawing/2014/main" id="{F85626F2-5F3E-6DC6-BB39-AD1F4B99D918}"/>
              </a:ext>
            </a:extLst>
          </p:cNvPr>
          <p:cNvSpPr/>
          <p:nvPr/>
        </p:nvSpPr>
        <p:spPr>
          <a:xfrm>
            <a:off x="7053969" y="3217361"/>
            <a:ext cx="4571182" cy="77704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The target.</a:t>
            </a:r>
            <a:endParaRPr lang="en-US" sz="1600" dirty="0"/>
          </a:p>
        </p:txBody>
      </p:sp>
      <p:sp>
        <p:nvSpPr>
          <p:cNvPr id="17" name="Rounded Rectangle 16">
            <a:extLst>
              <a:ext uri="{FF2B5EF4-FFF2-40B4-BE49-F238E27FC236}">
                <a16:creationId xmlns:a16="http://schemas.microsoft.com/office/drawing/2014/main" id="{78DAC7B8-6151-A586-6C05-85822B5ECBC4}"/>
              </a:ext>
            </a:extLst>
          </p:cNvPr>
          <p:cNvSpPr/>
          <p:nvPr/>
        </p:nvSpPr>
        <p:spPr>
          <a:xfrm>
            <a:off x="7045205" y="4220234"/>
            <a:ext cx="4571182" cy="71393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The path.</a:t>
            </a:r>
            <a:endParaRPr lang="en-US" sz="1600" dirty="0">
              <a:solidFill>
                <a:srgbClr val="C00000"/>
              </a:solidFill>
            </a:endParaRPr>
          </a:p>
        </p:txBody>
      </p:sp>
      <p:sp>
        <p:nvSpPr>
          <p:cNvPr id="18" name="Rounded Rectangle 17">
            <a:extLst>
              <a:ext uri="{FF2B5EF4-FFF2-40B4-BE49-F238E27FC236}">
                <a16:creationId xmlns:a16="http://schemas.microsoft.com/office/drawing/2014/main" id="{1FC96EBC-FC15-5382-A398-DEF5E68F50DC}"/>
              </a:ext>
            </a:extLst>
          </p:cNvPr>
          <p:cNvSpPr/>
          <p:nvPr/>
        </p:nvSpPr>
        <p:spPr>
          <a:xfrm>
            <a:off x="7053969" y="5188494"/>
            <a:ext cx="4571182" cy="71393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The velocity.</a:t>
            </a:r>
          </a:p>
        </p:txBody>
      </p:sp>
      <p:cxnSp>
        <p:nvCxnSpPr>
          <p:cNvPr id="19" name="Straight Arrow Connector 18">
            <a:extLst>
              <a:ext uri="{FF2B5EF4-FFF2-40B4-BE49-F238E27FC236}">
                <a16:creationId xmlns:a16="http://schemas.microsoft.com/office/drawing/2014/main" id="{EA0394DB-537D-03CB-FC48-F78BEB70DC07}"/>
              </a:ext>
            </a:extLst>
          </p:cNvPr>
          <p:cNvCxnSpPr>
            <a:cxnSpLocks/>
          </p:cNvCxnSpPr>
          <p:nvPr/>
        </p:nvCxnSpPr>
        <p:spPr>
          <a:xfrm>
            <a:off x="9259300" y="2981695"/>
            <a:ext cx="0" cy="23566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A8BC7EEE-8D4F-D2FF-B439-17CE835CCC30}"/>
              </a:ext>
            </a:extLst>
          </p:cNvPr>
          <p:cNvCxnSpPr>
            <a:cxnSpLocks/>
          </p:cNvCxnSpPr>
          <p:nvPr/>
        </p:nvCxnSpPr>
        <p:spPr>
          <a:xfrm>
            <a:off x="9259300" y="3994402"/>
            <a:ext cx="0" cy="225832"/>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A2455036-DB80-7BCC-2547-771079202143}"/>
              </a:ext>
            </a:extLst>
          </p:cNvPr>
          <p:cNvCxnSpPr>
            <a:cxnSpLocks/>
          </p:cNvCxnSpPr>
          <p:nvPr/>
        </p:nvCxnSpPr>
        <p:spPr>
          <a:xfrm>
            <a:off x="9259300" y="4951180"/>
            <a:ext cx="0" cy="237314"/>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6877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77673-1768-2A01-4409-8EA81D4EF2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21A478-2538-AC01-D9BB-0DFFF05D1F72}"/>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21124F7-4839-93E2-3A39-32DAE02CADF0}"/>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B4B1A35-54BE-1155-4210-6EF71FBCC2F4}"/>
              </a:ext>
            </a:extLst>
          </p:cNvPr>
          <p:cNvSpPr/>
          <p:nvPr/>
        </p:nvSpPr>
        <p:spPr>
          <a:xfrm>
            <a:off x="628164" y="1229324"/>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CED1E89-631B-8FE1-13D9-9FB8245CB70B}"/>
              </a:ext>
            </a:extLst>
          </p:cNvPr>
          <p:cNvSpPr/>
          <p:nvPr/>
        </p:nvSpPr>
        <p:spPr>
          <a:xfrm>
            <a:off x="680716" y="1325231"/>
            <a:ext cx="11458732" cy="4562581"/>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2E17C914-C6FF-7B6D-A768-411D70C1677B}"/>
              </a:ext>
            </a:extLst>
          </p:cNvPr>
          <p:cNvSpPr txBox="1"/>
          <p:nvPr/>
        </p:nvSpPr>
        <p:spPr>
          <a:xfrm>
            <a:off x="838411" y="525906"/>
            <a:ext cx="5482876"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SI Architecture: Velocity Network</a:t>
            </a:r>
          </a:p>
        </p:txBody>
      </p:sp>
      <p:sp>
        <p:nvSpPr>
          <p:cNvPr id="10" name="Content Placeholder 2">
            <a:extLst>
              <a:ext uri="{FF2B5EF4-FFF2-40B4-BE49-F238E27FC236}">
                <a16:creationId xmlns:a16="http://schemas.microsoft.com/office/drawing/2014/main" id="{1B708008-DDCA-5F3C-F69D-C79E603727EF}"/>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DC460B2E-42D3-FBE6-C77B-8B35373B1371}"/>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B34124D3-B25A-9376-F5E0-87CED4F098E8}"/>
              </a:ext>
            </a:extLst>
          </p:cNvPr>
          <p:cNvSpPr/>
          <p:nvPr/>
        </p:nvSpPr>
        <p:spPr>
          <a:xfrm>
            <a:off x="680716" y="5887812"/>
            <a:ext cx="11458732" cy="970188"/>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7327D37-FAD5-8DB7-2CF7-035ACF4E2866}"/>
              </a:ext>
            </a:extLst>
          </p:cNvPr>
          <p:cNvSpPr/>
          <p:nvPr/>
        </p:nvSpPr>
        <p:spPr>
          <a:xfrm>
            <a:off x="1563755" y="1848001"/>
            <a:ext cx="9183757" cy="2418296"/>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1) Encoder:</a:t>
            </a:r>
            <a:r>
              <a:rPr lang="en-US" sz="1600" dirty="0">
                <a:latin typeface="Tahoma" panose="020B0604030504040204" pitchFamily="34" charset="0"/>
                <a:ea typeface="Tahoma" panose="020B0604030504040204" pitchFamily="34" charset="0"/>
                <a:cs typeface="Tahoma" panose="020B0604030504040204" pitchFamily="34" charset="0"/>
              </a:rPr>
              <a:t> This is the left side of the U-shape and is the contracting path. The input spatial size shrinks but the number of channels (features) increases.</a:t>
            </a:r>
          </a:p>
          <a:p>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2) Bottleneck:</a:t>
            </a:r>
            <a:r>
              <a:rPr lang="en-US" sz="1600" dirty="0">
                <a:latin typeface="Tahoma" panose="020B0604030504040204" pitchFamily="34" charset="0"/>
                <a:ea typeface="Tahoma" panose="020B0604030504040204" pitchFamily="34" charset="0"/>
                <a:cs typeface="Tahoma" panose="020B0604030504040204" pitchFamily="34" charset="0"/>
              </a:rPr>
              <a:t> This is the very bottom of the U-shape and connects encoder with decoder. It operates at the lowest spatial resolution.</a:t>
            </a:r>
          </a:p>
          <a:p>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3) Decoder:</a:t>
            </a:r>
            <a:r>
              <a:rPr lang="en-US" sz="1600" dirty="0">
                <a:latin typeface="Tahoma" panose="020B0604030504040204" pitchFamily="34" charset="0"/>
                <a:ea typeface="Tahoma" panose="020B0604030504040204" pitchFamily="34" charset="0"/>
                <a:cs typeface="Tahoma" panose="020B0604030504040204" pitchFamily="34" charset="0"/>
              </a:rPr>
              <a:t> This is the right side of the U-shape and is the expanding path. It up-samples the abstract features, decreases the number of channels and returns the original resolution.</a:t>
            </a:r>
          </a:p>
          <a:p>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4) Skip connections:</a:t>
            </a:r>
            <a:r>
              <a:rPr lang="en-US" sz="1600" dirty="0">
                <a:latin typeface="Tahoma" panose="020B0604030504040204" pitchFamily="34" charset="0"/>
                <a:ea typeface="Tahoma" panose="020B0604030504040204" pitchFamily="34" charset="0"/>
                <a:cs typeface="Tahoma" panose="020B0604030504040204" pitchFamily="34" charset="0"/>
              </a:rPr>
              <a:t> These are used to concatenate the up-sampled feature map (currently in the decoder) and the high-resolution feature map (saved from the encoder). The fused output is processed by the next convolution.</a:t>
            </a:r>
          </a:p>
        </p:txBody>
      </p:sp>
      <p:sp>
        <p:nvSpPr>
          <p:cNvPr id="13" name="Rectangle 12">
            <a:extLst>
              <a:ext uri="{FF2B5EF4-FFF2-40B4-BE49-F238E27FC236}">
                <a16:creationId xmlns:a16="http://schemas.microsoft.com/office/drawing/2014/main" id="{0F3F7F65-D4DB-9ACE-7747-37BE20B84601}"/>
              </a:ext>
            </a:extLst>
          </p:cNvPr>
          <p:cNvSpPr/>
          <p:nvPr/>
        </p:nvSpPr>
        <p:spPr>
          <a:xfrm>
            <a:off x="1563755" y="4415461"/>
            <a:ext cx="9576700" cy="1020223"/>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Time conditioning: </a:t>
            </a:r>
            <a:r>
              <a:rPr lang="en-US" sz="1600" dirty="0">
                <a:latin typeface="Tahoma" panose="020B0604030504040204" pitchFamily="34" charset="0"/>
                <a:ea typeface="Tahoma" panose="020B0604030504040204" pitchFamily="34" charset="0"/>
                <a:cs typeface="Tahoma" panose="020B0604030504040204" pitchFamily="34" charset="0"/>
              </a:rPr>
              <a:t>In flow matching, the network (also called U-net) is learning a time-dependent velocity field. Hence, a time-dependent bias is added directly to the activations of encoder.</a:t>
            </a:r>
          </a:p>
        </p:txBody>
      </p:sp>
    </p:spTree>
    <p:extLst>
      <p:ext uri="{BB962C8B-B14F-4D97-AF65-F5344CB8AC3E}">
        <p14:creationId xmlns:p14="http://schemas.microsoft.com/office/powerpoint/2010/main" val="3357143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3EFCC-04AE-CB0D-3583-DCF3D771460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589B8D6-1E91-2FCC-3430-8C239355B8AB}"/>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B4DE944-80A1-67D4-9DD7-B63B766E3C1A}"/>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CBCF7B-2D3C-EA3C-5CD6-64276E9BA145}"/>
              </a:ext>
            </a:extLst>
          </p:cNvPr>
          <p:cNvSpPr/>
          <p:nvPr/>
        </p:nvSpPr>
        <p:spPr>
          <a:xfrm>
            <a:off x="628164" y="1229324"/>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4933A4-5C93-9D63-6080-636B1C8A2194}"/>
              </a:ext>
            </a:extLst>
          </p:cNvPr>
          <p:cNvSpPr/>
          <p:nvPr/>
        </p:nvSpPr>
        <p:spPr>
          <a:xfrm>
            <a:off x="680716" y="1325231"/>
            <a:ext cx="11458732" cy="4562581"/>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9DDAA9EE-098B-EA82-8128-06A76A473322}"/>
              </a:ext>
            </a:extLst>
          </p:cNvPr>
          <p:cNvSpPr txBox="1"/>
          <p:nvPr/>
        </p:nvSpPr>
        <p:spPr>
          <a:xfrm>
            <a:off x="838411" y="525906"/>
            <a:ext cx="5482876"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Joint Training and Backward Pass</a:t>
            </a:r>
          </a:p>
        </p:txBody>
      </p:sp>
      <p:sp>
        <p:nvSpPr>
          <p:cNvPr id="10" name="Content Placeholder 2">
            <a:extLst>
              <a:ext uri="{FF2B5EF4-FFF2-40B4-BE49-F238E27FC236}">
                <a16:creationId xmlns:a16="http://schemas.microsoft.com/office/drawing/2014/main" id="{5DDF6249-E34C-BBE3-8ADD-93D324D0BFD9}"/>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3E5C3F61-9CF4-BC3D-128D-2D36485539D3}"/>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CD144A51-2847-E496-43BD-466B1B58EF55}"/>
              </a:ext>
            </a:extLst>
          </p:cNvPr>
          <p:cNvSpPr/>
          <p:nvPr/>
        </p:nvSpPr>
        <p:spPr>
          <a:xfrm>
            <a:off x="680716" y="5887812"/>
            <a:ext cx="11458732" cy="970188"/>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319071D-2EF4-FFA4-D57C-5AFA6EB871D6}"/>
              </a:ext>
            </a:extLst>
          </p:cNvPr>
          <p:cNvSpPr/>
          <p:nvPr/>
        </p:nvSpPr>
        <p:spPr>
          <a:xfrm>
            <a:off x="1022472" y="1474395"/>
            <a:ext cx="10228624" cy="3104442"/>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Wingdings" pitchFamily="2" charset="2"/>
              <a:buChar char="§"/>
            </a:pPr>
            <a:r>
              <a:rPr lang="en-US" sz="1600" dirty="0">
                <a:latin typeface="Tahoma" panose="020B0604030504040204" pitchFamily="34" charset="0"/>
                <a:ea typeface="Tahoma" panose="020B0604030504040204" pitchFamily="34" charset="0"/>
                <a:cs typeface="Tahoma" panose="020B0604030504040204" pitchFamily="34" charset="0"/>
              </a:rPr>
              <a:t>The input passes through the FNO. PyTorch records the mathematical operations into a computational graph called </a:t>
            </a: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Graph A</a:t>
            </a:r>
            <a:r>
              <a:rPr lang="en-US" sz="1600" dirty="0">
                <a:latin typeface="Tahoma" panose="020B0604030504040204" pitchFamily="34" charset="0"/>
                <a:ea typeface="Tahoma" panose="020B0604030504040204" pitchFamily="34" charset="0"/>
                <a:cs typeface="Tahoma" panose="020B0604030504040204" pitchFamily="34" charset="0"/>
              </a:rPr>
              <a:t>. The FNO’s specific loss is calculated.</a:t>
            </a:r>
          </a:p>
          <a:p>
            <a:pPr marL="285750" indent="-285750">
              <a:buFont typeface="Wingdings" pitchFamily="2" charset="2"/>
              <a:buChar char="§"/>
            </a:pPr>
            <a:r>
              <a:rPr lang="en-US" sz="1600" dirty="0">
                <a:latin typeface="Tahoma" panose="020B0604030504040204" pitchFamily="34" charset="0"/>
                <a:ea typeface="Tahoma" panose="020B0604030504040204" pitchFamily="34" charset="0"/>
                <a:cs typeface="Tahoma" panose="020B0604030504040204" pitchFamily="34" charset="0"/>
              </a:rPr>
              <a:t>The </a:t>
            </a: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.detach() </a:t>
            </a:r>
            <a:r>
              <a:rPr lang="en-US" sz="1600" dirty="0">
                <a:latin typeface="Tahoma" panose="020B0604030504040204" pitchFamily="34" charset="0"/>
                <a:ea typeface="Tahoma" panose="020B0604030504040204" pitchFamily="34" charset="0"/>
                <a:cs typeface="Tahoma" panose="020B0604030504040204" pitchFamily="34" charset="0"/>
              </a:rPr>
              <a:t>command takes the numerical output of the FNO but severs its connection to Graph A. It creates a new tensor that has the exact same data but tells Python’s autograd engine (that does backpropagation) not to track gradients past this point.</a:t>
            </a:r>
          </a:p>
          <a:p>
            <a:pPr marL="285750" indent="-285750">
              <a:buFont typeface="Wingdings" pitchFamily="2" charset="2"/>
              <a:buChar char="§"/>
            </a:pPr>
            <a:r>
              <a:rPr lang="en-US" sz="1600" dirty="0">
                <a:latin typeface="Tahoma" panose="020B0604030504040204" pitchFamily="34" charset="0"/>
                <a:ea typeface="Tahoma" panose="020B0604030504040204" pitchFamily="34" charset="0"/>
                <a:cs typeface="Tahoma" panose="020B0604030504040204" pitchFamily="34" charset="0"/>
              </a:rPr>
              <a:t>During flow matching, PyTorch builds a new computational graph called </a:t>
            </a: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Graph B</a:t>
            </a:r>
            <a:r>
              <a:rPr lang="en-US" sz="1600" dirty="0">
                <a:latin typeface="Tahoma" panose="020B0604030504040204" pitchFamily="34" charset="0"/>
                <a:ea typeface="Tahoma" panose="020B0604030504040204" pitchFamily="34" charset="0"/>
                <a:cs typeface="Tahoma" panose="020B0604030504040204" pitchFamily="34" charset="0"/>
              </a:rPr>
              <a:t> for the U-net. The U-net’s specific loss is calculated.</a:t>
            </a:r>
          </a:p>
          <a:p>
            <a:pPr marL="285750" indent="-285750">
              <a:buFont typeface="Wingdings" pitchFamily="2" charset="2"/>
              <a:buChar char="§"/>
            </a:pPr>
            <a:r>
              <a:rPr lang="en-US" sz="1600" dirty="0">
                <a:latin typeface="Tahoma" panose="020B0604030504040204" pitchFamily="34" charset="0"/>
                <a:ea typeface="Tahoma" panose="020B0604030504040204" pitchFamily="34" charset="0"/>
                <a:cs typeface="Tahoma" panose="020B0604030504040204" pitchFamily="34" charset="0"/>
              </a:rPr>
              <a:t>The two separate losses are added and the </a:t>
            </a: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total.backward()</a:t>
            </a:r>
            <a:r>
              <a:rPr lang="en-US" sz="1600" dirty="0">
                <a:latin typeface="Tahoma" panose="020B0604030504040204" pitchFamily="34" charset="0"/>
                <a:ea typeface="Tahoma" panose="020B0604030504040204" pitchFamily="34" charset="0"/>
                <a:cs typeface="Tahoma" panose="020B0604030504040204" pitchFamily="34" charset="0"/>
              </a:rPr>
              <a:t> function traces the gradients from U-net’s loss perfectly backward through Graph B to update the U-net, without reaching the FNO. Similarly, the gradients from FNO’s loss are traced independently back through Graph A.</a:t>
            </a:r>
          </a:p>
          <a:p>
            <a:pPr marL="285750" indent="-285750">
              <a:buFont typeface="Wingdings" pitchFamily="2" charset="2"/>
              <a:buChar char="§"/>
            </a:pPr>
            <a:r>
              <a:rPr lang="en-US" sz="1600" dirty="0">
                <a:latin typeface="Tahoma" panose="020B0604030504040204" pitchFamily="34" charset="0"/>
                <a:ea typeface="Tahoma" panose="020B0604030504040204" pitchFamily="34" charset="0"/>
                <a:cs typeface="Tahoma" panose="020B0604030504040204" pitchFamily="34" charset="0"/>
              </a:rPr>
              <a:t>PyTorch handles the independent graphs in parallel.</a:t>
            </a:r>
          </a:p>
        </p:txBody>
      </p:sp>
      <p:sp>
        <p:nvSpPr>
          <p:cNvPr id="8" name="TextBox 7">
            <a:extLst>
              <a:ext uri="{FF2B5EF4-FFF2-40B4-BE49-F238E27FC236}">
                <a16:creationId xmlns:a16="http://schemas.microsoft.com/office/drawing/2014/main" id="{D5C0E110-350D-A6C7-57EF-F73EE252D68E}"/>
              </a:ext>
            </a:extLst>
          </p:cNvPr>
          <p:cNvSpPr txBox="1"/>
          <p:nvPr/>
        </p:nvSpPr>
        <p:spPr>
          <a:xfrm>
            <a:off x="1411789" y="4728001"/>
            <a:ext cx="9368422" cy="830997"/>
          </a:xfrm>
          <a:prstGeom prst="rect">
            <a:avLst/>
          </a:prstGeom>
          <a:noFill/>
        </p:spPr>
        <p:txBody>
          <a:bodyPr wrap="square">
            <a:spAutoFit/>
          </a:bodyPr>
          <a:lstStyle/>
          <a:p>
            <a:r>
              <a:rPr lang="en-US" sz="1600" dirty="0">
                <a:solidFill>
                  <a:srgbClr val="6D1310"/>
                </a:solidFill>
                <a:latin typeface="Tahoma" panose="020B0604030504040204" pitchFamily="34" charset="0"/>
                <a:ea typeface="Tahoma" panose="020B0604030504040204" pitchFamily="34" charset="0"/>
                <a:cs typeface="Tahoma" panose="020B0604030504040204" pitchFamily="34" charset="0"/>
              </a:rPr>
              <a:t>[Backpropagation calculates the gradient (the direction and magnitude) of the prediction error with respect to every weight in the network, and uses these gradients to adjust the weights, minimizing future errors.]</a:t>
            </a:r>
            <a:endParaRPr lang="en-US" sz="1600" b="0" dirty="0">
              <a:solidFill>
                <a:srgbClr val="6D131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510943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24FD5-1C8A-DC1C-5494-9B9942A9EE2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3AED9D-51A9-7AF7-65A7-1BC91094681B}"/>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81123A3-1E52-749C-107C-6187F0E3DAA4}"/>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2F479F4-1593-1535-3C4A-766D2FFE42D7}"/>
              </a:ext>
            </a:extLst>
          </p:cNvPr>
          <p:cNvSpPr/>
          <p:nvPr/>
        </p:nvSpPr>
        <p:spPr>
          <a:xfrm>
            <a:off x="628164" y="1229324"/>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1633D2F-B947-E588-C99D-59E1B9FE42D9}"/>
              </a:ext>
            </a:extLst>
          </p:cNvPr>
          <p:cNvSpPr/>
          <p:nvPr/>
        </p:nvSpPr>
        <p:spPr>
          <a:xfrm>
            <a:off x="695253" y="1325231"/>
            <a:ext cx="11458732" cy="4562581"/>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77CDAA31-8572-6A7C-34E0-84B569B5955B}"/>
              </a:ext>
            </a:extLst>
          </p:cNvPr>
          <p:cNvSpPr txBox="1"/>
          <p:nvPr/>
        </p:nvSpPr>
        <p:spPr>
          <a:xfrm>
            <a:off x="838412" y="525906"/>
            <a:ext cx="4052555"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Important Parameters</a:t>
            </a:r>
          </a:p>
        </p:txBody>
      </p:sp>
      <p:sp>
        <p:nvSpPr>
          <p:cNvPr id="10" name="Content Placeholder 2">
            <a:extLst>
              <a:ext uri="{FF2B5EF4-FFF2-40B4-BE49-F238E27FC236}">
                <a16:creationId xmlns:a16="http://schemas.microsoft.com/office/drawing/2014/main" id="{C91C1F2B-B75A-BF32-DDA7-ED9D8A6C9CFD}"/>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7820D9EA-E510-1462-3B01-14927C026F80}"/>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D8E2A17A-5795-3DC6-9504-4365BC0D6C64}"/>
              </a:ext>
            </a:extLst>
          </p:cNvPr>
          <p:cNvSpPr/>
          <p:nvPr/>
        </p:nvSpPr>
        <p:spPr>
          <a:xfrm>
            <a:off x="680716" y="5887812"/>
            <a:ext cx="11458732" cy="970188"/>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DC92FCC9-5FBA-C003-C8FD-773E98BA1A16}"/>
              </a:ext>
            </a:extLst>
          </p:cNvPr>
          <p:cNvSpPr/>
          <p:nvPr/>
        </p:nvSpPr>
        <p:spPr>
          <a:xfrm>
            <a:off x="1327263" y="1790006"/>
            <a:ext cx="2456226" cy="41368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FNO modes =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6</a:t>
            </a:r>
            <a:endParaRPr lang="en-US" sz="1600" b="1" dirty="0">
              <a:solidFill>
                <a:srgbClr val="2B628C"/>
              </a:solidFill>
            </a:endParaRPr>
          </a:p>
        </p:txBody>
      </p:sp>
      <p:sp>
        <p:nvSpPr>
          <p:cNvPr id="8" name="Rounded Rectangle 7">
            <a:extLst>
              <a:ext uri="{FF2B5EF4-FFF2-40B4-BE49-F238E27FC236}">
                <a16:creationId xmlns:a16="http://schemas.microsoft.com/office/drawing/2014/main" id="{E9181C46-DDB0-D577-7F3E-543C47A523FC}"/>
              </a:ext>
            </a:extLst>
          </p:cNvPr>
          <p:cNvSpPr/>
          <p:nvPr/>
        </p:nvSpPr>
        <p:spPr>
          <a:xfrm>
            <a:off x="1327264" y="3584665"/>
            <a:ext cx="2456225" cy="41368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FNO layers =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2</a:t>
            </a:r>
            <a:endParaRPr lang="en-US" sz="1600" dirty="0"/>
          </a:p>
        </p:txBody>
      </p:sp>
      <p:sp>
        <p:nvSpPr>
          <p:cNvPr id="9" name="Rounded Rectangle 8">
            <a:extLst>
              <a:ext uri="{FF2B5EF4-FFF2-40B4-BE49-F238E27FC236}">
                <a16:creationId xmlns:a16="http://schemas.microsoft.com/office/drawing/2014/main" id="{30870CAF-38CE-553D-5585-02BA2C3B61B6}"/>
              </a:ext>
            </a:extLst>
          </p:cNvPr>
          <p:cNvSpPr/>
          <p:nvPr/>
        </p:nvSpPr>
        <p:spPr>
          <a:xfrm>
            <a:off x="1327263" y="2610019"/>
            <a:ext cx="2456226" cy="41368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FNO width =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4</a:t>
            </a:r>
            <a:endParaRPr lang="en-US" sz="1600" b="1" dirty="0">
              <a:solidFill>
                <a:srgbClr val="2B628C"/>
              </a:solidFill>
            </a:endParaRPr>
          </a:p>
        </p:txBody>
      </p:sp>
      <p:sp>
        <p:nvSpPr>
          <p:cNvPr id="13" name="Rounded Rectangle 12">
            <a:extLst>
              <a:ext uri="{FF2B5EF4-FFF2-40B4-BE49-F238E27FC236}">
                <a16:creationId xmlns:a16="http://schemas.microsoft.com/office/drawing/2014/main" id="{0B11D07A-F327-5D76-15AD-77DC586E98DB}"/>
              </a:ext>
            </a:extLst>
          </p:cNvPr>
          <p:cNvSpPr/>
          <p:nvPr/>
        </p:nvSpPr>
        <p:spPr>
          <a:xfrm>
            <a:off x="1327264" y="4393217"/>
            <a:ext cx="2456226" cy="41368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U-net channels =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2</a:t>
            </a:r>
            <a:endParaRPr lang="en-US" sz="1600" dirty="0"/>
          </a:p>
        </p:txBody>
      </p:sp>
      <p:sp>
        <p:nvSpPr>
          <p:cNvPr id="14" name="Rounded Rectangle 13">
            <a:extLst>
              <a:ext uri="{FF2B5EF4-FFF2-40B4-BE49-F238E27FC236}">
                <a16:creationId xmlns:a16="http://schemas.microsoft.com/office/drawing/2014/main" id="{0B74E3A5-51C5-C0A3-64EE-F9DB95719829}"/>
              </a:ext>
            </a:extLst>
          </p:cNvPr>
          <p:cNvSpPr/>
          <p:nvPr/>
        </p:nvSpPr>
        <p:spPr>
          <a:xfrm>
            <a:off x="1327270" y="5185851"/>
            <a:ext cx="2456219" cy="41368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Time dimension =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32</a:t>
            </a:r>
            <a:endParaRPr lang="en-US" sz="1600" dirty="0"/>
          </a:p>
        </p:txBody>
      </p:sp>
      <p:sp>
        <p:nvSpPr>
          <p:cNvPr id="15" name="Rounded Rectangle 14">
            <a:extLst>
              <a:ext uri="{FF2B5EF4-FFF2-40B4-BE49-F238E27FC236}">
                <a16:creationId xmlns:a16="http://schemas.microsoft.com/office/drawing/2014/main" id="{59036E9C-9205-6DFF-3085-9B25DC3514D9}"/>
              </a:ext>
            </a:extLst>
          </p:cNvPr>
          <p:cNvSpPr/>
          <p:nvPr/>
        </p:nvSpPr>
        <p:spPr>
          <a:xfrm>
            <a:off x="8587409" y="2736892"/>
            <a:ext cx="2716695" cy="41368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Learning rate =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1e-3</a:t>
            </a:r>
            <a:endParaRPr lang="en-US" sz="1600" dirty="0"/>
          </a:p>
        </p:txBody>
      </p:sp>
      <p:sp>
        <p:nvSpPr>
          <p:cNvPr id="16" name="Rounded Rectangle 15">
            <a:extLst>
              <a:ext uri="{FF2B5EF4-FFF2-40B4-BE49-F238E27FC236}">
                <a16:creationId xmlns:a16="http://schemas.microsoft.com/office/drawing/2014/main" id="{2E61E59C-274B-0161-AC79-572E9E84F8A5}"/>
              </a:ext>
            </a:extLst>
          </p:cNvPr>
          <p:cNvSpPr/>
          <p:nvPr/>
        </p:nvSpPr>
        <p:spPr>
          <a:xfrm>
            <a:off x="8587409" y="1913915"/>
            <a:ext cx="2716695" cy="41368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Noise scale =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0.1</a:t>
            </a:r>
            <a:endParaRPr lang="en-US" sz="1600" dirty="0"/>
          </a:p>
        </p:txBody>
      </p:sp>
      <p:sp>
        <p:nvSpPr>
          <p:cNvPr id="17" name="Rounded Rectangle 16">
            <a:extLst>
              <a:ext uri="{FF2B5EF4-FFF2-40B4-BE49-F238E27FC236}">
                <a16:creationId xmlns:a16="http://schemas.microsoft.com/office/drawing/2014/main" id="{BB98B864-69C9-898B-0620-B33FAB916CF3}"/>
              </a:ext>
            </a:extLst>
          </p:cNvPr>
          <p:cNvSpPr/>
          <p:nvPr/>
        </p:nvSpPr>
        <p:spPr>
          <a:xfrm>
            <a:off x="8587409" y="3584665"/>
            <a:ext cx="2716695" cy="41368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Flow steps =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20</a:t>
            </a:r>
            <a:endParaRPr lang="en-US" sz="1600" dirty="0"/>
          </a:p>
        </p:txBody>
      </p:sp>
      <p:sp>
        <p:nvSpPr>
          <p:cNvPr id="18" name="Rounded Rectangle 17">
            <a:extLst>
              <a:ext uri="{FF2B5EF4-FFF2-40B4-BE49-F238E27FC236}">
                <a16:creationId xmlns:a16="http://schemas.microsoft.com/office/drawing/2014/main" id="{7BAF19DE-779A-A3C9-326D-EB46271F7301}"/>
              </a:ext>
            </a:extLst>
          </p:cNvPr>
          <p:cNvSpPr/>
          <p:nvPr/>
        </p:nvSpPr>
        <p:spPr>
          <a:xfrm>
            <a:off x="8587409" y="4393217"/>
            <a:ext cx="2716695" cy="41368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Epochs =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300</a:t>
            </a:r>
            <a:endParaRPr lang="en-US" sz="1600" dirty="0"/>
          </a:p>
        </p:txBody>
      </p:sp>
      <p:sp>
        <p:nvSpPr>
          <p:cNvPr id="19" name="Rounded Rectangle 18">
            <a:extLst>
              <a:ext uri="{FF2B5EF4-FFF2-40B4-BE49-F238E27FC236}">
                <a16:creationId xmlns:a16="http://schemas.microsoft.com/office/drawing/2014/main" id="{4298F408-3EAE-8E1E-4895-B3291E581089}"/>
              </a:ext>
            </a:extLst>
          </p:cNvPr>
          <p:cNvSpPr/>
          <p:nvPr/>
        </p:nvSpPr>
        <p:spPr>
          <a:xfrm>
            <a:off x="8587409" y="5192698"/>
            <a:ext cx="2716695" cy="41368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ahoma" panose="020B0604030504040204" pitchFamily="34" charset="0"/>
                <a:ea typeface="Tahoma" panose="020B0604030504040204" pitchFamily="34" charset="0"/>
                <a:cs typeface="Tahoma" panose="020B0604030504040204" pitchFamily="34" charset="0"/>
              </a:rPr>
              <a:t>Slope weight =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0.3</a:t>
            </a:r>
            <a:r>
              <a:rPr lang="en-US" sz="1600" dirty="0">
                <a:latin typeface="Tahoma" panose="020B0604030504040204" pitchFamily="34" charset="0"/>
                <a:ea typeface="Tahoma" panose="020B0604030504040204" pitchFamily="34" charset="0"/>
                <a:cs typeface="Tahoma" panose="020B0604030504040204" pitchFamily="34" charset="0"/>
              </a:rPr>
              <a:t> </a:t>
            </a:r>
            <a:endParaRPr lang="en-US" sz="1600" dirty="0"/>
          </a:p>
        </p:txBody>
      </p:sp>
      <p:sp>
        <p:nvSpPr>
          <p:cNvPr id="20" name="Rounded Rectangle 19">
            <a:extLst>
              <a:ext uri="{FF2B5EF4-FFF2-40B4-BE49-F238E27FC236}">
                <a16:creationId xmlns:a16="http://schemas.microsoft.com/office/drawing/2014/main" id="{3A2737F9-58E4-0173-C3E7-EB3B413E91BA}"/>
              </a:ext>
            </a:extLst>
          </p:cNvPr>
          <p:cNvSpPr/>
          <p:nvPr/>
        </p:nvSpPr>
        <p:spPr>
          <a:xfrm>
            <a:off x="4856388" y="1803208"/>
            <a:ext cx="2456226" cy="8068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200000"/>
              </a:lnSpc>
            </a:pPr>
            <a:r>
              <a:rPr lang="en-US" sz="1600" dirty="0">
                <a:latin typeface="Tahoma" panose="020B0604030504040204" pitchFamily="34" charset="0"/>
                <a:ea typeface="Tahoma" panose="020B0604030504040204" pitchFamily="34" charset="0"/>
                <a:cs typeface="Tahoma" panose="020B0604030504040204" pitchFamily="34" charset="0"/>
              </a:rPr>
              <a:t>FNO Parameter Count</a:t>
            </a:r>
          </a:p>
          <a:p>
            <a:pPr algn="ctr"/>
            <a:r>
              <a:rPr lang="en-US" sz="1600" dirty="0">
                <a:latin typeface="Tahoma" panose="020B0604030504040204" pitchFamily="34" charset="0"/>
                <a:ea typeface="Tahoma" panose="020B0604030504040204" pitchFamily="34" charset="0"/>
                <a:cs typeface="Tahoma" panose="020B0604030504040204" pitchFamily="34" charset="0"/>
              </a:rPr>
              <a:t>=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55449</a:t>
            </a:r>
            <a:endParaRPr lang="en-US" sz="1600" b="1" dirty="0">
              <a:solidFill>
                <a:srgbClr val="2B628C"/>
              </a:solidFill>
            </a:endParaRPr>
          </a:p>
        </p:txBody>
      </p:sp>
      <p:sp>
        <p:nvSpPr>
          <p:cNvPr id="21" name="Rounded Rectangle 20">
            <a:extLst>
              <a:ext uri="{FF2B5EF4-FFF2-40B4-BE49-F238E27FC236}">
                <a16:creationId xmlns:a16="http://schemas.microsoft.com/office/drawing/2014/main" id="{FDFB5F29-EDE0-4CF5-A6FA-08CCB0C7D878}"/>
              </a:ext>
            </a:extLst>
          </p:cNvPr>
          <p:cNvSpPr/>
          <p:nvPr/>
        </p:nvSpPr>
        <p:spPr>
          <a:xfrm>
            <a:off x="4896238" y="4788829"/>
            <a:ext cx="2456226" cy="8068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200000"/>
              </a:lnSpc>
            </a:pPr>
            <a:r>
              <a:rPr lang="en-US" sz="1600" dirty="0">
                <a:latin typeface="Tahoma" panose="020B0604030504040204" pitchFamily="34" charset="0"/>
                <a:ea typeface="Tahoma" panose="020B0604030504040204" pitchFamily="34" charset="0"/>
                <a:cs typeface="Tahoma" panose="020B0604030504040204" pitchFamily="34" charset="0"/>
              </a:rPr>
              <a:t>Output resolution</a:t>
            </a:r>
          </a:p>
          <a:p>
            <a:pPr algn="ctr"/>
            <a:r>
              <a:rPr lang="en-US" sz="1600" dirty="0">
                <a:latin typeface="Tahoma" panose="020B0604030504040204" pitchFamily="34" charset="0"/>
                <a:ea typeface="Tahoma" panose="020B0604030504040204" pitchFamily="34" charset="0"/>
                <a:cs typeface="Tahoma" panose="020B0604030504040204" pitchFamily="34" charset="0"/>
              </a:rPr>
              <a:t>=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192</a:t>
            </a:r>
            <a:r>
              <a:rPr lang="en-US" b="1" baseline="30000" dirty="0">
                <a:solidFill>
                  <a:srgbClr val="2B628C"/>
                </a:solidFill>
                <a:latin typeface="Tahoma" panose="020B0604030504040204" pitchFamily="34" charset="0"/>
                <a:ea typeface="Tahoma" panose="020B0604030504040204" pitchFamily="34" charset="0"/>
                <a:cs typeface="Tahoma" panose="020B0604030504040204" pitchFamily="34" charset="0"/>
              </a:rPr>
              <a:t>3</a:t>
            </a:r>
            <a:endParaRPr lang="en-US" sz="1600" b="1" baseline="30000" dirty="0">
              <a:solidFill>
                <a:srgbClr val="2B628C"/>
              </a:solidFill>
            </a:endParaRPr>
          </a:p>
        </p:txBody>
      </p:sp>
      <p:sp>
        <p:nvSpPr>
          <p:cNvPr id="22" name="Rounded Rectangle 21">
            <a:extLst>
              <a:ext uri="{FF2B5EF4-FFF2-40B4-BE49-F238E27FC236}">
                <a16:creationId xmlns:a16="http://schemas.microsoft.com/office/drawing/2014/main" id="{48E64EED-D737-600D-BDB1-E02A6858CDE5}"/>
              </a:ext>
            </a:extLst>
          </p:cNvPr>
          <p:cNvSpPr/>
          <p:nvPr/>
        </p:nvSpPr>
        <p:spPr>
          <a:xfrm>
            <a:off x="4872752" y="2844553"/>
            <a:ext cx="2456226" cy="8068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200000"/>
              </a:lnSpc>
            </a:pPr>
            <a:r>
              <a:rPr lang="en-US" sz="1600" dirty="0">
                <a:latin typeface="Tahoma" panose="020B0604030504040204" pitchFamily="34" charset="0"/>
                <a:ea typeface="Tahoma" panose="020B0604030504040204" pitchFamily="34" charset="0"/>
                <a:cs typeface="Tahoma" panose="020B0604030504040204" pitchFamily="34" charset="0"/>
              </a:rPr>
              <a:t>U-net Parameter Count</a:t>
            </a:r>
          </a:p>
          <a:p>
            <a:pPr algn="ctr"/>
            <a:r>
              <a:rPr lang="en-US" sz="1600" dirty="0">
                <a:latin typeface="Tahoma" panose="020B0604030504040204" pitchFamily="34" charset="0"/>
                <a:ea typeface="Tahoma" panose="020B0604030504040204" pitchFamily="34" charset="0"/>
                <a:cs typeface="Tahoma" panose="020B0604030504040204" pitchFamily="34" charset="0"/>
              </a:rPr>
              <a:t>=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3931</a:t>
            </a:r>
            <a:endParaRPr lang="en-US" sz="1600" b="1" dirty="0">
              <a:solidFill>
                <a:srgbClr val="2B628C"/>
              </a:solidFill>
            </a:endParaRPr>
          </a:p>
        </p:txBody>
      </p:sp>
      <p:sp>
        <p:nvSpPr>
          <p:cNvPr id="23" name="Rounded Rectangle 22">
            <a:extLst>
              <a:ext uri="{FF2B5EF4-FFF2-40B4-BE49-F238E27FC236}">
                <a16:creationId xmlns:a16="http://schemas.microsoft.com/office/drawing/2014/main" id="{7008EEC2-0E45-0143-C222-99955DD7F70A}"/>
              </a:ext>
            </a:extLst>
          </p:cNvPr>
          <p:cNvSpPr/>
          <p:nvPr/>
        </p:nvSpPr>
        <p:spPr>
          <a:xfrm>
            <a:off x="4896238" y="3814167"/>
            <a:ext cx="2456226" cy="8068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200000"/>
              </a:lnSpc>
            </a:pPr>
            <a:r>
              <a:rPr lang="en-US" sz="1600" dirty="0">
                <a:latin typeface="Tahoma" panose="020B0604030504040204" pitchFamily="34" charset="0"/>
                <a:ea typeface="Tahoma" panose="020B0604030504040204" pitchFamily="34" charset="0"/>
                <a:cs typeface="Tahoma" panose="020B0604030504040204" pitchFamily="34" charset="0"/>
              </a:rPr>
              <a:t>Input resolution</a:t>
            </a:r>
          </a:p>
          <a:p>
            <a:pPr algn="ctr"/>
            <a:r>
              <a:rPr lang="en-US" sz="1600" dirty="0">
                <a:latin typeface="Tahoma" panose="020B0604030504040204" pitchFamily="34" charset="0"/>
                <a:ea typeface="Tahoma" panose="020B0604030504040204" pitchFamily="34" charset="0"/>
                <a:cs typeface="Tahoma" panose="020B0604030504040204" pitchFamily="34" charset="0"/>
              </a:rPr>
              <a:t>= </a:t>
            </a:r>
            <a:r>
              <a:rPr lang="en-US" b="1" dirty="0">
                <a:solidFill>
                  <a:srgbClr val="2B628C"/>
                </a:solidFill>
                <a:latin typeface="Tahoma" panose="020B0604030504040204" pitchFamily="34" charset="0"/>
                <a:ea typeface="Tahoma" panose="020B0604030504040204" pitchFamily="34" charset="0"/>
                <a:cs typeface="Tahoma" panose="020B0604030504040204" pitchFamily="34" charset="0"/>
              </a:rPr>
              <a:t>128</a:t>
            </a:r>
            <a:r>
              <a:rPr lang="en-US" b="1" baseline="30000" dirty="0">
                <a:solidFill>
                  <a:srgbClr val="2B628C"/>
                </a:solidFill>
                <a:latin typeface="Tahoma" panose="020B0604030504040204" pitchFamily="34" charset="0"/>
                <a:ea typeface="Tahoma" panose="020B0604030504040204" pitchFamily="34" charset="0"/>
                <a:cs typeface="Tahoma" panose="020B0604030504040204" pitchFamily="34" charset="0"/>
              </a:rPr>
              <a:t>3</a:t>
            </a:r>
            <a:endParaRPr lang="en-US" sz="1600" b="1" baseline="30000" dirty="0">
              <a:solidFill>
                <a:srgbClr val="2B628C"/>
              </a:solidFill>
            </a:endParaRPr>
          </a:p>
        </p:txBody>
      </p:sp>
    </p:spTree>
    <p:extLst>
      <p:ext uri="{BB962C8B-B14F-4D97-AF65-F5344CB8AC3E}">
        <p14:creationId xmlns:p14="http://schemas.microsoft.com/office/powerpoint/2010/main" val="1676213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4E865-83B8-0F71-9BA6-C3695BA4D20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ABB03F5-516D-B303-97D3-EEC2702428D8}"/>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7D13607-440D-DECC-BCBE-4E1B1676043D}"/>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A6BD423-10B7-C9A6-1877-A50F8827811A}"/>
              </a:ext>
            </a:extLst>
          </p:cNvPr>
          <p:cNvSpPr/>
          <p:nvPr/>
        </p:nvSpPr>
        <p:spPr>
          <a:xfrm>
            <a:off x="628164" y="1229324"/>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EFCA076-6E19-2AD8-EF4B-8F465F282190}"/>
              </a:ext>
            </a:extLst>
          </p:cNvPr>
          <p:cNvSpPr/>
          <p:nvPr/>
        </p:nvSpPr>
        <p:spPr>
          <a:xfrm>
            <a:off x="680716" y="1325231"/>
            <a:ext cx="11458732" cy="4768535"/>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6C6EE531-5B26-5795-A48E-7239960E1B60}"/>
              </a:ext>
            </a:extLst>
          </p:cNvPr>
          <p:cNvSpPr txBox="1"/>
          <p:nvPr/>
        </p:nvSpPr>
        <p:spPr>
          <a:xfrm>
            <a:off x="838412" y="525906"/>
            <a:ext cx="4759199"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Memory Requirements</a:t>
            </a:r>
          </a:p>
        </p:txBody>
      </p:sp>
      <p:sp>
        <p:nvSpPr>
          <p:cNvPr id="10" name="Content Placeholder 2">
            <a:extLst>
              <a:ext uri="{FF2B5EF4-FFF2-40B4-BE49-F238E27FC236}">
                <a16:creationId xmlns:a16="http://schemas.microsoft.com/office/drawing/2014/main" id="{1874D2A5-2C58-D43F-42C6-0E8C8144B87B}"/>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EB334014-7F89-EB51-7688-D4511FA5174E}"/>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CBF5CC3F-EB89-545D-F533-FBB17C4DC0A8}"/>
              </a:ext>
            </a:extLst>
          </p:cNvPr>
          <p:cNvSpPr/>
          <p:nvPr/>
        </p:nvSpPr>
        <p:spPr>
          <a:xfrm>
            <a:off x="680716" y="6093766"/>
            <a:ext cx="11458732" cy="764234"/>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B1A4FE89-2E93-4441-E40D-A7D61A25885B}"/>
                  </a:ext>
                </a:extLst>
              </p:cNvPr>
              <p:cNvGraphicFramePr>
                <a:graphicFrameLocks noGrp="1"/>
              </p:cNvGraphicFramePr>
              <p:nvPr/>
            </p:nvGraphicFramePr>
            <p:xfrm>
              <a:off x="1498362" y="1717865"/>
              <a:ext cx="9368422" cy="3274270"/>
            </p:xfrm>
            <a:graphic>
              <a:graphicData uri="http://schemas.openxmlformats.org/drawingml/2006/table">
                <a:tbl>
                  <a:tblPr firstRow="1" firstCol="1" bandRow="1">
                    <a:tableStyleId>{5940675A-B579-460E-94D1-54222C63F5DA}</a:tableStyleId>
                  </a:tblPr>
                  <a:tblGrid>
                    <a:gridCol w="6717987">
                      <a:extLst>
                        <a:ext uri="{9D8B030D-6E8A-4147-A177-3AD203B41FA5}">
                          <a16:colId xmlns:a16="http://schemas.microsoft.com/office/drawing/2014/main" val="3020828888"/>
                        </a:ext>
                      </a:extLst>
                    </a:gridCol>
                    <a:gridCol w="2650435">
                      <a:extLst>
                        <a:ext uri="{9D8B030D-6E8A-4147-A177-3AD203B41FA5}">
                          <a16:colId xmlns:a16="http://schemas.microsoft.com/office/drawing/2014/main" val="4122923738"/>
                        </a:ext>
                      </a:extLst>
                    </a:gridCol>
                  </a:tblGrid>
                  <a:tr h="517326">
                    <a:tc gridSpan="2">
                      <a:txBody>
                        <a:bodyPr/>
                        <a:lstStyle/>
                        <a:p>
                          <a:pPr marL="0" marR="0" algn="ctr">
                            <a:lnSpc>
                              <a:spcPct val="100000"/>
                            </a:lnSpc>
                            <a:spcBef>
                              <a:spcPts val="0"/>
                            </a:spcBef>
                            <a:spcAft>
                              <a:spcPts val="0"/>
                            </a:spcAft>
                          </a:pPr>
                          <a:r>
                            <a:rPr lang="en-US" altLang="en-US" sz="1600" b="1" dirty="0">
                              <a:solidFill>
                                <a:srgbClr val="000000"/>
                              </a:solidFill>
                              <a:latin typeface="Tahoma" panose="020B0604030504040204" pitchFamily="34" charset="0"/>
                              <a:ea typeface="Times New Roman" panose="02020603050405020304" pitchFamily="18" charset="0"/>
                            </a:rPr>
                            <a:t>Breakdown of the m</a:t>
                          </a:r>
                          <a:r>
                            <a:rPr kumimoji="0" lang="en-US" altLang="en-US" sz="1600" b="1" i="0" u="none" strike="noStrike" cap="none" normalizeH="0" baseline="0" dirty="0">
                              <a:ln>
                                <a:noFill/>
                              </a:ln>
                              <a:solidFill>
                                <a:srgbClr val="000000"/>
                              </a:solidFill>
                              <a:effectLst/>
                              <a:latin typeface="Tahoma" panose="020B0604030504040204" pitchFamily="34" charset="0"/>
                              <a:ea typeface="Times New Roman" panose="02020603050405020304" pitchFamily="18" charset="0"/>
                            </a:rPr>
                            <a:t>emory budget</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solidFill>
                          <a:schemeClr val="bg2">
                            <a:lumMod val="9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solidFill>
                          <a:schemeClr val="bg2">
                            <a:lumMod val="90000"/>
                          </a:schemeClr>
                        </a:solidFill>
                      </a:tcPr>
                    </a:tc>
                    <a:extLst>
                      <a:ext uri="{0D108BD9-81ED-4DB2-BD59-A6C34878D82A}">
                        <a16:rowId xmlns:a16="http://schemas.microsoft.com/office/drawing/2014/main" val="2681164120"/>
                      </a:ext>
                    </a:extLst>
                  </a:tr>
                  <a:tr h="517326">
                    <a:tc>
                      <a:txBody>
                        <a:bodyPr/>
                        <a:lstStyle/>
                        <a:p>
                          <a:pPr marL="0" marR="0" algn="ctr">
                            <a:lnSpc>
                              <a:spcPct val="100000"/>
                            </a:lnSpc>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FNO activations (width=4, layer=2, points=192</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800" b="1" i="0" kern="1200" smtClean="0">
                                  <a:solidFill>
                                    <a:srgbClr val="2B628C"/>
                                  </a:solidFill>
                                  <a:effectLst/>
                                  <a:latin typeface="Cambria Math" panose="02040503050406030204" pitchFamily="18" charset="0"/>
                                  <a:ea typeface="Cambria Math" panose="02040503050406030204" pitchFamily="18" charset="0"/>
                                  <a:cs typeface="+mn-cs"/>
                                </a:rPr>
                                <m:t>~</m:t>
                              </m:r>
                              <m:r>
                                <a:rPr lang="en-US" sz="1800" b="1" i="0" kern="1200" smtClean="0">
                                  <a:solidFill>
                                    <a:srgbClr val="2B628C"/>
                                  </a:solidFill>
                                  <a:effectLst/>
                                  <a:latin typeface="Cambria Math" panose="02040503050406030204" pitchFamily="18" charset="0"/>
                                  <a:ea typeface="Cambria Math" panose="02040503050406030204" pitchFamily="18" charset="0"/>
                                  <a:cs typeface="+mn-cs"/>
                                </a:rPr>
                                <m:t>𝟑</m:t>
                              </m:r>
                              <m:r>
                                <a:rPr lang="en-US" sz="1800" b="1" i="0" kern="1200" smtClean="0">
                                  <a:solidFill>
                                    <a:srgbClr val="2B628C"/>
                                  </a:solidFill>
                                  <a:effectLst/>
                                  <a:latin typeface="Cambria Math" panose="02040503050406030204" pitchFamily="18" charset="0"/>
                                  <a:ea typeface="Cambria Math" panose="02040503050406030204" pitchFamily="18" charset="0"/>
                                  <a:cs typeface="+mn-cs"/>
                                </a:rPr>
                                <m:t>.</m:t>
                              </m:r>
                              <m:r>
                                <a:rPr lang="en-US" sz="1800" b="1" i="0" kern="1200" smtClean="0">
                                  <a:solidFill>
                                    <a:srgbClr val="2B628C"/>
                                  </a:solidFill>
                                  <a:effectLst/>
                                  <a:latin typeface="Cambria Math" panose="02040503050406030204" pitchFamily="18" charset="0"/>
                                  <a:ea typeface="Cambria Math" panose="02040503050406030204" pitchFamily="18" charset="0"/>
                                  <a:cs typeface="+mn-cs"/>
                                </a:rPr>
                                <m:t>𝟔</m:t>
                              </m:r>
                            </m:oMath>
                          </a14:m>
                          <a:r>
                            <a:rPr lang="en-US" sz="1800" b="1" dirty="0">
                              <a:solidFill>
                                <a:srgbClr val="2B628C"/>
                              </a:solidFill>
                              <a:effectLst/>
                              <a:latin typeface="Tahoma" panose="020B0604030504040204" pitchFamily="34" charset="0"/>
                              <a:ea typeface="Tahoma" panose="020B0604030504040204" pitchFamily="34" charset="0"/>
                              <a:cs typeface="Tahoma" panose="020B0604030504040204" pitchFamily="34" charset="0"/>
                            </a:rPr>
                            <a:t> </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GB</a:t>
                          </a:r>
                        </a:p>
                      </a:txBody>
                      <a:tcPr marL="68580" marR="68580" marT="0" marB="0" anchor="ctr">
                        <a:solidFill>
                          <a:schemeClr val="bg1"/>
                        </a:solidFill>
                      </a:tcPr>
                    </a:tc>
                    <a:extLst>
                      <a:ext uri="{0D108BD9-81ED-4DB2-BD59-A6C34878D82A}">
                        <a16:rowId xmlns:a16="http://schemas.microsoft.com/office/drawing/2014/main" val="857250396"/>
                      </a:ext>
                    </a:extLst>
                  </a:tr>
                  <a:tr h="583096">
                    <a:tc>
                      <a:txBody>
                        <a:bodyPr/>
                        <a:lstStyle/>
                        <a:p>
                          <a:pPr marL="0" marR="0" algn="ctr">
                            <a:lnSpc>
                              <a:spcPct val="100000"/>
                            </a:lnSpc>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U-net activations (base channels=2, points=192</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1" i="0" kern="1200" smtClean="0">
                                    <a:solidFill>
                                      <a:srgbClr val="2B628C"/>
                                    </a:solidFill>
                                    <a:effectLst/>
                                    <a:latin typeface="Cambria Math" panose="02040503050406030204" pitchFamily="18" charset="0"/>
                                    <a:ea typeface="Cambria Math" panose="02040503050406030204" pitchFamily="18" charset="0"/>
                                    <a:cs typeface="+mn-cs"/>
                                  </a:rPr>
                                  <m:t>~</m:t>
                                </m:r>
                                <m:r>
                                  <a:rPr lang="en-US" sz="1800" b="1" i="0" kern="1200" smtClean="0">
                                    <a:solidFill>
                                      <a:srgbClr val="2B628C"/>
                                    </a:solidFill>
                                    <a:effectLst/>
                                    <a:latin typeface="Cambria Math" panose="02040503050406030204" pitchFamily="18" charset="0"/>
                                    <a:ea typeface="Cambria Math" panose="02040503050406030204" pitchFamily="18" charset="0"/>
                                    <a:cs typeface="+mn-cs"/>
                                  </a:rPr>
                                  <m:t>𝟏</m:t>
                                </m:r>
                                <m:r>
                                  <a:rPr lang="en-US" sz="1800" b="1" i="0" kern="1200" smtClean="0">
                                    <a:solidFill>
                                      <a:srgbClr val="2B628C"/>
                                    </a:solidFill>
                                    <a:effectLst/>
                                    <a:latin typeface="Cambria Math" panose="02040503050406030204" pitchFamily="18" charset="0"/>
                                    <a:ea typeface="Cambria Math" panose="02040503050406030204" pitchFamily="18" charset="0"/>
                                    <a:cs typeface="+mn-cs"/>
                                  </a:rPr>
                                  <m:t>.</m:t>
                                </m:r>
                                <m:r>
                                  <m:rPr>
                                    <m:nor/>
                                  </m:rPr>
                                  <a:rPr lang="en-US" sz="1800" b="0" i="0" kern="1200" smtClean="0">
                                    <a:solidFill>
                                      <a:srgbClr val="2B628C"/>
                                    </a:solidFill>
                                    <a:effectLst/>
                                    <a:latin typeface="Cambria Math" panose="02040503050406030204" pitchFamily="18" charset="0"/>
                                    <a:ea typeface="Cambria Math" panose="02040503050406030204" pitchFamily="18" charset="0"/>
                                    <a:cs typeface="+mn-cs"/>
                                  </a:rPr>
                                  <m:t>1</m:t>
                                </m:r>
                                <m:r>
                                  <m:rPr>
                                    <m:nor/>
                                  </m:rPr>
                                  <a:rPr lang="en-US" sz="1800" b="0" i="0" dirty="0">
                                    <a:solidFill>
                                      <a:srgbClr val="2B628C"/>
                                    </a:solidFill>
                                    <a:effectLst/>
                                    <a:latin typeface="Tahoma" panose="020B0604030504040204" pitchFamily="34" charset="0"/>
                                    <a:ea typeface="Tahoma" panose="020B0604030504040204" pitchFamily="34" charset="0"/>
                                    <a:cs typeface="Tahoma" panose="020B0604030504040204" pitchFamily="34" charset="0"/>
                                  </a:rPr>
                                  <m:t> </m:t>
                                </m:r>
                                <m:r>
                                  <m:rPr>
                                    <m:nor/>
                                  </m:rPr>
                                  <a:rPr lang="en-US" sz="1600" i="0" dirty="0">
                                    <a:solidFill>
                                      <a:schemeClr val="tx1"/>
                                    </a:solidFill>
                                    <a:effectLst/>
                                    <a:latin typeface="Tahoma" panose="020B0604030504040204" pitchFamily="34" charset="0"/>
                                    <a:ea typeface="Tahoma" panose="020B0604030504040204" pitchFamily="34" charset="0"/>
                                    <a:cs typeface="Tahoma" panose="020B0604030504040204" pitchFamily="34" charset="0"/>
                                  </a:rPr>
                                  <m:t>GB</m:t>
                                </m:r>
                              </m:oMath>
                            </m:oMathPara>
                          </a14:m>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solidFill>
                          <a:schemeClr val="bg2">
                            <a:lumMod val="90000"/>
                          </a:schemeClr>
                        </a:solidFill>
                      </a:tcPr>
                    </a:tc>
                    <a:extLst>
                      <a:ext uri="{0D108BD9-81ED-4DB2-BD59-A6C34878D82A}">
                        <a16:rowId xmlns:a16="http://schemas.microsoft.com/office/drawing/2014/main" val="990567453"/>
                      </a:ext>
                    </a:extLst>
                  </a:tr>
                  <a:tr h="5433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Training data (pairs=2</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=8, Float64 in Julia)</a:t>
                          </a:r>
                        </a:p>
                      </a:txBody>
                      <a:tcPr marL="68580" marR="68580" marT="0" marB="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1" i="0" kern="1200" smtClean="0">
                                    <a:solidFill>
                                      <a:srgbClr val="2B628C"/>
                                    </a:solidFill>
                                    <a:effectLst/>
                                    <a:latin typeface="Cambria Math" panose="02040503050406030204" pitchFamily="18" charset="0"/>
                                    <a:ea typeface="Cambria Math" panose="02040503050406030204" pitchFamily="18" charset="0"/>
                                    <a:cs typeface="+mn-cs"/>
                                  </a:rPr>
                                  <m:t>~</m:t>
                                </m:r>
                                <m:r>
                                  <a:rPr lang="en-US" sz="1800" b="1" i="0" kern="1200" smtClean="0">
                                    <a:solidFill>
                                      <a:srgbClr val="2B628C"/>
                                    </a:solidFill>
                                    <a:effectLst/>
                                    <a:latin typeface="Cambria Math" panose="02040503050406030204" pitchFamily="18" charset="0"/>
                                    <a:ea typeface="Cambria Math" panose="02040503050406030204" pitchFamily="18" charset="0"/>
                                    <a:cs typeface="+mn-cs"/>
                                  </a:rPr>
                                  <m:t>𝟏</m:t>
                                </m:r>
                                <m:r>
                                  <a:rPr lang="en-US" sz="1800" b="1" i="0" kern="1200" smtClean="0">
                                    <a:solidFill>
                                      <a:srgbClr val="2B628C"/>
                                    </a:solidFill>
                                    <a:effectLst/>
                                    <a:latin typeface="Cambria Math" panose="02040503050406030204" pitchFamily="18" charset="0"/>
                                    <a:ea typeface="Cambria Math" panose="02040503050406030204" pitchFamily="18" charset="0"/>
                                    <a:cs typeface="+mn-cs"/>
                                  </a:rPr>
                                  <m:t>.</m:t>
                                </m:r>
                                <m:r>
                                  <m:rPr>
                                    <m:nor/>
                                  </m:rPr>
                                  <a:rPr lang="en-US" sz="1800" b="0" i="0" kern="1200" smtClean="0">
                                    <a:solidFill>
                                      <a:srgbClr val="2B628C"/>
                                    </a:solidFill>
                                    <a:effectLst/>
                                    <a:latin typeface="Cambria Math" panose="02040503050406030204" pitchFamily="18" charset="0"/>
                                    <a:ea typeface="Cambria Math" panose="02040503050406030204" pitchFamily="18" charset="0"/>
                                    <a:cs typeface="+mn-cs"/>
                                  </a:rPr>
                                  <m:t>15</m:t>
                                </m:r>
                                <m:r>
                                  <m:rPr>
                                    <m:nor/>
                                  </m:rPr>
                                  <a:rPr lang="en-US" sz="1800" b="0" i="0" dirty="0">
                                    <a:solidFill>
                                      <a:srgbClr val="2B628C"/>
                                    </a:solidFill>
                                    <a:effectLst/>
                                    <a:latin typeface="Tahoma" panose="020B0604030504040204" pitchFamily="34" charset="0"/>
                                    <a:ea typeface="Tahoma" panose="020B0604030504040204" pitchFamily="34" charset="0"/>
                                    <a:cs typeface="Tahoma" panose="020B0604030504040204" pitchFamily="34" charset="0"/>
                                  </a:rPr>
                                  <m:t> </m:t>
                                </m:r>
                                <m:r>
                                  <m:rPr>
                                    <m:nor/>
                                  </m:rPr>
                                  <a:rPr lang="en-US" sz="1600" i="0" dirty="0">
                                    <a:solidFill>
                                      <a:schemeClr val="tx1"/>
                                    </a:solidFill>
                                    <a:effectLst/>
                                    <a:latin typeface="Tahoma" panose="020B0604030504040204" pitchFamily="34" charset="0"/>
                                    <a:ea typeface="Tahoma" panose="020B0604030504040204" pitchFamily="34" charset="0"/>
                                    <a:cs typeface="Tahoma" panose="020B0604030504040204" pitchFamily="34" charset="0"/>
                                  </a:rPr>
                                  <m:t>GB</m:t>
                                </m:r>
                              </m:oMath>
                            </m:oMathPara>
                          </a14:m>
                          <a:endParaRPr lang="en-US" sz="12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solidFill>
                          <a:schemeClr val="bg1"/>
                        </a:solidFill>
                      </a:tcPr>
                    </a:tc>
                    <a:extLst>
                      <a:ext uri="{0D108BD9-81ED-4DB2-BD59-A6C34878D82A}">
                        <a16:rowId xmlns:a16="http://schemas.microsoft.com/office/drawing/2014/main" val="3844778031"/>
                      </a:ext>
                    </a:extLst>
                  </a:tr>
                  <a:tr h="5300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Overhead for optimizer + framework</a:t>
                          </a:r>
                        </a:p>
                      </a:txBody>
                      <a:tcPr marL="68580" marR="68580" marT="0" marB="0"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1" i="0" kern="1200" smtClean="0">
                                    <a:solidFill>
                                      <a:srgbClr val="2B628C"/>
                                    </a:solidFill>
                                    <a:effectLst/>
                                    <a:latin typeface="Cambria Math" panose="02040503050406030204" pitchFamily="18" charset="0"/>
                                    <a:ea typeface="Cambria Math" panose="02040503050406030204" pitchFamily="18" charset="0"/>
                                    <a:cs typeface="+mn-cs"/>
                                  </a:rPr>
                                  <m:t>~</m:t>
                                </m:r>
                                <m:r>
                                  <a:rPr lang="en-US" sz="1800" b="1" i="0" kern="1200" smtClean="0">
                                    <a:solidFill>
                                      <a:srgbClr val="2B628C"/>
                                    </a:solidFill>
                                    <a:effectLst/>
                                    <a:latin typeface="Cambria Math" panose="02040503050406030204" pitchFamily="18" charset="0"/>
                                    <a:ea typeface="Cambria Math" panose="02040503050406030204" pitchFamily="18" charset="0"/>
                                    <a:cs typeface="+mn-cs"/>
                                  </a:rPr>
                                  <m:t>𝟏</m:t>
                                </m:r>
                                <m:r>
                                  <a:rPr lang="en-US" sz="1800" b="1" i="0" kern="1200" smtClean="0">
                                    <a:solidFill>
                                      <a:srgbClr val="2B628C"/>
                                    </a:solidFill>
                                    <a:effectLst/>
                                    <a:latin typeface="Cambria Math" panose="02040503050406030204" pitchFamily="18" charset="0"/>
                                    <a:ea typeface="Cambria Math" panose="02040503050406030204" pitchFamily="18" charset="0"/>
                                    <a:cs typeface="+mn-cs"/>
                                  </a:rPr>
                                  <m:t>.</m:t>
                                </m:r>
                                <m:r>
                                  <a:rPr lang="en-US" sz="1800" b="1" i="0" kern="1200" smtClean="0">
                                    <a:solidFill>
                                      <a:srgbClr val="2B628C"/>
                                    </a:solidFill>
                                    <a:effectLst/>
                                    <a:latin typeface="Cambria Math" panose="02040503050406030204" pitchFamily="18" charset="0"/>
                                    <a:ea typeface="Cambria Math" panose="02040503050406030204" pitchFamily="18" charset="0"/>
                                    <a:cs typeface="+mn-cs"/>
                                  </a:rPr>
                                  <m:t>𝟓</m:t>
                                </m:r>
                                <m:r>
                                  <m:rPr>
                                    <m:nor/>
                                  </m:rPr>
                                  <a:rPr lang="en-US" sz="1800" b="0" i="0" dirty="0">
                                    <a:solidFill>
                                      <a:srgbClr val="2B628C"/>
                                    </a:solidFill>
                                    <a:effectLst/>
                                    <a:latin typeface="Tahoma" panose="020B0604030504040204" pitchFamily="34" charset="0"/>
                                    <a:ea typeface="Tahoma" panose="020B0604030504040204" pitchFamily="34" charset="0"/>
                                    <a:cs typeface="Tahoma" panose="020B0604030504040204" pitchFamily="34" charset="0"/>
                                  </a:rPr>
                                  <m:t> </m:t>
                                </m:r>
                                <m:r>
                                  <m:rPr>
                                    <m:nor/>
                                  </m:rPr>
                                  <a:rPr lang="en-US" sz="1600" i="0" dirty="0">
                                    <a:solidFill>
                                      <a:schemeClr val="tx1"/>
                                    </a:solidFill>
                                    <a:effectLst/>
                                    <a:latin typeface="Tahoma" panose="020B0604030504040204" pitchFamily="34" charset="0"/>
                                    <a:ea typeface="Tahoma" panose="020B0604030504040204" pitchFamily="34" charset="0"/>
                                    <a:cs typeface="Tahoma" panose="020B0604030504040204" pitchFamily="34" charset="0"/>
                                  </a:rPr>
                                  <m:t>GB</m:t>
                                </m:r>
                              </m:oMath>
                            </m:oMathPara>
                          </a14:m>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solidFill>
                          <a:schemeClr val="bg2">
                            <a:lumMod val="90000"/>
                          </a:schemeClr>
                        </a:solidFill>
                      </a:tcPr>
                    </a:tc>
                    <a:extLst>
                      <a:ext uri="{0D108BD9-81ED-4DB2-BD59-A6C34878D82A}">
                        <a16:rowId xmlns:a16="http://schemas.microsoft.com/office/drawing/2014/main" val="1011329732"/>
                      </a:ext>
                    </a:extLst>
                  </a:tr>
                  <a:tr h="5830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Total</a:t>
                          </a:r>
                        </a:p>
                      </a:txBody>
                      <a:tcPr marL="68580" marR="68580" marT="0" marB="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1" i="0" kern="1200" smtClean="0">
                                    <a:solidFill>
                                      <a:srgbClr val="2B628C"/>
                                    </a:solidFill>
                                    <a:effectLst/>
                                    <a:latin typeface="Cambria Math" panose="02040503050406030204" pitchFamily="18" charset="0"/>
                                    <a:ea typeface="Cambria Math" panose="02040503050406030204" pitchFamily="18" charset="0"/>
                                    <a:cs typeface="+mn-cs"/>
                                  </a:rPr>
                                  <m:t>~</m:t>
                                </m:r>
                                <m:r>
                                  <a:rPr lang="en-US" sz="1800" b="1" i="0" kern="1200" smtClean="0">
                                    <a:solidFill>
                                      <a:srgbClr val="2B628C"/>
                                    </a:solidFill>
                                    <a:effectLst/>
                                    <a:latin typeface="Cambria Math" panose="02040503050406030204" pitchFamily="18" charset="0"/>
                                    <a:ea typeface="Cambria Math" panose="02040503050406030204" pitchFamily="18" charset="0"/>
                                    <a:cs typeface="+mn-cs"/>
                                  </a:rPr>
                                  <m:t>𝟕</m:t>
                                </m:r>
                                <m:r>
                                  <a:rPr lang="en-US" sz="1800" b="1" i="0" kern="1200" smtClean="0">
                                    <a:solidFill>
                                      <a:srgbClr val="2B628C"/>
                                    </a:solidFill>
                                    <a:effectLst/>
                                    <a:latin typeface="Cambria Math" panose="02040503050406030204" pitchFamily="18" charset="0"/>
                                    <a:ea typeface="Cambria Math" panose="02040503050406030204" pitchFamily="18" charset="0"/>
                                    <a:cs typeface="+mn-cs"/>
                                  </a:rPr>
                                  <m:t>.</m:t>
                                </m:r>
                                <m:r>
                                  <a:rPr lang="en-US" sz="1800" b="1" i="0" kern="1200" smtClean="0">
                                    <a:solidFill>
                                      <a:srgbClr val="2B628C"/>
                                    </a:solidFill>
                                    <a:effectLst/>
                                    <a:latin typeface="Cambria Math" panose="02040503050406030204" pitchFamily="18" charset="0"/>
                                    <a:ea typeface="Cambria Math" panose="02040503050406030204" pitchFamily="18" charset="0"/>
                                    <a:cs typeface="+mn-cs"/>
                                  </a:rPr>
                                  <m:t>𝟑𝟓</m:t>
                                </m:r>
                                <m:r>
                                  <m:rPr>
                                    <m:nor/>
                                  </m:rPr>
                                  <a:rPr lang="en-US" sz="1800" b="0" i="0" dirty="0">
                                    <a:solidFill>
                                      <a:srgbClr val="2B628C"/>
                                    </a:solidFill>
                                    <a:effectLst/>
                                    <a:latin typeface="Tahoma" panose="020B0604030504040204" pitchFamily="34" charset="0"/>
                                    <a:ea typeface="Tahoma" panose="020B0604030504040204" pitchFamily="34" charset="0"/>
                                    <a:cs typeface="Tahoma" panose="020B0604030504040204" pitchFamily="34" charset="0"/>
                                  </a:rPr>
                                  <m:t> </m:t>
                                </m:r>
                                <m:r>
                                  <m:rPr>
                                    <m:nor/>
                                  </m:rPr>
                                  <a:rPr lang="en-US" sz="1600" i="0" dirty="0">
                                    <a:solidFill>
                                      <a:schemeClr val="tx1"/>
                                    </a:solidFill>
                                    <a:effectLst/>
                                    <a:latin typeface="Tahoma" panose="020B0604030504040204" pitchFamily="34" charset="0"/>
                                    <a:ea typeface="Tahoma" panose="020B0604030504040204" pitchFamily="34" charset="0"/>
                                    <a:cs typeface="Tahoma" panose="020B0604030504040204" pitchFamily="34" charset="0"/>
                                  </a:rPr>
                                  <m:t>GB</m:t>
                                </m:r>
                              </m:oMath>
                            </m:oMathPara>
                          </a14:m>
                          <a:endParaRPr lang="en-US" sz="12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solidFill>
                          <a:schemeClr val="bg1"/>
                        </a:solidFill>
                      </a:tcPr>
                    </a:tc>
                    <a:extLst>
                      <a:ext uri="{0D108BD9-81ED-4DB2-BD59-A6C34878D82A}">
                        <a16:rowId xmlns:a16="http://schemas.microsoft.com/office/drawing/2014/main" val="3355476031"/>
                      </a:ext>
                    </a:extLst>
                  </a:tr>
                </a:tbl>
              </a:graphicData>
            </a:graphic>
          </p:graphicFrame>
        </mc:Choice>
        <mc:Fallback xmlns="">
          <p:graphicFrame>
            <p:nvGraphicFramePr>
              <p:cNvPr id="8" name="Table 7">
                <a:extLst>
                  <a:ext uri="{FF2B5EF4-FFF2-40B4-BE49-F238E27FC236}">
                    <a16:creationId xmlns:a16="http://schemas.microsoft.com/office/drawing/2014/main" id="{B1A4FE89-2E93-4441-E40D-A7D61A25885B}"/>
                  </a:ext>
                </a:extLst>
              </p:cNvPr>
              <p:cNvGraphicFramePr>
                <a:graphicFrameLocks noGrp="1"/>
              </p:cNvGraphicFramePr>
              <p:nvPr>
                <p:extLst>
                  <p:ext uri="{D42A27DB-BD31-4B8C-83A1-F6EECF244321}">
                    <p14:modId xmlns:p14="http://schemas.microsoft.com/office/powerpoint/2010/main" val="1796860656"/>
                  </p:ext>
                </p:extLst>
              </p:nvPr>
            </p:nvGraphicFramePr>
            <p:xfrm>
              <a:off x="1498362" y="1717865"/>
              <a:ext cx="9368422" cy="3274270"/>
            </p:xfrm>
            <a:graphic>
              <a:graphicData uri="http://schemas.openxmlformats.org/drawingml/2006/table">
                <a:tbl>
                  <a:tblPr firstRow="1" firstCol="1" bandRow="1">
                    <a:tableStyleId>{5940675A-B579-460E-94D1-54222C63F5DA}</a:tableStyleId>
                  </a:tblPr>
                  <a:tblGrid>
                    <a:gridCol w="6717987">
                      <a:extLst>
                        <a:ext uri="{9D8B030D-6E8A-4147-A177-3AD203B41FA5}">
                          <a16:colId xmlns:a16="http://schemas.microsoft.com/office/drawing/2014/main" val="3020828888"/>
                        </a:ext>
                      </a:extLst>
                    </a:gridCol>
                    <a:gridCol w="2650435">
                      <a:extLst>
                        <a:ext uri="{9D8B030D-6E8A-4147-A177-3AD203B41FA5}">
                          <a16:colId xmlns:a16="http://schemas.microsoft.com/office/drawing/2014/main" val="4122923738"/>
                        </a:ext>
                      </a:extLst>
                    </a:gridCol>
                  </a:tblGrid>
                  <a:tr h="517326">
                    <a:tc gridSpan="2">
                      <a:txBody>
                        <a:bodyPr/>
                        <a:lstStyle/>
                        <a:p>
                          <a:pPr marL="0" marR="0" algn="ctr">
                            <a:lnSpc>
                              <a:spcPct val="100000"/>
                            </a:lnSpc>
                            <a:spcBef>
                              <a:spcPts val="0"/>
                            </a:spcBef>
                            <a:spcAft>
                              <a:spcPts val="0"/>
                            </a:spcAft>
                          </a:pPr>
                          <a:r>
                            <a:rPr lang="en-US" altLang="en-US" sz="1600" b="1" dirty="0">
                              <a:solidFill>
                                <a:srgbClr val="000000"/>
                              </a:solidFill>
                              <a:latin typeface="Tahoma" panose="020B0604030504040204" pitchFamily="34" charset="0"/>
                              <a:ea typeface="Times New Roman" panose="02020603050405020304" pitchFamily="18" charset="0"/>
                            </a:rPr>
                            <a:t>Breakdown of the m</a:t>
                          </a:r>
                          <a:r>
                            <a:rPr kumimoji="0" lang="en-US" altLang="en-US" sz="1600" b="1" i="0" u="none" strike="noStrike" cap="none" normalizeH="0" baseline="0" dirty="0">
                              <a:ln>
                                <a:noFill/>
                              </a:ln>
                              <a:solidFill>
                                <a:srgbClr val="000000"/>
                              </a:solidFill>
                              <a:effectLst/>
                              <a:latin typeface="Tahoma" panose="020B0604030504040204" pitchFamily="34" charset="0"/>
                              <a:ea typeface="Times New Roman" panose="02020603050405020304" pitchFamily="18" charset="0"/>
                            </a:rPr>
                            <a:t>emory budget</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solidFill>
                          <a:schemeClr val="bg2">
                            <a:lumMod val="9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solidFill>
                          <a:schemeClr val="bg2">
                            <a:lumMod val="90000"/>
                          </a:schemeClr>
                        </a:solidFill>
                      </a:tcPr>
                    </a:tc>
                    <a:extLst>
                      <a:ext uri="{0D108BD9-81ED-4DB2-BD59-A6C34878D82A}">
                        <a16:rowId xmlns:a16="http://schemas.microsoft.com/office/drawing/2014/main" val="2681164120"/>
                      </a:ext>
                    </a:extLst>
                  </a:tr>
                  <a:tr h="517326">
                    <a:tc>
                      <a:txBody>
                        <a:bodyPr/>
                        <a:lstStyle/>
                        <a:p>
                          <a:pPr marL="0" marR="0" algn="ctr">
                            <a:lnSpc>
                              <a:spcPct val="100000"/>
                            </a:lnSpc>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FNO activations (width=4, layer=2, points=192</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solidFill>
                          <a:schemeClr val="bg1"/>
                        </a:solidFill>
                      </a:tcPr>
                    </a:tc>
                    <a:tc>
                      <a:txBody>
                        <a:bodyPr/>
                        <a:lstStyle/>
                        <a:p>
                          <a:endParaRPr lang="en-US"/>
                        </a:p>
                      </a:txBody>
                      <a:tcPr marL="68580" marR="68580" marT="0" marB="0" anchor="ctr">
                        <a:blipFill>
                          <a:blip r:embed="rId3"/>
                          <a:stretch>
                            <a:fillRect l="-253589" t="-102439" r="-478" b="-434146"/>
                          </a:stretch>
                        </a:blipFill>
                      </a:tcPr>
                    </a:tc>
                    <a:extLst>
                      <a:ext uri="{0D108BD9-81ED-4DB2-BD59-A6C34878D82A}">
                        <a16:rowId xmlns:a16="http://schemas.microsoft.com/office/drawing/2014/main" val="857250396"/>
                      </a:ext>
                    </a:extLst>
                  </a:tr>
                  <a:tr h="583096">
                    <a:tc>
                      <a:txBody>
                        <a:bodyPr/>
                        <a:lstStyle/>
                        <a:p>
                          <a:pPr marL="0" marR="0" algn="ctr">
                            <a:lnSpc>
                              <a:spcPct val="100000"/>
                            </a:lnSpc>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U-net activations (base channels=2, points=192</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solidFill>
                          <a:schemeClr val="bg2">
                            <a:lumMod val="90000"/>
                          </a:schemeClr>
                        </a:solidFill>
                      </a:tcPr>
                    </a:tc>
                    <a:tc>
                      <a:txBody>
                        <a:bodyPr/>
                        <a:lstStyle/>
                        <a:p>
                          <a:endParaRPr lang="en-US"/>
                        </a:p>
                      </a:txBody>
                      <a:tcPr marL="68580" marR="68580" marT="0" marB="0" anchor="ctr">
                        <a:blipFill>
                          <a:blip r:embed="rId3"/>
                          <a:stretch>
                            <a:fillRect l="-253589" t="-180435" r="-478" b="-286957"/>
                          </a:stretch>
                        </a:blipFill>
                      </a:tcPr>
                    </a:tc>
                    <a:extLst>
                      <a:ext uri="{0D108BD9-81ED-4DB2-BD59-A6C34878D82A}">
                        <a16:rowId xmlns:a16="http://schemas.microsoft.com/office/drawing/2014/main" val="990567453"/>
                      </a:ext>
                    </a:extLst>
                  </a:tr>
                  <a:tr h="5433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Training data (pairs=2</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=8, Float64 in Julia)</a:t>
                          </a:r>
                        </a:p>
                      </a:txBody>
                      <a:tcPr marL="68580" marR="68580" marT="0" marB="0" anchor="ctr">
                        <a:solidFill>
                          <a:schemeClr val="bg1"/>
                        </a:solidFill>
                      </a:tcPr>
                    </a:tc>
                    <a:tc>
                      <a:txBody>
                        <a:bodyPr/>
                        <a:lstStyle/>
                        <a:p>
                          <a:endParaRPr lang="en-US"/>
                        </a:p>
                      </a:txBody>
                      <a:tcPr marL="68580" marR="68580" marT="0" marB="0" anchor="ctr">
                        <a:blipFill>
                          <a:blip r:embed="rId3"/>
                          <a:stretch>
                            <a:fillRect l="-253589" t="-300000" r="-478" b="-206977"/>
                          </a:stretch>
                        </a:blipFill>
                      </a:tcPr>
                    </a:tc>
                    <a:extLst>
                      <a:ext uri="{0D108BD9-81ED-4DB2-BD59-A6C34878D82A}">
                        <a16:rowId xmlns:a16="http://schemas.microsoft.com/office/drawing/2014/main" val="3844778031"/>
                      </a:ext>
                    </a:extLst>
                  </a:tr>
                  <a:tr h="5300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Overhead for optimizer + framework</a:t>
                          </a:r>
                        </a:p>
                      </a:txBody>
                      <a:tcPr marL="68580" marR="68580" marT="0" marB="0" anchor="ctr">
                        <a:solidFill>
                          <a:schemeClr val="bg2">
                            <a:lumMod val="90000"/>
                          </a:schemeClr>
                        </a:solidFill>
                      </a:tcPr>
                    </a:tc>
                    <a:tc>
                      <a:txBody>
                        <a:bodyPr/>
                        <a:lstStyle/>
                        <a:p>
                          <a:endParaRPr lang="en-US"/>
                        </a:p>
                      </a:txBody>
                      <a:tcPr marL="68580" marR="68580" marT="0" marB="0" anchor="ctr">
                        <a:blipFill>
                          <a:blip r:embed="rId3"/>
                          <a:stretch>
                            <a:fillRect l="-253589" t="-409524" r="-478" b="-111905"/>
                          </a:stretch>
                        </a:blipFill>
                      </a:tcPr>
                    </a:tc>
                    <a:extLst>
                      <a:ext uri="{0D108BD9-81ED-4DB2-BD59-A6C34878D82A}">
                        <a16:rowId xmlns:a16="http://schemas.microsoft.com/office/drawing/2014/main" val="1011329732"/>
                      </a:ext>
                    </a:extLst>
                  </a:tr>
                  <a:tr h="5830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Total</a:t>
                          </a:r>
                        </a:p>
                      </a:txBody>
                      <a:tcPr marL="68580" marR="68580" marT="0" marB="0" anchor="ctr">
                        <a:solidFill>
                          <a:schemeClr val="bg1"/>
                        </a:solidFill>
                      </a:tcPr>
                    </a:tc>
                    <a:tc>
                      <a:txBody>
                        <a:bodyPr/>
                        <a:lstStyle/>
                        <a:p>
                          <a:endParaRPr lang="en-US"/>
                        </a:p>
                      </a:txBody>
                      <a:tcPr marL="68580" marR="68580" marT="0" marB="0" anchor="ctr">
                        <a:blipFill>
                          <a:blip r:embed="rId3"/>
                          <a:stretch>
                            <a:fillRect l="-253589" t="-465217" r="-478" b="-2174"/>
                          </a:stretch>
                        </a:blipFill>
                      </a:tcPr>
                    </a:tc>
                    <a:extLst>
                      <a:ext uri="{0D108BD9-81ED-4DB2-BD59-A6C34878D82A}">
                        <a16:rowId xmlns:a16="http://schemas.microsoft.com/office/drawing/2014/main" val="3355476031"/>
                      </a:ext>
                    </a:extLst>
                  </a:tr>
                </a:tbl>
              </a:graphicData>
            </a:graphic>
          </p:graphicFrame>
        </mc:Fallback>
      </mc:AlternateContent>
      <p:sp>
        <p:nvSpPr>
          <p:cNvPr id="9" name="TextBox 8">
            <a:extLst>
              <a:ext uri="{FF2B5EF4-FFF2-40B4-BE49-F238E27FC236}">
                <a16:creationId xmlns:a16="http://schemas.microsoft.com/office/drawing/2014/main" id="{A2A01774-F600-1067-0B84-8BBE9EA43EBD}"/>
              </a:ext>
            </a:extLst>
          </p:cNvPr>
          <p:cNvSpPr txBox="1"/>
          <p:nvPr/>
        </p:nvSpPr>
        <p:spPr>
          <a:xfrm>
            <a:off x="1498362" y="5145157"/>
            <a:ext cx="9368422" cy="830997"/>
          </a:xfrm>
          <a:prstGeom prst="rect">
            <a:avLst/>
          </a:prstGeom>
          <a:noFill/>
        </p:spPr>
        <p:txBody>
          <a:bodyPr wrap="square">
            <a:spAutoFit/>
          </a:bodyPr>
          <a:lstStyle/>
          <a:p>
            <a:r>
              <a:rPr lang="en-US" sz="1600" dirty="0">
                <a:solidFill>
                  <a:srgbClr val="6D1310"/>
                </a:solidFill>
                <a:latin typeface="Tahoma" panose="020B0604030504040204" pitchFamily="34" charset="0"/>
                <a:ea typeface="Tahoma" panose="020B0604030504040204" pitchFamily="34" charset="0"/>
                <a:cs typeface="Tahoma" panose="020B0604030504040204" pitchFamily="34" charset="0"/>
              </a:rPr>
              <a:t>[By design, activations are more memory-intensive than learning weights because weights are sized by the channel/mode counts, while activations scale with N</a:t>
            </a:r>
            <a:r>
              <a:rPr lang="en-US" sz="1600" baseline="30000" dirty="0">
                <a:solidFill>
                  <a:srgbClr val="6D1310"/>
                </a:solidFill>
                <a:latin typeface="Tahoma" panose="020B0604030504040204" pitchFamily="34" charset="0"/>
                <a:ea typeface="Tahoma" panose="020B0604030504040204" pitchFamily="34" charset="0"/>
                <a:cs typeface="Tahoma" panose="020B0604030504040204" pitchFamily="34" charset="0"/>
              </a:rPr>
              <a:t>3</a:t>
            </a:r>
            <a:r>
              <a:rPr lang="en-US" sz="1600" dirty="0">
                <a:solidFill>
                  <a:srgbClr val="6D1310"/>
                </a:solidFill>
                <a:latin typeface="Tahoma" panose="020B0604030504040204" pitchFamily="34" charset="0"/>
                <a:ea typeface="Tahoma" panose="020B0604030504040204" pitchFamily="34" charset="0"/>
                <a:cs typeface="Tahoma" panose="020B0604030504040204" pitchFamily="34" charset="0"/>
              </a:rPr>
              <a:t> and backpropagation needs simultaneous access to intermediate activation tensors.]</a:t>
            </a:r>
            <a:endParaRPr lang="en-US" sz="1600" b="0" dirty="0">
              <a:solidFill>
                <a:srgbClr val="6D131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12023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79F3B-8906-DD46-D054-98864F0D320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9609A13-9306-CEB1-AA4F-7AEBB932DB61}"/>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82C8D2D-22BE-77F4-C093-EFF08B7391BF}"/>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1D60274-7C56-51F2-8184-8258A57682E1}"/>
              </a:ext>
            </a:extLst>
          </p:cNvPr>
          <p:cNvSpPr/>
          <p:nvPr/>
        </p:nvSpPr>
        <p:spPr>
          <a:xfrm>
            <a:off x="628164" y="1229324"/>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C5502EC-F860-F042-7C12-25F6301F3ACE}"/>
              </a:ext>
            </a:extLst>
          </p:cNvPr>
          <p:cNvSpPr/>
          <p:nvPr/>
        </p:nvSpPr>
        <p:spPr>
          <a:xfrm>
            <a:off x="680716" y="1325231"/>
            <a:ext cx="11458732" cy="5177888"/>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82D981B9-1C85-41FC-CBBC-760AA5807428}"/>
              </a:ext>
            </a:extLst>
          </p:cNvPr>
          <p:cNvSpPr txBox="1"/>
          <p:nvPr/>
        </p:nvSpPr>
        <p:spPr>
          <a:xfrm>
            <a:off x="838411" y="525906"/>
            <a:ext cx="3850158"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Results from Run #1</a:t>
            </a:r>
          </a:p>
        </p:txBody>
      </p:sp>
      <p:sp>
        <p:nvSpPr>
          <p:cNvPr id="10" name="Content Placeholder 2">
            <a:extLst>
              <a:ext uri="{FF2B5EF4-FFF2-40B4-BE49-F238E27FC236}">
                <a16:creationId xmlns:a16="http://schemas.microsoft.com/office/drawing/2014/main" id="{995A91BA-449D-394B-C507-6E9EE96735CB}"/>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C5C13B65-7DFC-978F-91B8-883EB58DCAAB}"/>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3165A0D1-26FB-6303-F1EC-38E7EC6E9F16}"/>
              </a:ext>
            </a:extLst>
          </p:cNvPr>
          <p:cNvSpPr/>
          <p:nvPr/>
        </p:nvSpPr>
        <p:spPr>
          <a:xfrm>
            <a:off x="680716" y="6503120"/>
            <a:ext cx="11458732" cy="354879"/>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D34D980-66CD-C175-3B87-2D63BF04368D}"/>
              </a:ext>
            </a:extLst>
          </p:cNvPr>
          <p:cNvSpPr/>
          <p:nvPr/>
        </p:nvSpPr>
        <p:spPr>
          <a:xfrm>
            <a:off x="1284031" y="1488021"/>
            <a:ext cx="10228624" cy="551860"/>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sz="1600" dirty="0">
                <a:latin typeface="Tahoma" panose="020B0604030504040204" pitchFamily="34" charset="0"/>
                <a:ea typeface="Tahoma" panose="020B0604030504040204" pitchFamily="34" charset="0"/>
                <a:cs typeface="Tahoma" panose="020B0604030504040204" pitchFamily="34" charset="0"/>
              </a:rPr>
              <a:t>The PDFs of 192</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output are compared against the 128</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input and 192</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DNS ground truth. The vertical line segments are the respective mean values.</a:t>
            </a:r>
          </a:p>
        </p:txBody>
      </p:sp>
      <p:pic>
        <p:nvPicPr>
          <p:cNvPr id="8" name="Image 0" descr="Se_1.png">
            <a:extLst>
              <a:ext uri="{FF2B5EF4-FFF2-40B4-BE49-F238E27FC236}">
                <a16:creationId xmlns:a16="http://schemas.microsoft.com/office/drawing/2014/main" id="{14775D0B-D47B-B873-D649-B770EC82ABC7}"/>
              </a:ext>
            </a:extLst>
          </p:cNvPr>
          <p:cNvPicPr>
            <a:picLocks noChangeAspect="1"/>
          </p:cNvPicPr>
          <p:nvPr/>
        </p:nvPicPr>
        <p:blipFill>
          <a:blip r:embed="rId3"/>
          <a:stretch>
            <a:fillRect/>
          </a:stretch>
        </p:blipFill>
        <p:spPr>
          <a:xfrm>
            <a:off x="1022471" y="2345925"/>
            <a:ext cx="5066821" cy="3200400"/>
          </a:xfrm>
          <a:prstGeom prst="rect">
            <a:avLst/>
          </a:prstGeom>
        </p:spPr>
      </p:pic>
      <p:pic>
        <p:nvPicPr>
          <p:cNvPr id="9" name="Image 1" descr="ql_1.png">
            <a:extLst>
              <a:ext uri="{FF2B5EF4-FFF2-40B4-BE49-F238E27FC236}">
                <a16:creationId xmlns:a16="http://schemas.microsoft.com/office/drawing/2014/main" id="{9A356E31-94C0-2A32-D4DB-A663E74D608B}"/>
              </a:ext>
            </a:extLst>
          </p:cNvPr>
          <p:cNvPicPr>
            <a:picLocks noChangeAspect="1"/>
          </p:cNvPicPr>
          <p:nvPr/>
        </p:nvPicPr>
        <p:blipFill>
          <a:blip r:embed="rId4"/>
          <a:stretch>
            <a:fillRect/>
          </a:stretch>
        </p:blipFill>
        <p:spPr>
          <a:xfrm>
            <a:off x="6637976" y="2345925"/>
            <a:ext cx="4806758" cy="3200400"/>
          </a:xfrm>
          <a:prstGeom prst="rect">
            <a:avLst/>
          </a:prstGeom>
        </p:spPr>
      </p:pic>
      <mc:AlternateContent xmlns:mc="http://schemas.openxmlformats.org/markup-compatibility/2006" xmlns:a14="http://schemas.microsoft.com/office/drawing/2010/main">
        <mc:Choice Requires="a14">
          <p:sp>
            <p:nvSpPr>
              <p:cNvPr id="13" name="Shape 2">
                <a:extLst>
                  <a:ext uri="{FF2B5EF4-FFF2-40B4-BE49-F238E27FC236}">
                    <a16:creationId xmlns:a16="http://schemas.microsoft.com/office/drawing/2014/main" id="{81EA226D-F52B-37BB-24AA-A8F04DD68F91}"/>
                  </a:ext>
                </a:extLst>
              </p:cNvPr>
              <p:cNvSpPr/>
              <p:nvPr/>
            </p:nvSpPr>
            <p:spPr>
              <a:xfrm>
                <a:off x="1049103" y="5738648"/>
                <a:ext cx="5349240" cy="593446"/>
              </a:xfrm>
              <a:prstGeom prst="roundRect">
                <a:avLst>
                  <a:gd name="adj" fmla="val 12000"/>
                </a:avLst>
              </a:prstGeom>
              <a:solidFill>
                <a:srgbClr val="E9F6EF"/>
              </a:solidFill>
              <a:ln w="15875">
                <a:solidFill>
                  <a:srgbClr val="35C48F"/>
                </a:solidFill>
                <a:prstDash val="solid"/>
              </a:ln>
            </p:spPr>
            <p:txBody>
              <a:bodyPr/>
              <a:lstStyle/>
              <a:p>
                <a:r>
                  <a:rPr lang="en-US" sz="1400" dirty="0">
                    <a:latin typeface="Tahoma" panose="020B0604030504040204" pitchFamily="34" charset="0"/>
                    <a:ea typeface="Tahoma" panose="020B0604030504040204" pitchFamily="34" charset="0"/>
                    <a:cs typeface="Tahoma" panose="020B0604030504040204" pitchFamily="34" charset="0"/>
                  </a:rPr>
                  <a:t>PDFs and means of the </a:t>
                </a:r>
                <a14:m>
                  <m:oMath xmlns:m="http://schemas.openxmlformats.org/officeDocument/2006/math">
                    <m:sSub>
                      <m:sSubPr>
                        <m:ctrlPr>
                          <a:rPr lang="en-US" sz="1400" i="1" dirty="0">
                            <a:latin typeface="Cambria Math" panose="02040503050406030204" pitchFamily="18" charset="0"/>
                            <a:ea typeface="Tahoma" panose="020B0604030504040204" pitchFamily="34" charset="0"/>
                            <a:cs typeface="Tahoma" panose="020B0604030504040204" pitchFamily="34" charset="0"/>
                          </a:rPr>
                        </m:ctrlPr>
                      </m:sSubPr>
                      <m:e>
                        <m:r>
                          <a:rPr lang="en-US" sz="1400" i="1" dirty="0">
                            <a:latin typeface="Cambria Math" panose="02040503050406030204" pitchFamily="18" charset="0"/>
                            <a:ea typeface="Tahoma" panose="020B0604030504040204" pitchFamily="34" charset="0"/>
                            <a:cs typeface="Tahoma" panose="020B0604030504040204" pitchFamily="34" charset="0"/>
                          </a:rPr>
                          <m:t>𝑆</m:t>
                        </m:r>
                      </m:e>
                      <m:sub>
                        <m:r>
                          <a:rPr lang="en-US" sz="1400" i="1" dirty="0">
                            <a:latin typeface="Cambria Math" panose="02040503050406030204" pitchFamily="18" charset="0"/>
                            <a:ea typeface="Tahoma" panose="020B0604030504040204" pitchFamily="34" charset="0"/>
                            <a:cs typeface="Tahoma" panose="020B0604030504040204" pitchFamily="34" charset="0"/>
                          </a:rPr>
                          <m:t>𝑒</m:t>
                        </m:r>
                      </m:sub>
                    </m:sSub>
                  </m:oMath>
                </a14:m>
                <a:r>
                  <a:rPr lang="en-US" sz="1400" dirty="0">
                    <a:latin typeface="Tahoma" panose="020B0604030504040204" pitchFamily="34" charset="0"/>
                    <a:ea typeface="Tahoma" panose="020B0604030504040204" pitchFamily="34" charset="0"/>
                    <a:cs typeface="Tahoma" panose="020B0604030504040204" pitchFamily="34" charset="0"/>
                  </a:rPr>
                  <a:t>. The blue profile tracks the green profile across the whole range. </a:t>
                </a:r>
              </a:p>
            </p:txBody>
          </p:sp>
        </mc:Choice>
        <mc:Fallback xmlns="">
          <p:sp>
            <p:nvSpPr>
              <p:cNvPr id="13" name="Shape 2">
                <a:extLst>
                  <a:ext uri="{FF2B5EF4-FFF2-40B4-BE49-F238E27FC236}">
                    <a16:creationId xmlns:a16="http://schemas.microsoft.com/office/drawing/2014/main" id="{81EA226D-F52B-37BB-24AA-A8F04DD68F91}"/>
                  </a:ext>
                </a:extLst>
              </p:cNvPr>
              <p:cNvSpPr>
                <a:spLocks noRot="1" noChangeAspect="1" noMove="1" noResize="1" noEditPoints="1" noAdjustHandles="1" noChangeArrowheads="1" noChangeShapeType="1" noTextEdit="1"/>
              </p:cNvSpPr>
              <p:nvPr/>
            </p:nvSpPr>
            <p:spPr>
              <a:xfrm>
                <a:off x="1049103" y="5738648"/>
                <a:ext cx="5349240" cy="593446"/>
              </a:xfrm>
              <a:prstGeom prst="roundRect">
                <a:avLst>
                  <a:gd name="adj" fmla="val 12000"/>
                </a:avLst>
              </a:prstGeom>
              <a:blipFill>
                <a:blip r:embed="rId5"/>
                <a:stretch>
                  <a:fillRect/>
                </a:stretch>
              </a:blipFill>
              <a:ln w="15875">
                <a:solidFill>
                  <a:srgbClr val="35C48F"/>
                </a:solidFill>
                <a:prstDash val="solid"/>
              </a:ln>
            </p:spPr>
            <p:txBody>
              <a:bodyPr/>
              <a:lstStyle/>
              <a:p>
                <a:r>
                  <a:rPr lang="en-US">
                    <a:noFill/>
                  </a:rPr>
                  <a:t> </a:t>
                </a:r>
              </a:p>
            </p:txBody>
          </p:sp>
        </mc:Fallback>
      </mc:AlternateContent>
      <p:pic>
        <p:nvPicPr>
          <p:cNvPr id="16" name="Picture 15">
            <a:extLst>
              <a:ext uri="{FF2B5EF4-FFF2-40B4-BE49-F238E27FC236}">
                <a16:creationId xmlns:a16="http://schemas.microsoft.com/office/drawing/2014/main" id="{F2F8500D-910D-6A12-B151-133EC9AB0E55}"/>
              </a:ext>
            </a:extLst>
          </p:cNvPr>
          <p:cNvPicPr>
            <a:picLocks noChangeAspect="1"/>
          </p:cNvPicPr>
          <p:nvPr/>
        </p:nvPicPr>
        <p:blipFill>
          <a:blip r:embed="rId6"/>
          <a:stretch>
            <a:fillRect/>
          </a:stretch>
        </p:blipFill>
        <p:spPr>
          <a:xfrm>
            <a:off x="2685574" y="4434637"/>
            <a:ext cx="1734410" cy="640080"/>
          </a:xfrm>
          <a:prstGeom prst="rect">
            <a:avLst/>
          </a:prstGeom>
        </p:spPr>
      </p:pic>
      <mc:AlternateContent xmlns:mc="http://schemas.openxmlformats.org/markup-compatibility/2006" xmlns:a14="http://schemas.microsoft.com/office/drawing/2010/main">
        <mc:Choice Requires="a14">
          <p:sp>
            <p:nvSpPr>
              <p:cNvPr id="17" name="Shape 4">
                <a:extLst>
                  <a:ext uri="{FF2B5EF4-FFF2-40B4-BE49-F238E27FC236}">
                    <a16:creationId xmlns:a16="http://schemas.microsoft.com/office/drawing/2014/main" id="{AD99B054-8E1F-B8A6-71C6-D13D6B84729B}"/>
                  </a:ext>
                </a:extLst>
              </p:cNvPr>
              <p:cNvSpPr/>
              <p:nvPr/>
            </p:nvSpPr>
            <p:spPr>
              <a:xfrm>
                <a:off x="6637976" y="5755966"/>
                <a:ext cx="5150098" cy="576128"/>
              </a:xfrm>
              <a:prstGeom prst="roundRect">
                <a:avLst>
                  <a:gd name="adj" fmla="val 12000"/>
                </a:avLst>
              </a:prstGeom>
              <a:solidFill>
                <a:srgbClr val="FDECEC"/>
              </a:solidFill>
              <a:ln w="15875">
                <a:solidFill>
                  <a:srgbClr val="F96167"/>
                </a:solidFill>
                <a:prstDash val="solid"/>
              </a:ln>
            </p:spPr>
            <p:txBody>
              <a:bodyPr/>
              <a:lstStyle/>
              <a:p>
                <a:r>
                  <a:rPr lang="en-US" sz="1400" dirty="0">
                    <a:latin typeface="Tahoma" panose="020B0604030504040204" pitchFamily="34" charset="0"/>
                    <a:ea typeface="Tahoma" panose="020B0604030504040204" pitchFamily="34" charset="0"/>
                    <a:cs typeface="Tahoma" panose="020B0604030504040204" pitchFamily="34" charset="0"/>
                  </a:rPr>
                  <a:t>PDFs and means of the </a:t>
                </a:r>
                <a14:m>
                  <m:oMath xmlns:m="http://schemas.openxmlformats.org/officeDocument/2006/math">
                    <m:sSub>
                      <m:sSubPr>
                        <m:ctrlPr>
                          <a:rPr lang="en-US" sz="1400" i="1" dirty="0">
                            <a:latin typeface="Cambria Math" panose="02040503050406030204" pitchFamily="18" charset="0"/>
                            <a:ea typeface="Tahoma" panose="020B0604030504040204" pitchFamily="34" charset="0"/>
                            <a:cs typeface="Tahoma" panose="020B0604030504040204" pitchFamily="34" charset="0"/>
                          </a:rPr>
                        </m:ctrlPr>
                      </m:sSubPr>
                      <m:e>
                        <m:r>
                          <a:rPr lang="en-US" sz="1400" b="0" i="1" dirty="0" smtClean="0">
                            <a:latin typeface="Cambria Math" panose="02040503050406030204" pitchFamily="18" charset="0"/>
                            <a:ea typeface="Tahoma" panose="020B0604030504040204" pitchFamily="34" charset="0"/>
                            <a:cs typeface="Tahoma" panose="020B0604030504040204" pitchFamily="34" charset="0"/>
                          </a:rPr>
                          <m:t>𝑞</m:t>
                        </m:r>
                      </m:e>
                      <m:sub>
                        <m:r>
                          <a:rPr lang="en-US" sz="1400" b="0" i="1" dirty="0" smtClean="0">
                            <a:latin typeface="Cambria Math" panose="02040503050406030204" pitchFamily="18" charset="0"/>
                            <a:ea typeface="Tahoma" panose="020B0604030504040204" pitchFamily="34" charset="0"/>
                            <a:cs typeface="Tahoma" panose="020B0604030504040204" pitchFamily="34" charset="0"/>
                          </a:rPr>
                          <m:t>𝑐</m:t>
                        </m:r>
                      </m:sub>
                    </m:sSub>
                  </m:oMath>
                </a14:m>
                <a:r>
                  <a:rPr lang="en-US" sz="1400" dirty="0">
                    <a:latin typeface="Tahoma" panose="020B0604030504040204" pitchFamily="34" charset="0"/>
                    <a:ea typeface="Tahoma" panose="020B0604030504040204" pitchFamily="34" charset="0"/>
                    <a:cs typeface="Tahoma" panose="020B0604030504040204" pitchFamily="34" charset="0"/>
                  </a:rPr>
                  <a:t>. The blue profile is nowhere near the green profile. </a:t>
                </a:r>
              </a:p>
            </p:txBody>
          </p:sp>
        </mc:Choice>
        <mc:Fallback xmlns="">
          <p:sp>
            <p:nvSpPr>
              <p:cNvPr id="17" name="Shape 4">
                <a:extLst>
                  <a:ext uri="{FF2B5EF4-FFF2-40B4-BE49-F238E27FC236}">
                    <a16:creationId xmlns:a16="http://schemas.microsoft.com/office/drawing/2014/main" id="{AD99B054-8E1F-B8A6-71C6-D13D6B84729B}"/>
                  </a:ext>
                </a:extLst>
              </p:cNvPr>
              <p:cNvSpPr>
                <a:spLocks noRot="1" noChangeAspect="1" noMove="1" noResize="1" noEditPoints="1" noAdjustHandles="1" noChangeArrowheads="1" noChangeShapeType="1" noTextEdit="1"/>
              </p:cNvSpPr>
              <p:nvPr/>
            </p:nvSpPr>
            <p:spPr>
              <a:xfrm>
                <a:off x="6637976" y="5755966"/>
                <a:ext cx="5150098" cy="576128"/>
              </a:xfrm>
              <a:prstGeom prst="roundRect">
                <a:avLst>
                  <a:gd name="adj" fmla="val 12000"/>
                </a:avLst>
              </a:prstGeom>
              <a:blipFill>
                <a:blip r:embed="rId7"/>
                <a:stretch>
                  <a:fillRect b="-4167"/>
                </a:stretch>
              </a:blipFill>
              <a:ln w="15875">
                <a:solidFill>
                  <a:srgbClr val="F96167"/>
                </a:solidFill>
                <a:prstDash val="solid"/>
              </a:ln>
            </p:spPr>
            <p:txBody>
              <a:bodyPr/>
              <a:lstStyle/>
              <a:p>
                <a:r>
                  <a:rPr lang="en-US">
                    <a:noFill/>
                  </a:rPr>
                  <a:t> </a:t>
                </a:r>
              </a:p>
            </p:txBody>
          </p:sp>
        </mc:Fallback>
      </mc:AlternateContent>
      <p:pic>
        <p:nvPicPr>
          <p:cNvPr id="18" name="Picture 17">
            <a:extLst>
              <a:ext uri="{FF2B5EF4-FFF2-40B4-BE49-F238E27FC236}">
                <a16:creationId xmlns:a16="http://schemas.microsoft.com/office/drawing/2014/main" id="{CCE4BDE9-93DE-BDD8-B752-14110AE94AEE}"/>
              </a:ext>
            </a:extLst>
          </p:cNvPr>
          <p:cNvPicPr>
            <a:picLocks noChangeAspect="1"/>
          </p:cNvPicPr>
          <p:nvPr/>
        </p:nvPicPr>
        <p:blipFill>
          <a:blip r:embed="rId6"/>
          <a:stretch>
            <a:fillRect/>
          </a:stretch>
        </p:blipFill>
        <p:spPr>
          <a:xfrm>
            <a:off x="9710324" y="2345924"/>
            <a:ext cx="1734410" cy="640080"/>
          </a:xfrm>
          <a:prstGeom prst="rect">
            <a:avLst/>
          </a:prstGeom>
        </p:spPr>
      </p:pic>
    </p:spTree>
    <p:extLst>
      <p:ext uri="{BB962C8B-B14F-4D97-AF65-F5344CB8AC3E}">
        <p14:creationId xmlns:p14="http://schemas.microsoft.com/office/powerpoint/2010/main" val="3632038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18BE9-6773-2761-F870-82631A68238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10067A3-B2FE-5F10-A7A9-852475E2A1F1}"/>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47AAE34-5CF4-75BA-126F-EE9812D0AA6F}"/>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7506BD9-F971-4BB4-44C3-7DB465D84216}"/>
              </a:ext>
            </a:extLst>
          </p:cNvPr>
          <p:cNvSpPr/>
          <p:nvPr/>
        </p:nvSpPr>
        <p:spPr>
          <a:xfrm>
            <a:off x="628164" y="1229324"/>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F68E6BD-E608-ABF3-C152-165ACFFD1D41}"/>
              </a:ext>
            </a:extLst>
          </p:cNvPr>
          <p:cNvSpPr/>
          <p:nvPr/>
        </p:nvSpPr>
        <p:spPr>
          <a:xfrm>
            <a:off x="680716" y="1325231"/>
            <a:ext cx="11458732" cy="4562581"/>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F71A22E9-7AF8-AA22-5096-84CA005B8BCA}"/>
              </a:ext>
            </a:extLst>
          </p:cNvPr>
          <p:cNvSpPr txBox="1"/>
          <p:nvPr/>
        </p:nvSpPr>
        <p:spPr>
          <a:xfrm>
            <a:off x="838411" y="525906"/>
            <a:ext cx="3650462"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Results from Run #1</a:t>
            </a:r>
          </a:p>
        </p:txBody>
      </p:sp>
      <p:sp>
        <p:nvSpPr>
          <p:cNvPr id="10" name="Content Placeholder 2">
            <a:extLst>
              <a:ext uri="{FF2B5EF4-FFF2-40B4-BE49-F238E27FC236}">
                <a16:creationId xmlns:a16="http://schemas.microsoft.com/office/drawing/2014/main" id="{1A385306-A3C2-3DD6-52BA-1DCFFB3BD915}"/>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02A4D113-5FFD-44A3-E4B0-6455EA3C10BB}"/>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54C1277B-AAD7-490E-F7B0-D9C33763140C}"/>
              </a:ext>
            </a:extLst>
          </p:cNvPr>
          <p:cNvSpPr/>
          <p:nvPr/>
        </p:nvSpPr>
        <p:spPr>
          <a:xfrm>
            <a:off x="680716" y="5887812"/>
            <a:ext cx="11458732" cy="970188"/>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97CAF6A-92C2-FCC9-AEAE-230C02B4E53E}"/>
                  </a:ext>
                </a:extLst>
              </p:cNvPr>
              <p:cNvSpPr/>
              <p:nvPr/>
            </p:nvSpPr>
            <p:spPr>
              <a:xfrm>
                <a:off x="1563755" y="1925783"/>
                <a:ext cx="9576700" cy="2343269"/>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sz="1600" dirty="0">
                    <a:latin typeface="Tahoma" panose="020B0604030504040204" pitchFamily="34" charset="0"/>
                    <a:ea typeface="Tahoma" panose="020B0604030504040204" pitchFamily="34" charset="0"/>
                    <a:cs typeface="Tahoma" panose="020B0604030504040204" pitchFamily="34" charset="0"/>
                  </a:rPr>
                  <a:t>The prediction of cloud water micing ratio (</a:t>
                </a:r>
                <a14:m>
                  <m:oMath xmlns:m="http://schemas.openxmlformats.org/officeDocument/2006/math">
                    <m:sSub>
                      <m:sSubPr>
                        <m:ctrlPr>
                          <a:rPr lang="en-US" sz="1600" i="1" smtClean="0">
                            <a:latin typeface="Cambria Math" panose="02040503050406030204" pitchFamily="18" charset="0"/>
                            <a:ea typeface="Tahoma" panose="020B0604030504040204" pitchFamily="34" charset="0"/>
                            <a:cs typeface="Tahoma" panose="020B0604030504040204" pitchFamily="34" charset="0"/>
                          </a:rPr>
                        </m:ctrlPr>
                      </m:sSubPr>
                      <m:e>
                        <m:r>
                          <a:rPr lang="en-US" sz="1600" b="0" i="1" smtClean="0">
                            <a:latin typeface="Cambria Math" panose="02040503050406030204" pitchFamily="18" charset="0"/>
                            <a:ea typeface="Tahoma" panose="020B0604030504040204" pitchFamily="34" charset="0"/>
                            <a:cs typeface="Tahoma" panose="020B0604030504040204" pitchFamily="34" charset="0"/>
                          </a:rPr>
                          <m:t>𝑞</m:t>
                        </m:r>
                      </m:e>
                      <m:sub>
                        <m:r>
                          <a:rPr lang="en-US" sz="1600" b="0" i="1" smtClean="0">
                            <a:latin typeface="Cambria Math" panose="02040503050406030204" pitchFamily="18" charset="0"/>
                            <a:ea typeface="Tahoma" panose="020B0604030504040204" pitchFamily="34" charset="0"/>
                            <a:cs typeface="Tahoma" panose="020B0604030504040204" pitchFamily="34" charset="0"/>
                          </a:rPr>
                          <m:t>𝑐</m:t>
                        </m:r>
                      </m:sub>
                    </m:sSub>
                  </m:oMath>
                </a14:m>
                <a:r>
                  <a:rPr lang="en-US" sz="1600" dirty="0">
                    <a:latin typeface="Tahoma" panose="020B0604030504040204" pitchFamily="34" charset="0"/>
                    <a:ea typeface="Tahoma" panose="020B0604030504040204" pitchFamily="34" charset="0"/>
                    <a:cs typeface="Tahoma" panose="020B0604030504040204" pitchFamily="34" charset="0"/>
                  </a:rPr>
                  <a:t>) failed because:</a:t>
                </a:r>
              </a:p>
              <a:p>
                <a:endPar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endParaRPr>
              </a:p>
              <a:p>
                <a:pPr marL="342900" indent="-342900">
                  <a:buAutoNum type="arabicParenR"/>
                </a:pP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The training target was inaccurate: </a:t>
                </a:r>
                <a:r>
                  <a:rPr lang="en-US" sz="1600" dirty="0">
                    <a:latin typeface="Tahoma" panose="020B0604030504040204" pitchFamily="34" charset="0"/>
                    <a:ea typeface="Tahoma" panose="020B0604030504040204" pitchFamily="34" charset="0"/>
                    <a:cs typeface="Tahoma" panose="020B0604030504040204" pitchFamily="34" charset="0"/>
                  </a:rPr>
                  <a:t>The 192</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target was just a spectral zero-padding of the 128</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input, or in other words, an unsampled copy with no real sub-grid structures. The true </a:t>
                </a:r>
                <a14:m>
                  <m:oMath xmlns:m="http://schemas.openxmlformats.org/officeDocument/2006/math">
                    <m:r>
                      <a:rPr lang="en-US" sz="1600" b="0" i="1" smtClean="0">
                        <a:latin typeface="Cambria Math" panose="02040503050406030204" pitchFamily="18" charset="0"/>
                        <a:ea typeface="Tahoma" panose="020B0604030504040204" pitchFamily="34" charset="0"/>
                        <a:cs typeface="Tahoma" panose="020B0604030504040204" pitchFamily="34" charset="0"/>
                      </a:rPr>
                      <m:t>2.4</m:t>
                    </m:r>
                    <m:r>
                      <a:rPr lang="en-US" sz="1600" b="0" i="1" smtClean="0">
                        <a:latin typeface="Cambria Math" panose="02040503050406030204" pitchFamily="18" charset="0"/>
                        <a:ea typeface="Cambria Math" panose="02040503050406030204" pitchFamily="18" charset="0"/>
                        <a:cs typeface="Tahoma" panose="020B0604030504040204" pitchFamily="34" charset="0"/>
                      </a:rPr>
                      <m:t>×</m:t>
                    </m:r>
                    <m:sSub>
                      <m:sSubPr>
                        <m:ctrlPr>
                          <a:rPr lang="en-US" sz="1600" b="0" i="1" smtClean="0">
                            <a:latin typeface="Cambria Math" panose="02040503050406030204" pitchFamily="18" charset="0"/>
                            <a:ea typeface="Cambria Math" panose="02040503050406030204" pitchFamily="18" charset="0"/>
                            <a:cs typeface="Tahoma" panose="020B0604030504040204" pitchFamily="34" charset="0"/>
                          </a:rPr>
                        </m:ctrlPr>
                      </m:sSubPr>
                      <m:e>
                        <m:r>
                          <a:rPr lang="en-US" sz="1600" b="0" i="1" smtClean="0">
                            <a:latin typeface="Cambria Math" panose="02040503050406030204" pitchFamily="18" charset="0"/>
                            <a:ea typeface="Cambria Math" panose="02040503050406030204" pitchFamily="18" charset="0"/>
                            <a:cs typeface="Tahoma" panose="020B0604030504040204" pitchFamily="34" charset="0"/>
                          </a:rPr>
                          <m:t>𝑞</m:t>
                        </m:r>
                      </m:e>
                      <m:sub>
                        <m:r>
                          <a:rPr lang="en-US" sz="1600" b="0" i="1" smtClean="0">
                            <a:latin typeface="Cambria Math" panose="02040503050406030204" pitchFamily="18" charset="0"/>
                            <a:ea typeface="Cambria Math" panose="02040503050406030204" pitchFamily="18" charset="0"/>
                            <a:cs typeface="Tahoma" panose="020B0604030504040204" pitchFamily="34" charset="0"/>
                          </a:rPr>
                          <m:t>𝑐</m:t>
                        </m:r>
                      </m:sub>
                    </m:sSub>
                  </m:oMath>
                </a14:m>
                <a:r>
                  <a:rPr lang="en-US" sz="1600" dirty="0">
                    <a:latin typeface="Tahoma" panose="020B0604030504040204" pitchFamily="34" charset="0"/>
                    <a:ea typeface="Tahoma" panose="020B0604030504040204" pitchFamily="34" charset="0"/>
                    <a:cs typeface="Tahoma" panose="020B0604030504040204" pitchFamily="34" charset="0"/>
                  </a:rPr>
                  <a:t> amplification was never in the data.</a:t>
                </a:r>
              </a:p>
              <a:p>
                <a:pPr marL="342900" indent="-342900">
                  <a:buFontTx/>
                  <a:buAutoNum type="arabicParenR"/>
                </a:pPr>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One loss let </a:t>
                </a:r>
                <a14:m>
                  <m:oMath xmlns:m="http://schemas.openxmlformats.org/officeDocument/2006/math">
                    <m:sSub>
                      <m:sSubPr>
                        <m:ctrlPr>
                          <a:rPr lang="en-US" sz="1600" b="1" i="1" smtClean="0">
                            <a:solidFill>
                              <a:srgbClr val="2B628C"/>
                            </a:solidFill>
                            <a:latin typeface="Cambria Math" panose="02040503050406030204" pitchFamily="18" charset="0"/>
                            <a:ea typeface="Tahoma" panose="020B0604030504040204" pitchFamily="34" charset="0"/>
                            <a:cs typeface="Tahoma" panose="020B0604030504040204" pitchFamily="34" charset="0"/>
                          </a:rPr>
                        </m:ctrlPr>
                      </m:sSubPr>
                      <m:e>
                        <m:r>
                          <a:rPr lang="en-US" sz="1600" b="1" i="1" smtClean="0">
                            <a:solidFill>
                              <a:srgbClr val="2B628C"/>
                            </a:solidFill>
                            <a:latin typeface="Cambria Math" panose="02040503050406030204" pitchFamily="18" charset="0"/>
                            <a:ea typeface="Tahoma" panose="020B0604030504040204" pitchFamily="34" charset="0"/>
                            <a:cs typeface="Tahoma" panose="020B0604030504040204" pitchFamily="34" charset="0"/>
                          </a:rPr>
                          <m:t>𝑺</m:t>
                        </m:r>
                      </m:e>
                      <m:sub>
                        <m:r>
                          <a:rPr lang="en-US" sz="1600" b="1" i="1" smtClean="0">
                            <a:solidFill>
                              <a:srgbClr val="2B628C"/>
                            </a:solidFill>
                            <a:latin typeface="Cambria Math" panose="02040503050406030204" pitchFamily="18" charset="0"/>
                            <a:ea typeface="Tahoma" panose="020B0604030504040204" pitchFamily="34" charset="0"/>
                            <a:cs typeface="Tahoma" panose="020B0604030504040204" pitchFamily="34" charset="0"/>
                          </a:rPr>
                          <m:t>𝒆</m:t>
                        </m:r>
                      </m:sub>
                    </m:sSub>
                  </m:oMath>
                </a14:m>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 starve </a:t>
                </a:r>
                <a14:m>
                  <m:oMath xmlns:m="http://schemas.openxmlformats.org/officeDocument/2006/math">
                    <m:sSub>
                      <m:sSubPr>
                        <m:ctrlPr>
                          <a:rPr lang="en-US" sz="1600" b="1" i="1">
                            <a:solidFill>
                              <a:srgbClr val="2B628C"/>
                            </a:solidFill>
                            <a:latin typeface="Cambria Math" panose="02040503050406030204" pitchFamily="18" charset="0"/>
                            <a:ea typeface="Tahoma" panose="020B0604030504040204" pitchFamily="34" charset="0"/>
                            <a:cs typeface="Tahoma" panose="020B0604030504040204" pitchFamily="34" charset="0"/>
                          </a:rPr>
                        </m:ctrlPr>
                      </m:sSubPr>
                      <m:e>
                        <m:r>
                          <a:rPr lang="en-US" sz="1600" b="1" i="1" smtClean="0">
                            <a:solidFill>
                              <a:srgbClr val="2B628C"/>
                            </a:solidFill>
                            <a:latin typeface="Cambria Math" panose="02040503050406030204" pitchFamily="18" charset="0"/>
                            <a:ea typeface="Tahoma" panose="020B0604030504040204" pitchFamily="34" charset="0"/>
                            <a:cs typeface="Tahoma" panose="020B0604030504040204" pitchFamily="34" charset="0"/>
                          </a:rPr>
                          <m:t>𝒒</m:t>
                        </m:r>
                      </m:e>
                      <m:sub>
                        <m:r>
                          <a:rPr lang="en-US" sz="1600" b="1" i="1" smtClean="0">
                            <a:solidFill>
                              <a:srgbClr val="2B628C"/>
                            </a:solidFill>
                            <a:latin typeface="Cambria Math" panose="02040503050406030204" pitchFamily="18" charset="0"/>
                            <a:ea typeface="Tahoma" panose="020B0604030504040204" pitchFamily="34" charset="0"/>
                            <a:cs typeface="Tahoma" panose="020B0604030504040204" pitchFamily="34" charset="0"/>
                          </a:rPr>
                          <m:t>𝒄</m:t>
                        </m:r>
                      </m:sub>
                    </m:sSub>
                  </m:oMath>
                </a14:m>
                <a:r>
                  <a:rPr lang="en-US" sz="1600" b="1" dirty="0">
                    <a:solidFill>
                      <a:srgbClr val="2B628C"/>
                    </a:solidFill>
                    <a:latin typeface="Tahoma" panose="020B0604030504040204" pitchFamily="34" charset="0"/>
                    <a:ea typeface="Tahoma" panose="020B0604030504040204" pitchFamily="34" charset="0"/>
                    <a:cs typeface="Tahoma" panose="020B0604030504040204" pitchFamily="34" charset="0"/>
                  </a:rPr>
                  <a:t>: </a:t>
                </a:r>
                <a:r>
                  <a:rPr lang="en-US" sz="1600" dirty="0">
                    <a:latin typeface="Tahoma" panose="020B0604030504040204" pitchFamily="34" charset="0"/>
                    <a:ea typeface="Tahoma" panose="020B0604030504040204" pitchFamily="34" charset="0"/>
                    <a:cs typeface="Tahoma" panose="020B0604030504040204" pitchFamily="34" charset="0"/>
                  </a:rPr>
                  <a:t>A single pooled MSE over both channels let high-variance </a:t>
                </a:r>
                <a14:m>
                  <m:oMath xmlns:m="http://schemas.openxmlformats.org/officeDocument/2006/math">
                    <m:sSub>
                      <m:sSubPr>
                        <m:ctrlPr>
                          <a:rPr lang="en-US" sz="1600" i="1">
                            <a:latin typeface="Cambria Math" panose="02040503050406030204" pitchFamily="18" charset="0"/>
                            <a:ea typeface="Cambria Math" panose="02040503050406030204" pitchFamily="18" charset="0"/>
                            <a:cs typeface="Tahoma" panose="020B0604030504040204" pitchFamily="34" charset="0"/>
                          </a:rPr>
                        </m:ctrlPr>
                      </m:sSubPr>
                      <m:e>
                        <m:r>
                          <a:rPr lang="en-US" sz="1600" b="0" i="1" smtClean="0">
                            <a:latin typeface="Cambria Math" panose="02040503050406030204" pitchFamily="18" charset="0"/>
                            <a:ea typeface="Cambria Math" panose="02040503050406030204" pitchFamily="18" charset="0"/>
                            <a:cs typeface="Tahoma" panose="020B0604030504040204" pitchFamily="34" charset="0"/>
                          </a:rPr>
                          <m:t>𝑆</m:t>
                        </m:r>
                      </m:e>
                      <m:sub>
                        <m:r>
                          <a:rPr lang="en-US" sz="1600" b="0" i="1" smtClean="0">
                            <a:latin typeface="Cambria Math" panose="02040503050406030204" pitchFamily="18" charset="0"/>
                            <a:ea typeface="Cambria Math" panose="02040503050406030204" pitchFamily="18" charset="0"/>
                            <a:cs typeface="Tahoma" panose="020B0604030504040204" pitchFamily="34" charset="0"/>
                          </a:rPr>
                          <m:t>𝑒</m:t>
                        </m:r>
                      </m:sub>
                    </m:sSub>
                  </m:oMath>
                </a14:m>
                <a:r>
                  <a:rPr lang="en-US" sz="1600" dirty="0">
                    <a:latin typeface="Tahoma" panose="020B0604030504040204" pitchFamily="34" charset="0"/>
                    <a:ea typeface="Tahoma" panose="020B0604030504040204" pitchFamily="34" charset="0"/>
                    <a:cs typeface="Tahoma" panose="020B0604030504040204" pitchFamily="34" charset="0"/>
                  </a:rPr>
                  <a:t> dominate the shared gradient. Sparse </a:t>
                </a:r>
                <a14:m>
                  <m:oMath xmlns:m="http://schemas.openxmlformats.org/officeDocument/2006/math">
                    <m:sSub>
                      <m:sSubPr>
                        <m:ctrlPr>
                          <a:rPr lang="en-US" sz="1600" i="1">
                            <a:latin typeface="Cambria Math" panose="02040503050406030204" pitchFamily="18" charset="0"/>
                            <a:ea typeface="Cambria Math" panose="02040503050406030204" pitchFamily="18" charset="0"/>
                            <a:cs typeface="Tahoma" panose="020B0604030504040204" pitchFamily="34" charset="0"/>
                          </a:rPr>
                        </m:ctrlPr>
                      </m:sSubPr>
                      <m:e>
                        <m:r>
                          <a:rPr lang="en-US" sz="1600" i="1">
                            <a:latin typeface="Cambria Math" panose="02040503050406030204" pitchFamily="18" charset="0"/>
                            <a:ea typeface="Cambria Math" panose="02040503050406030204" pitchFamily="18" charset="0"/>
                            <a:cs typeface="Tahoma" panose="020B0604030504040204" pitchFamily="34" charset="0"/>
                          </a:rPr>
                          <m:t>𝑞</m:t>
                        </m:r>
                      </m:e>
                      <m:sub>
                        <m:r>
                          <a:rPr lang="en-US" sz="1600" b="0" i="1" smtClean="0">
                            <a:latin typeface="Cambria Math" panose="02040503050406030204" pitchFamily="18" charset="0"/>
                            <a:ea typeface="Cambria Math" panose="02040503050406030204" pitchFamily="18" charset="0"/>
                            <a:cs typeface="Tahoma" panose="020B0604030504040204" pitchFamily="34" charset="0"/>
                          </a:rPr>
                          <m:t>𝑐</m:t>
                        </m:r>
                      </m:sub>
                    </m:sSub>
                  </m:oMath>
                </a14:m>
                <a:r>
                  <a:rPr lang="en-US" sz="1600" dirty="0">
                    <a:latin typeface="Tahoma" panose="020B0604030504040204" pitchFamily="34" charset="0"/>
                    <a:ea typeface="Tahoma" panose="020B0604030504040204" pitchFamily="34" charset="0"/>
                    <a:cs typeface="Tahoma" panose="020B0604030504040204" pitchFamily="34" charset="0"/>
                  </a:rPr>
                  <a:t> minimized its loss by predicting its own mean, with no incentive to learn the small-scale fluctuations.</a:t>
                </a:r>
              </a:p>
            </p:txBody>
          </p:sp>
        </mc:Choice>
        <mc:Fallback xmlns="">
          <p:sp>
            <p:nvSpPr>
              <p:cNvPr id="7" name="Rectangle 6">
                <a:extLst>
                  <a:ext uri="{FF2B5EF4-FFF2-40B4-BE49-F238E27FC236}">
                    <a16:creationId xmlns:a16="http://schemas.microsoft.com/office/drawing/2014/main" id="{F97CAF6A-92C2-FCC9-AEAE-230C02B4E53E}"/>
                  </a:ext>
                </a:extLst>
              </p:cNvPr>
              <p:cNvSpPr>
                <a:spLocks noRot="1" noChangeAspect="1" noMove="1" noResize="1" noEditPoints="1" noAdjustHandles="1" noChangeArrowheads="1" noChangeShapeType="1" noTextEdit="1"/>
              </p:cNvSpPr>
              <p:nvPr/>
            </p:nvSpPr>
            <p:spPr>
              <a:xfrm>
                <a:off x="1563755" y="1925783"/>
                <a:ext cx="9576700" cy="2343269"/>
              </a:xfrm>
              <a:prstGeom prst="rect">
                <a:avLst/>
              </a:prstGeom>
              <a:blipFill>
                <a:blip r:embed="rId3"/>
                <a:stretch>
                  <a:fillRect l="-265"/>
                </a:stretch>
              </a:blipFill>
              <a:ln>
                <a:solidFill>
                  <a:schemeClr val="bg1"/>
                </a:solidFill>
              </a:ln>
            </p:spPr>
            <p:txBody>
              <a:bodyPr/>
              <a:lstStyle/>
              <a:p>
                <a:r>
                  <a:rPr lang="en-US">
                    <a:noFill/>
                  </a:rPr>
                  <a:t> </a:t>
                </a:r>
              </a:p>
            </p:txBody>
          </p:sp>
        </mc:Fallback>
      </mc:AlternateContent>
      <p:sp>
        <p:nvSpPr>
          <p:cNvPr id="8" name="Rectangle 7">
            <a:extLst>
              <a:ext uri="{FF2B5EF4-FFF2-40B4-BE49-F238E27FC236}">
                <a16:creationId xmlns:a16="http://schemas.microsoft.com/office/drawing/2014/main" id="{550BA8A5-B426-8D0D-1AF1-A5F15B9F1977}"/>
              </a:ext>
            </a:extLst>
          </p:cNvPr>
          <p:cNvSpPr/>
          <p:nvPr/>
        </p:nvSpPr>
        <p:spPr>
          <a:xfrm>
            <a:off x="1621732" y="4418216"/>
            <a:ext cx="9576700" cy="620013"/>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sz="1600" dirty="0">
                <a:latin typeface="Tahoma" panose="020B0604030504040204" pitchFamily="34" charset="0"/>
                <a:ea typeface="Tahoma" panose="020B0604030504040204" pitchFamily="34" charset="0"/>
                <a:cs typeface="Tahoma" panose="020B0604030504040204" pitchFamily="34" charset="0"/>
              </a:rPr>
              <a:t>Neither cause is fixable by tuning the network as they are related to data and objective.</a:t>
            </a:r>
          </a:p>
        </p:txBody>
      </p:sp>
    </p:spTree>
    <p:extLst>
      <p:ext uri="{BB962C8B-B14F-4D97-AF65-F5344CB8AC3E}">
        <p14:creationId xmlns:p14="http://schemas.microsoft.com/office/powerpoint/2010/main" val="3421394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DD02C-1FEC-2856-F249-18BF6EE2976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D0F803-583F-DB5D-0E69-241348743B9C}"/>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F4CC5E2-B50A-5C9D-8F90-E5A63D5B70F1}"/>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8515F2C-0105-B231-FD8E-0A1F0D62FA08}"/>
              </a:ext>
            </a:extLst>
          </p:cNvPr>
          <p:cNvSpPr/>
          <p:nvPr/>
        </p:nvSpPr>
        <p:spPr>
          <a:xfrm>
            <a:off x="628164" y="1229324"/>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8DACF2-1769-F9F1-BA7A-4B2821FC4B13}"/>
              </a:ext>
            </a:extLst>
          </p:cNvPr>
          <p:cNvSpPr/>
          <p:nvPr/>
        </p:nvSpPr>
        <p:spPr>
          <a:xfrm>
            <a:off x="680716" y="1325231"/>
            <a:ext cx="11458732" cy="4562581"/>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8B37E4ED-F399-38C4-C131-F4A9B0D677B5}"/>
              </a:ext>
            </a:extLst>
          </p:cNvPr>
          <p:cNvSpPr txBox="1"/>
          <p:nvPr/>
        </p:nvSpPr>
        <p:spPr>
          <a:xfrm>
            <a:off x="838411" y="525906"/>
            <a:ext cx="4819976"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Changes Made in Run #2</a:t>
            </a:r>
          </a:p>
        </p:txBody>
      </p:sp>
      <p:sp>
        <p:nvSpPr>
          <p:cNvPr id="10" name="Content Placeholder 2">
            <a:extLst>
              <a:ext uri="{FF2B5EF4-FFF2-40B4-BE49-F238E27FC236}">
                <a16:creationId xmlns:a16="http://schemas.microsoft.com/office/drawing/2014/main" id="{94198CA0-B5DB-F167-6CE4-C0F7E374AF33}"/>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BEEC2D36-D457-2754-1302-A21D3030304D}"/>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F0EF540C-F864-DB5B-5082-F26514FFC16C}"/>
              </a:ext>
            </a:extLst>
          </p:cNvPr>
          <p:cNvSpPr/>
          <p:nvPr/>
        </p:nvSpPr>
        <p:spPr>
          <a:xfrm>
            <a:off x="680716" y="5887812"/>
            <a:ext cx="11458732" cy="970188"/>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5E2A5065-5C3B-F16D-477A-6706C7A5F058}"/>
                  </a:ext>
                </a:extLst>
              </p:cNvPr>
              <p:cNvGraphicFramePr>
                <a:graphicFrameLocks noGrp="1"/>
              </p:cNvGraphicFramePr>
              <p:nvPr/>
            </p:nvGraphicFramePr>
            <p:xfrm>
              <a:off x="1498362" y="1717865"/>
              <a:ext cx="9368421" cy="3679384"/>
            </p:xfrm>
            <a:graphic>
              <a:graphicData uri="http://schemas.openxmlformats.org/drawingml/2006/table">
                <a:tbl>
                  <a:tblPr firstRow="1" firstCol="1" bandRow="1">
                    <a:tableStyleId>{5940675A-B579-460E-94D1-54222C63F5DA}</a:tableStyleId>
                  </a:tblPr>
                  <a:tblGrid>
                    <a:gridCol w="3122807">
                      <a:extLst>
                        <a:ext uri="{9D8B030D-6E8A-4147-A177-3AD203B41FA5}">
                          <a16:colId xmlns:a16="http://schemas.microsoft.com/office/drawing/2014/main" val="3020828888"/>
                        </a:ext>
                      </a:extLst>
                    </a:gridCol>
                    <a:gridCol w="3122807">
                      <a:extLst>
                        <a:ext uri="{9D8B030D-6E8A-4147-A177-3AD203B41FA5}">
                          <a16:colId xmlns:a16="http://schemas.microsoft.com/office/drawing/2014/main" val="4122923738"/>
                        </a:ext>
                      </a:extLst>
                    </a:gridCol>
                    <a:gridCol w="3122807">
                      <a:extLst>
                        <a:ext uri="{9D8B030D-6E8A-4147-A177-3AD203B41FA5}">
                          <a16:colId xmlns:a16="http://schemas.microsoft.com/office/drawing/2014/main" val="1443539750"/>
                        </a:ext>
                      </a:extLst>
                    </a:gridCol>
                  </a:tblGrid>
                  <a:tr h="517326">
                    <a:tc>
                      <a:txBody>
                        <a:bodyPr/>
                        <a:lstStyle/>
                        <a:p>
                          <a:pPr marL="0" marR="0" algn="ctr">
                            <a:lnSpc>
                              <a:spcPct val="100000"/>
                            </a:lnSpc>
                            <a:spcBef>
                              <a:spcPts val="0"/>
                            </a:spcBef>
                            <a:spcAft>
                              <a:spcPts val="0"/>
                            </a:spcAft>
                          </a:pPr>
                          <a:r>
                            <a:rPr lang="en-US" altLang="en-US" sz="1600" b="1" dirty="0">
                              <a:solidFill>
                                <a:srgbClr val="000000"/>
                              </a:solidFill>
                              <a:latin typeface="Tahoma" panose="020B0604030504040204" pitchFamily="34" charset="0"/>
                              <a:ea typeface="Times New Roman" panose="02020603050405020304" pitchFamily="18" charset="0"/>
                            </a:rPr>
                            <a:t>Aspect</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600" b="1" dirty="0">
                              <a:solidFill>
                                <a:srgbClr val="000000"/>
                              </a:solidFill>
                              <a:latin typeface="Tahoma" panose="020B0604030504040204" pitchFamily="34" charset="0"/>
                              <a:ea typeface="Times New Roman" panose="02020603050405020304" pitchFamily="18" charset="0"/>
                            </a:rPr>
                            <a:t>Run #1</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600" b="1" dirty="0">
                              <a:solidFill>
                                <a:srgbClr val="000000"/>
                              </a:solidFill>
                              <a:latin typeface="Tahoma" panose="020B0604030504040204" pitchFamily="34" charset="0"/>
                              <a:ea typeface="Times New Roman" panose="02020603050405020304" pitchFamily="18" charset="0"/>
                            </a:rPr>
                            <a:t>Run #2</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solidFill>
                          <a:schemeClr val="bg2">
                            <a:lumMod val="90000"/>
                          </a:schemeClr>
                        </a:solidFill>
                      </a:tcPr>
                    </a:tc>
                    <a:extLst>
                      <a:ext uri="{0D108BD9-81ED-4DB2-BD59-A6C34878D82A}">
                        <a16:rowId xmlns:a16="http://schemas.microsoft.com/office/drawing/2014/main" val="2681164120"/>
                      </a:ext>
                    </a:extLst>
                  </a:tr>
                  <a:tr h="798954">
                    <a:tc>
                      <a:txBody>
                        <a:bodyPr/>
                        <a:lstStyle/>
                        <a:p>
                          <a:pPr marL="0" marR="0" algn="ctr">
                            <a:lnSpc>
                              <a:spcPct val="100000"/>
                            </a:lnSpc>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Training target</a:t>
                          </a:r>
                        </a:p>
                      </a:txBody>
                      <a:tcPr marL="68580" marR="68580" marT="0" marB="0" anchor="ctr">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Spectral zero-padding of 128</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 input (No new information)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True 192</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 DNS fields</a:t>
                          </a:r>
                        </a:p>
                      </a:txBody>
                      <a:tcPr marL="68580" marR="68580" marT="0" marB="0" anchor="ct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857250396"/>
                      </a:ext>
                    </a:extLst>
                  </a:tr>
                  <a:tr h="706582">
                    <a:tc>
                      <a:txBody>
                        <a:bodyPr/>
                        <a:lstStyle/>
                        <a:p>
                          <a:pPr marL="0" marR="0" algn="ctr">
                            <a:lnSpc>
                              <a:spcPct val="100000"/>
                            </a:lnSpc>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Loss</a:t>
                          </a:r>
                        </a:p>
                      </a:txBody>
                      <a:tcPr marL="68580" marR="68580" marT="0" marB="0"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One pooled MSE over both channel</a:t>
                          </a: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s</a:t>
                          </a:r>
                        </a:p>
                      </a:txBody>
                      <a:tcPr marL="68580" marR="68580" marT="0" marB="0" anchor="ctr">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Per-channel weighted MSE (</a:t>
                          </a:r>
                          <a14:m>
                            <m:oMath xmlns:m="http://schemas.openxmlformats.org/officeDocument/2006/math">
                              <m:sSub>
                                <m:sSubPr>
                                  <m:ctrlPr>
                                    <a:rPr lang="en-US" sz="1600" i="1" smtClean="0">
                                      <a:latin typeface="Cambria Math" panose="02040503050406030204" pitchFamily="18" charset="0"/>
                                      <a:ea typeface="Cambria Math" panose="02040503050406030204" pitchFamily="18" charset="0"/>
                                      <a:cs typeface="Tahoma" panose="020B0604030504040204" pitchFamily="34" charset="0"/>
                                    </a:rPr>
                                  </m:ctrlPr>
                                </m:sSubPr>
                                <m:e>
                                  <m:r>
                                    <a:rPr lang="en-US" sz="1600" b="0" i="1" smtClean="0">
                                      <a:latin typeface="Cambria Math" panose="02040503050406030204" pitchFamily="18" charset="0"/>
                                      <a:ea typeface="Cambria Math" panose="02040503050406030204" pitchFamily="18" charset="0"/>
                                      <a:cs typeface="Tahoma" panose="020B0604030504040204" pitchFamily="34" charset="0"/>
                                    </a:rPr>
                                    <m:t>𝑆</m:t>
                                  </m:r>
                                </m:e>
                                <m:sub>
                                  <m:r>
                                    <a:rPr lang="en-US" sz="1600" b="0" i="1" smtClean="0">
                                      <a:latin typeface="Cambria Math" panose="02040503050406030204" pitchFamily="18" charset="0"/>
                                      <a:ea typeface="Cambria Math" panose="02040503050406030204" pitchFamily="18" charset="0"/>
                                      <a:cs typeface="Tahoma" panose="020B0604030504040204" pitchFamily="34" charset="0"/>
                                    </a:rPr>
                                    <m:t>𝑒</m:t>
                                  </m:r>
                                </m:sub>
                              </m:sSub>
                              <m:r>
                                <a:rPr lang="en-US" sz="1600" b="0" i="0" smtClean="0">
                                  <a:latin typeface="Cambria Math" panose="02040503050406030204" pitchFamily="18" charset="0"/>
                                  <a:ea typeface="Cambria Math" panose="02040503050406030204" pitchFamily="18" charset="0"/>
                                  <a:cs typeface="Tahoma" panose="020B0604030504040204" pitchFamily="34" charset="0"/>
                                </a:rPr>
                                <m:t> </m:t>
                              </m:r>
                            </m:oMath>
                          </a14:m>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and </a:t>
                          </a:r>
                          <a14:m>
                            <m:oMath xmlns:m="http://schemas.openxmlformats.org/officeDocument/2006/math">
                              <m:sSub>
                                <m:sSubPr>
                                  <m:ctrlPr>
                                    <a:rPr lang="en-US" sz="1600" i="1" smtClean="0">
                                      <a:latin typeface="Cambria Math" panose="02040503050406030204" pitchFamily="18" charset="0"/>
                                      <a:ea typeface="Cambria Math" panose="02040503050406030204" pitchFamily="18" charset="0"/>
                                      <a:cs typeface="Tahoma" panose="020B0604030504040204" pitchFamily="34" charset="0"/>
                                    </a:rPr>
                                  </m:ctrlPr>
                                </m:sSubPr>
                                <m:e>
                                  <m:r>
                                    <a:rPr lang="en-US" sz="1600" i="1">
                                      <a:latin typeface="Cambria Math" panose="02040503050406030204" pitchFamily="18" charset="0"/>
                                      <a:ea typeface="Cambria Math" panose="02040503050406030204" pitchFamily="18" charset="0"/>
                                      <a:cs typeface="Tahoma" panose="020B0604030504040204" pitchFamily="34" charset="0"/>
                                    </a:rPr>
                                    <m:t>𝑞</m:t>
                                  </m:r>
                                </m:e>
                                <m:sub>
                                  <m:r>
                                    <a:rPr lang="en-US" sz="1600" b="0" i="1" smtClean="0">
                                      <a:latin typeface="Cambria Math" panose="02040503050406030204" pitchFamily="18" charset="0"/>
                                      <a:ea typeface="Cambria Math" panose="02040503050406030204" pitchFamily="18" charset="0"/>
                                      <a:cs typeface="Tahoma" panose="020B0604030504040204" pitchFamily="34" charset="0"/>
                                    </a:rPr>
                                    <m:t>𝑐</m:t>
                                  </m:r>
                                </m:sub>
                              </m:sSub>
                              <m:r>
                                <a:rPr lang="en-US" sz="1600" b="0" i="0" smtClean="0">
                                  <a:latin typeface="Cambria Math" panose="02040503050406030204" pitchFamily="18" charset="0"/>
                                  <a:ea typeface="Cambria Math" panose="02040503050406030204" pitchFamily="18" charset="0"/>
                                  <a:cs typeface="Tahoma" panose="020B0604030504040204" pitchFamily="34" charset="0"/>
                                </a:rPr>
                                <m:t> </m:t>
                              </m:r>
                            </m:oMath>
                          </a14:m>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are separate)</a:t>
                          </a:r>
                        </a:p>
                      </a:txBody>
                      <a:tcPr marL="68580" marR="68580" marT="0" marB="0" anchor="ctr">
                        <a:lnL w="12700" cap="flat" cmpd="sng" algn="ctr">
                          <a:solidFill>
                            <a:schemeClr val="tx1"/>
                          </a:solidFill>
                          <a:prstDash val="solid"/>
                          <a:round/>
                          <a:headEnd type="none" w="med" len="med"/>
                          <a:tailEnd type="none" w="med" len="med"/>
                        </a:lnL>
                        <a:solidFill>
                          <a:schemeClr val="bg2">
                            <a:lumMod val="90000"/>
                          </a:schemeClr>
                        </a:solidFill>
                      </a:tcPr>
                    </a:tc>
                    <a:extLst>
                      <a:ext uri="{0D108BD9-81ED-4DB2-BD59-A6C34878D82A}">
                        <a16:rowId xmlns:a16="http://schemas.microsoft.com/office/drawing/2014/main" val="990567453"/>
                      </a:ext>
                    </a:extLst>
                  </a:tr>
                  <a:tr h="5433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Normalization</a:t>
                          </a:r>
                        </a:p>
                      </a:txBody>
                      <a:tcPr marL="68580" marR="68580" marT="0" marB="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Starts from 128</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 only</a:t>
                          </a:r>
                        </a:p>
                      </a:txBody>
                      <a:tcPr marL="68580" marR="68580" marT="0" marB="0" anchor="ctr">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Pooled across 128</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 + 192</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844778031"/>
                      </a:ext>
                    </a:extLst>
                  </a:tr>
                  <a:tr h="5300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Noise scale</a:t>
                          </a:r>
                        </a:p>
                      </a:txBody>
                      <a:tcPr marL="68580" marR="68580" marT="0" marB="0"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0.1 for both channels</a:t>
                          </a:r>
                        </a:p>
                      </a:txBody>
                      <a:tcPr marL="68580" marR="68580" marT="0" marB="0" anchor="ctr">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0.1 for </a:t>
                          </a:r>
                          <a14:m>
                            <m:oMath xmlns:m="http://schemas.openxmlformats.org/officeDocument/2006/math">
                              <m:sSub>
                                <m:sSubPr>
                                  <m:ctrlPr>
                                    <a:rPr lang="en-US" sz="1600" i="1" smtClean="0">
                                      <a:latin typeface="Cambria Math" panose="02040503050406030204" pitchFamily="18" charset="0"/>
                                      <a:ea typeface="Cambria Math" panose="02040503050406030204" pitchFamily="18" charset="0"/>
                                      <a:cs typeface="Tahoma" panose="020B0604030504040204" pitchFamily="34" charset="0"/>
                                    </a:rPr>
                                  </m:ctrlPr>
                                </m:sSubPr>
                                <m:e>
                                  <m:r>
                                    <a:rPr lang="en-US" sz="1600" b="0" i="1" smtClean="0">
                                      <a:latin typeface="Cambria Math" panose="02040503050406030204" pitchFamily="18" charset="0"/>
                                      <a:ea typeface="Cambria Math" panose="02040503050406030204" pitchFamily="18" charset="0"/>
                                      <a:cs typeface="Tahoma" panose="020B0604030504040204" pitchFamily="34" charset="0"/>
                                    </a:rPr>
                                    <m:t>𝑆</m:t>
                                  </m:r>
                                </m:e>
                                <m:sub>
                                  <m:r>
                                    <a:rPr lang="en-US" sz="1600" b="0" i="1" smtClean="0">
                                      <a:latin typeface="Cambria Math" panose="02040503050406030204" pitchFamily="18" charset="0"/>
                                      <a:ea typeface="Cambria Math" panose="02040503050406030204" pitchFamily="18" charset="0"/>
                                      <a:cs typeface="Tahoma" panose="020B0604030504040204" pitchFamily="34" charset="0"/>
                                    </a:rPr>
                                    <m:t>𝑒</m:t>
                                  </m:r>
                                </m:sub>
                              </m:sSub>
                              <m:r>
                                <a:rPr lang="en-US" sz="1600" b="0" i="0" smtClean="0">
                                  <a:latin typeface="Cambria Math" panose="02040503050406030204" pitchFamily="18" charset="0"/>
                                  <a:ea typeface="Cambria Math" panose="02040503050406030204" pitchFamily="18" charset="0"/>
                                  <a:cs typeface="Tahoma" panose="020B0604030504040204" pitchFamily="34" charset="0"/>
                                </a:rPr>
                                <m:t> </m:t>
                              </m:r>
                            </m:oMath>
                          </a14:m>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and 0.3 for </a:t>
                          </a:r>
                          <a14:m>
                            <m:oMath xmlns:m="http://schemas.openxmlformats.org/officeDocument/2006/math">
                              <m:sSub>
                                <m:sSubPr>
                                  <m:ctrlPr>
                                    <a:rPr lang="en-US" sz="1600" i="1" smtClean="0">
                                      <a:latin typeface="Cambria Math" panose="02040503050406030204" pitchFamily="18" charset="0"/>
                                      <a:ea typeface="Cambria Math" panose="02040503050406030204" pitchFamily="18" charset="0"/>
                                      <a:cs typeface="Tahoma" panose="020B0604030504040204" pitchFamily="34" charset="0"/>
                                    </a:rPr>
                                  </m:ctrlPr>
                                </m:sSubPr>
                                <m:e>
                                  <m:r>
                                    <a:rPr lang="en-US" sz="1600" i="1">
                                      <a:latin typeface="Cambria Math" panose="02040503050406030204" pitchFamily="18" charset="0"/>
                                      <a:ea typeface="Cambria Math" panose="02040503050406030204" pitchFamily="18" charset="0"/>
                                      <a:cs typeface="Tahoma" panose="020B0604030504040204" pitchFamily="34" charset="0"/>
                                    </a:rPr>
                                    <m:t>𝑞</m:t>
                                  </m:r>
                                </m:e>
                                <m:sub>
                                  <m:r>
                                    <a:rPr lang="en-US" sz="1600" b="0" i="1" smtClean="0">
                                      <a:latin typeface="Cambria Math" panose="02040503050406030204" pitchFamily="18" charset="0"/>
                                      <a:ea typeface="Cambria Math" panose="02040503050406030204" pitchFamily="18" charset="0"/>
                                      <a:cs typeface="Tahoma" panose="020B0604030504040204" pitchFamily="34" charset="0"/>
                                    </a:rPr>
                                    <m:t>𝑐</m:t>
                                  </m:r>
                                </m:sub>
                              </m:sSub>
                            </m:oMath>
                          </a14:m>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solidFill>
                          <a:schemeClr val="bg2">
                            <a:lumMod val="90000"/>
                          </a:schemeClr>
                        </a:solidFill>
                      </a:tcPr>
                    </a:tc>
                    <a:extLst>
                      <a:ext uri="{0D108BD9-81ED-4DB2-BD59-A6C34878D82A}">
                        <a16:rowId xmlns:a16="http://schemas.microsoft.com/office/drawing/2014/main" val="1011329732"/>
                      </a:ext>
                    </a:extLst>
                  </a:tr>
                  <a:tr h="5830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FNO modes/widths/layers</a:t>
                          </a:r>
                        </a:p>
                      </a:txBody>
                      <a:tcPr marL="68580" marR="68580" marT="0" marB="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n-US" sz="1600" b="0" i="0" dirty="0" smtClean="0">
                                    <a:solidFill>
                                      <a:schemeClr val="tx1"/>
                                    </a:solidFill>
                                    <a:effectLst/>
                                    <a:latin typeface="Tahoma" panose="020B0604030504040204" pitchFamily="34" charset="0"/>
                                    <a:ea typeface="Tahoma" panose="020B0604030504040204" pitchFamily="34" charset="0"/>
                                    <a:cs typeface="Tahoma" panose="020B0604030504040204" pitchFamily="34" charset="0"/>
                                  </a:rPr>
                                  <m:t>6/4/2</m:t>
                                </m:r>
                              </m:oMath>
                            </m:oMathPara>
                          </a14:m>
                          <a:endParaRPr lang="en-US" sz="12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6/4/2</a:t>
                          </a:r>
                        </a:p>
                      </a:txBody>
                      <a:tcPr marL="68580" marR="68580" marT="0" marB="0" anchor="ct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355476031"/>
                      </a:ext>
                    </a:extLst>
                  </a:tr>
                </a:tbl>
              </a:graphicData>
            </a:graphic>
          </p:graphicFrame>
        </mc:Choice>
        <mc:Fallback xmlns="">
          <p:graphicFrame>
            <p:nvGraphicFramePr>
              <p:cNvPr id="7" name="Table 6">
                <a:extLst>
                  <a:ext uri="{FF2B5EF4-FFF2-40B4-BE49-F238E27FC236}">
                    <a16:creationId xmlns:a16="http://schemas.microsoft.com/office/drawing/2014/main" id="{5E2A5065-5C3B-F16D-477A-6706C7A5F058}"/>
                  </a:ext>
                </a:extLst>
              </p:cNvPr>
              <p:cNvGraphicFramePr>
                <a:graphicFrameLocks noGrp="1"/>
              </p:cNvGraphicFramePr>
              <p:nvPr>
                <p:extLst>
                  <p:ext uri="{D42A27DB-BD31-4B8C-83A1-F6EECF244321}">
                    <p14:modId xmlns:p14="http://schemas.microsoft.com/office/powerpoint/2010/main" val="2684444329"/>
                  </p:ext>
                </p:extLst>
              </p:nvPr>
            </p:nvGraphicFramePr>
            <p:xfrm>
              <a:off x="1498362" y="1717865"/>
              <a:ext cx="9368421" cy="3679384"/>
            </p:xfrm>
            <a:graphic>
              <a:graphicData uri="http://schemas.openxmlformats.org/drawingml/2006/table">
                <a:tbl>
                  <a:tblPr firstRow="1" firstCol="1" bandRow="1">
                    <a:tableStyleId>{5940675A-B579-460E-94D1-54222C63F5DA}</a:tableStyleId>
                  </a:tblPr>
                  <a:tblGrid>
                    <a:gridCol w="3122807">
                      <a:extLst>
                        <a:ext uri="{9D8B030D-6E8A-4147-A177-3AD203B41FA5}">
                          <a16:colId xmlns:a16="http://schemas.microsoft.com/office/drawing/2014/main" val="3020828888"/>
                        </a:ext>
                      </a:extLst>
                    </a:gridCol>
                    <a:gridCol w="3122807">
                      <a:extLst>
                        <a:ext uri="{9D8B030D-6E8A-4147-A177-3AD203B41FA5}">
                          <a16:colId xmlns:a16="http://schemas.microsoft.com/office/drawing/2014/main" val="4122923738"/>
                        </a:ext>
                      </a:extLst>
                    </a:gridCol>
                    <a:gridCol w="3122807">
                      <a:extLst>
                        <a:ext uri="{9D8B030D-6E8A-4147-A177-3AD203B41FA5}">
                          <a16:colId xmlns:a16="http://schemas.microsoft.com/office/drawing/2014/main" val="1443539750"/>
                        </a:ext>
                      </a:extLst>
                    </a:gridCol>
                  </a:tblGrid>
                  <a:tr h="517326">
                    <a:tc>
                      <a:txBody>
                        <a:bodyPr/>
                        <a:lstStyle/>
                        <a:p>
                          <a:pPr marL="0" marR="0" algn="ctr">
                            <a:lnSpc>
                              <a:spcPct val="100000"/>
                            </a:lnSpc>
                            <a:spcBef>
                              <a:spcPts val="0"/>
                            </a:spcBef>
                            <a:spcAft>
                              <a:spcPts val="0"/>
                            </a:spcAft>
                          </a:pPr>
                          <a:r>
                            <a:rPr lang="en-US" altLang="en-US" sz="1600" b="1" dirty="0">
                              <a:solidFill>
                                <a:srgbClr val="000000"/>
                              </a:solidFill>
                              <a:latin typeface="Tahoma" panose="020B0604030504040204" pitchFamily="34" charset="0"/>
                              <a:ea typeface="Times New Roman" panose="02020603050405020304" pitchFamily="18" charset="0"/>
                            </a:rPr>
                            <a:t>Aspect</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600" b="1" dirty="0">
                              <a:solidFill>
                                <a:srgbClr val="000000"/>
                              </a:solidFill>
                              <a:latin typeface="Tahoma" panose="020B0604030504040204" pitchFamily="34" charset="0"/>
                              <a:ea typeface="Times New Roman" panose="02020603050405020304" pitchFamily="18" charset="0"/>
                            </a:rPr>
                            <a:t>Run #1</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600" b="1" dirty="0">
                              <a:solidFill>
                                <a:srgbClr val="000000"/>
                              </a:solidFill>
                              <a:latin typeface="Tahoma" panose="020B0604030504040204" pitchFamily="34" charset="0"/>
                              <a:ea typeface="Times New Roman" panose="02020603050405020304" pitchFamily="18" charset="0"/>
                            </a:rPr>
                            <a:t>Run #2</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solidFill>
                          <a:schemeClr val="bg2">
                            <a:lumMod val="90000"/>
                          </a:schemeClr>
                        </a:solidFill>
                      </a:tcPr>
                    </a:tc>
                    <a:extLst>
                      <a:ext uri="{0D108BD9-81ED-4DB2-BD59-A6C34878D82A}">
                        <a16:rowId xmlns:a16="http://schemas.microsoft.com/office/drawing/2014/main" val="2681164120"/>
                      </a:ext>
                    </a:extLst>
                  </a:tr>
                  <a:tr h="798954">
                    <a:tc>
                      <a:txBody>
                        <a:bodyPr/>
                        <a:lstStyle/>
                        <a:p>
                          <a:pPr marL="0" marR="0" algn="ctr">
                            <a:lnSpc>
                              <a:spcPct val="100000"/>
                            </a:lnSpc>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Training target</a:t>
                          </a:r>
                        </a:p>
                      </a:txBody>
                      <a:tcPr marL="68580" marR="68580" marT="0" marB="0" anchor="ctr">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Spectral zero-padding of 128</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 input (No new information)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True 192</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 DNS fields</a:t>
                          </a:r>
                        </a:p>
                      </a:txBody>
                      <a:tcPr marL="68580" marR="68580" marT="0" marB="0" anchor="ct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857250396"/>
                      </a:ext>
                    </a:extLst>
                  </a:tr>
                  <a:tr h="706582">
                    <a:tc>
                      <a:txBody>
                        <a:bodyPr/>
                        <a:lstStyle/>
                        <a:p>
                          <a:pPr marL="0" marR="0" algn="ctr">
                            <a:lnSpc>
                              <a:spcPct val="100000"/>
                            </a:lnSpc>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Loss</a:t>
                          </a:r>
                        </a:p>
                      </a:txBody>
                      <a:tcPr marL="68580" marR="68580" marT="0" marB="0"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One pooled MSE over both channel</a:t>
                          </a: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s</a:t>
                          </a:r>
                        </a:p>
                      </a:txBody>
                      <a:tcPr marL="68580" marR="68580" marT="0" marB="0" anchor="ctr">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blipFill>
                          <a:blip r:embed="rId3"/>
                          <a:stretch>
                            <a:fillRect l="-200407" t="-190909" r="-407" b="-241818"/>
                          </a:stretch>
                        </a:blipFill>
                      </a:tcPr>
                    </a:tc>
                    <a:extLst>
                      <a:ext uri="{0D108BD9-81ED-4DB2-BD59-A6C34878D82A}">
                        <a16:rowId xmlns:a16="http://schemas.microsoft.com/office/drawing/2014/main" val="990567453"/>
                      </a:ext>
                    </a:extLst>
                  </a:tr>
                  <a:tr h="5433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Normalization</a:t>
                          </a:r>
                        </a:p>
                      </a:txBody>
                      <a:tcPr marL="68580" marR="68580" marT="0" marB="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Starts from 128</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 only</a:t>
                          </a:r>
                        </a:p>
                      </a:txBody>
                      <a:tcPr marL="68580" marR="68580" marT="0" marB="0" anchor="ctr">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Pooled across 128</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 + 192</a:t>
                          </a:r>
                          <a:r>
                            <a:rPr lang="en-US" sz="1600" baseline="30000" dirty="0">
                              <a:solidFill>
                                <a:schemeClr val="tx1"/>
                              </a:solidFill>
                              <a:effectLst/>
                              <a:latin typeface="Tahoma" panose="020B0604030504040204" pitchFamily="34" charset="0"/>
                              <a:ea typeface="Tahoma" panose="020B0604030504040204" pitchFamily="34" charset="0"/>
                              <a:cs typeface="Tahoma" panose="020B0604030504040204" pitchFamily="34" charset="0"/>
                            </a:rPr>
                            <a:t>3</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844778031"/>
                      </a:ext>
                    </a:extLst>
                  </a:tr>
                  <a:tr h="5300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Noise scale</a:t>
                          </a:r>
                        </a:p>
                      </a:txBody>
                      <a:tcPr marL="68580" marR="68580" marT="0" marB="0"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0.1 for both channels</a:t>
                          </a:r>
                        </a:p>
                      </a:txBody>
                      <a:tcPr marL="68580" marR="68580" marT="0" marB="0" anchor="ctr">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blipFill>
                          <a:blip r:embed="rId3"/>
                          <a:stretch>
                            <a:fillRect l="-200407" t="-483333" r="-407" b="-114286"/>
                          </a:stretch>
                        </a:blipFill>
                      </a:tcPr>
                    </a:tc>
                    <a:extLst>
                      <a:ext uri="{0D108BD9-81ED-4DB2-BD59-A6C34878D82A}">
                        <a16:rowId xmlns:a16="http://schemas.microsoft.com/office/drawing/2014/main" val="1011329732"/>
                      </a:ext>
                    </a:extLst>
                  </a:tr>
                  <a:tr h="5830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FNO modes/widths/layers</a:t>
                          </a:r>
                        </a:p>
                      </a:txBody>
                      <a:tcPr marL="68580" marR="68580" marT="0" marB="0" anchor="ctr">
                        <a:solidFill>
                          <a:schemeClr val="bg1"/>
                        </a:solidFill>
                      </a:tcPr>
                    </a:tc>
                    <a:tc>
                      <a:txBody>
                        <a:bodyPr/>
                        <a:lstStyle/>
                        <a:p>
                          <a:endParaRPr lang="en-US"/>
                        </a:p>
                      </a:txBody>
                      <a:tcPr marL="68580" marR="68580" marT="0" marB="0" anchor="ctr">
                        <a:lnR w="12700" cap="flat" cmpd="sng" algn="ctr">
                          <a:solidFill>
                            <a:schemeClr val="tx1"/>
                          </a:solidFill>
                          <a:prstDash val="solid"/>
                          <a:round/>
                          <a:headEnd type="none" w="med" len="med"/>
                          <a:tailEnd type="none" w="med" len="med"/>
                        </a:lnR>
                        <a:blipFill>
                          <a:blip r:embed="rId3"/>
                          <a:stretch>
                            <a:fillRect l="-99595" t="-532609" r="-100000" b="-4348"/>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6/4/2</a:t>
                          </a:r>
                        </a:p>
                      </a:txBody>
                      <a:tcPr marL="68580" marR="68580" marT="0" marB="0" anchor="ct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355476031"/>
                      </a:ext>
                    </a:extLst>
                  </a:tr>
                </a:tbl>
              </a:graphicData>
            </a:graphic>
          </p:graphicFrame>
        </mc:Fallback>
      </mc:AlternateContent>
    </p:spTree>
    <p:extLst>
      <p:ext uri="{BB962C8B-B14F-4D97-AF65-F5344CB8AC3E}">
        <p14:creationId xmlns:p14="http://schemas.microsoft.com/office/powerpoint/2010/main" val="392344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33488-11A2-0C3A-687B-B33ABCAD7E2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BEACF1C-AE55-1E69-167C-49370708B1EE}"/>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89DC758-B3E3-0A38-E82D-24EDEF554EC8}"/>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CD5AEA6-46EB-34D7-993D-CBD3D0C26021}"/>
              </a:ext>
            </a:extLst>
          </p:cNvPr>
          <p:cNvSpPr/>
          <p:nvPr/>
        </p:nvSpPr>
        <p:spPr>
          <a:xfrm>
            <a:off x="628164" y="1229324"/>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9624002-3800-E731-7041-A0A1AC929BA9}"/>
              </a:ext>
            </a:extLst>
          </p:cNvPr>
          <p:cNvSpPr/>
          <p:nvPr/>
        </p:nvSpPr>
        <p:spPr>
          <a:xfrm>
            <a:off x="680716" y="1325231"/>
            <a:ext cx="11458732" cy="5177888"/>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D9963922-1174-BC3A-81AD-C377CD98A7C7}"/>
              </a:ext>
            </a:extLst>
          </p:cNvPr>
          <p:cNvSpPr txBox="1"/>
          <p:nvPr/>
        </p:nvSpPr>
        <p:spPr>
          <a:xfrm>
            <a:off x="838411" y="525906"/>
            <a:ext cx="4010680"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Results from Run #2</a:t>
            </a:r>
          </a:p>
        </p:txBody>
      </p:sp>
      <p:sp>
        <p:nvSpPr>
          <p:cNvPr id="10" name="Content Placeholder 2">
            <a:extLst>
              <a:ext uri="{FF2B5EF4-FFF2-40B4-BE49-F238E27FC236}">
                <a16:creationId xmlns:a16="http://schemas.microsoft.com/office/drawing/2014/main" id="{10408053-6F50-696D-554C-A166963E41DB}"/>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16517AA8-8C40-C137-9B81-E6A6C9186AC9}"/>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C8AA1871-D616-8B0F-254B-9E33CF9E6F7A}"/>
              </a:ext>
            </a:extLst>
          </p:cNvPr>
          <p:cNvSpPr/>
          <p:nvPr/>
        </p:nvSpPr>
        <p:spPr>
          <a:xfrm>
            <a:off x="680716" y="6503120"/>
            <a:ext cx="11458732" cy="354879"/>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37F52ED-DB13-C846-0F65-F0E814CF5A7B}"/>
              </a:ext>
            </a:extLst>
          </p:cNvPr>
          <p:cNvSpPr/>
          <p:nvPr/>
        </p:nvSpPr>
        <p:spPr>
          <a:xfrm>
            <a:off x="1387763" y="1462426"/>
            <a:ext cx="10228624" cy="422421"/>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sz="1600" dirty="0">
                <a:latin typeface="Tahoma" panose="020B0604030504040204" pitchFamily="34" charset="0"/>
                <a:ea typeface="Tahoma" panose="020B0604030504040204" pitchFamily="34" charset="0"/>
                <a:cs typeface="Tahoma" panose="020B0604030504040204" pitchFamily="34" charset="0"/>
              </a:rPr>
              <a:t>The PDFs of 192</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output are compared against the 128</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input and 192</a:t>
            </a:r>
            <a:r>
              <a:rPr lang="en-US" sz="1600" baseline="30000" dirty="0">
                <a:latin typeface="Tahoma" panose="020B0604030504040204" pitchFamily="34" charset="0"/>
                <a:ea typeface="Tahoma" panose="020B0604030504040204" pitchFamily="34" charset="0"/>
                <a:cs typeface="Tahoma" panose="020B0604030504040204" pitchFamily="34" charset="0"/>
              </a:rPr>
              <a:t>3</a:t>
            </a:r>
            <a:r>
              <a:rPr lang="en-US" sz="1600" dirty="0">
                <a:latin typeface="Tahoma" panose="020B0604030504040204" pitchFamily="34" charset="0"/>
                <a:ea typeface="Tahoma" panose="020B0604030504040204" pitchFamily="34" charset="0"/>
                <a:cs typeface="Tahoma" panose="020B0604030504040204" pitchFamily="34" charset="0"/>
              </a:rPr>
              <a:t> DNS ground truth. The vertical line segments are the respective mean values.</a:t>
            </a:r>
          </a:p>
        </p:txBody>
      </p:sp>
      <mc:AlternateContent xmlns:mc="http://schemas.openxmlformats.org/markup-compatibility/2006" xmlns:a14="http://schemas.microsoft.com/office/drawing/2010/main">
        <mc:Choice Requires="a14">
          <p:sp>
            <p:nvSpPr>
              <p:cNvPr id="13" name="Shape 2">
                <a:extLst>
                  <a:ext uri="{FF2B5EF4-FFF2-40B4-BE49-F238E27FC236}">
                    <a16:creationId xmlns:a16="http://schemas.microsoft.com/office/drawing/2014/main" id="{BED3C68D-F1F6-C991-5074-013D9D45D9A9}"/>
                  </a:ext>
                </a:extLst>
              </p:cNvPr>
              <p:cNvSpPr/>
              <p:nvPr/>
            </p:nvSpPr>
            <p:spPr>
              <a:xfrm>
                <a:off x="2143612" y="5755966"/>
                <a:ext cx="3541825" cy="408180"/>
              </a:xfrm>
              <a:prstGeom prst="roundRect">
                <a:avLst>
                  <a:gd name="adj" fmla="val 12000"/>
                </a:avLst>
              </a:prstGeom>
              <a:solidFill>
                <a:schemeClr val="tx2">
                  <a:lumMod val="20000"/>
                  <a:lumOff val="80000"/>
                </a:schemeClr>
              </a:solidFill>
              <a:ln/>
            </p:spPr>
            <p:style>
              <a:lnRef idx="2">
                <a:schemeClr val="dk1"/>
              </a:lnRef>
              <a:fillRef idx="1">
                <a:schemeClr val="lt1"/>
              </a:fillRef>
              <a:effectRef idx="0">
                <a:schemeClr val="dk1"/>
              </a:effectRef>
              <a:fontRef idx="minor">
                <a:schemeClr val="dk1"/>
              </a:fontRef>
            </p:style>
            <p:txBody>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PDFs and means of the </a:t>
                </a:r>
                <a14:m>
                  <m:oMath xmlns:m="http://schemas.openxmlformats.org/officeDocument/2006/math">
                    <m:sSub>
                      <m:sSubPr>
                        <m:ctrlPr>
                          <a:rPr lang="en-US" sz="1400" i="1" dirty="0">
                            <a:latin typeface="Cambria Math" panose="02040503050406030204" pitchFamily="18" charset="0"/>
                            <a:ea typeface="Tahoma" panose="020B0604030504040204" pitchFamily="34" charset="0"/>
                            <a:cs typeface="Tahoma" panose="020B0604030504040204" pitchFamily="34" charset="0"/>
                          </a:rPr>
                        </m:ctrlPr>
                      </m:sSubPr>
                      <m:e>
                        <m:r>
                          <a:rPr lang="en-US" sz="1400" i="1" dirty="0">
                            <a:latin typeface="Cambria Math" panose="02040503050406030204" pitchFamily="18" charset="0"/>
                            <a:ea typeface="Tahoma" panose="020B0604030504040204" pitchFamily="34" charset="0"/>
                            <a:cs typeface="Tahoma" panose="020B0604030504040204" pitchFamily="34" charset="0"/>
                          </a:rPr>
                          <m:t>𝑆</m:t>
                        </m:r>
                      </m:e>
                      <m:sub>
                        <m:r>
                          <a:rPr lang="en-US" sz="1400" i="1" dirty="0">
                            <a:latin typeface="Cambria Math" panose="02040503050406030204" pitchFamily="18" charset="0"/>
                            <a:ea typeface="Tahoma" panose="020B0604030504040204" pitchFamily="34" charset="0"/>
                            <a:cs typeface="Tahoma" panose="020B0604030504040204" pitchFamily="34" charset="0"/>
                          </a:rPr>
                          <m:t>𝑒</m:t>
                        </m:r>
                      </m:sub>
                    </m:sSub>
                  </m:oMath>
                </a14:m>
                <a:r>
                  <a:rPr lang="en-US" sz="1400"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3" name="Shape 2">
                <a:extLst>
                  <a:ext uri="{FF2B5EF4-FFF2-40B4-BE49-F238E27FC236}">
                    <a16:creationId xmlns:a16="http://schemas.microsoft.com/office/drawing/2014/main" id="{BED3C68D-F1F6-C991-5074-013D9D45D9A9}"/>
                  </a:ext>
                </a:extLst>
              </p:cNvPr>
              <p:cNvSpPr>
                <a:spLocks noRot="1" noChangeAspect="1" noMove="1" noResize="1" noEditPoints="1" noAdjustHandles="1" noChangeArrowheads="1" noChangeShapeType="1" noTextEdit="1"/>
              </p:cNvSpPr>
              <p:nvPr/>
            </p:nvSpPr>
            <p:spPr>
              <a:xfrm>
                <a:off x="2143612" y="5755966"/>
                <a:ext cx="3541825" cy="408180"/>
              </a:xfrm>
              <a:prstGeom prst="roundRect">
                <a:avLst>
                  <a:gd name="adj" fmla="val 12000"/>
                </a:avLst>
              </a:prstGeom>
              <a:blipFill>
                <a:blip r:embed="rId3"/>
                <a:stretch>
                  <a:fillRect/>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Shape 4">
                <a:extLst>
                  <a:ext uri="{FF2B5EF4-FFF2-40B4-BE49-F238E27FC236}">
                    <a16:creationId xmlns:a16="http://schemas.microsoft.com/office/drawing/2014/main" id="{1A7CFCAB-9D39-0CA5-6DDB-7C41BA3224B1}"/>
                  </a:ext>
                </a:extLst>
              </p:cNvPr>
              <p:cNvSpPr/>
              <p:nvPr/>
            </p:nvSpPr>
            <p:spPr>
              <a:xfrm>
                <a:off x="7492956" y="5755966"/>
                <a:ext cx="3285879" cy="408180"/>
              </a:xfrm>
              <a:prstGeom prst="roundRect">
                <a:avLst>
                  <a:gd name="adj" fmla="val 12000"/>
                </a:avLst>
              </a:prstGeom>
              <a:solidFill>
                <a:schemeClr val="tx2">
                  <a:lumMod val="20000"/>
                  <a:lumOff val="80000"/>
                </a:schemeClr>
              </a:solidFill>
              <a:ln/>
            </p:spPr>
            <p:style>
              <a:lnRef idx="2">
                <a:schemeClr val="dk1"/>
              </a:lnRef>
              <a:fillRef idx="1">
                <a:schemeClr val="lt1"/>
              </a:fillRef>
              <a:effectRef idx="0">
                <a:schemeClr val="dk1"/>
              </a:effectRef>
              <a:fontRef idx="minor">
                <a:schemeClr val="dk1"/>
              </a:fontRef>
            </p:style>
            <p:txBody>
              <a:bodyPr/>
              <a:lstStyle/>
              <a:p>
                <a:pPr algn="ctr"/>
                <a:r>
                  <a:rPr lang="en-US" sz="1400" dirty="0">
                    <a:latin typeface="Tahoma" panose="020B0604030504040204" pitchFamily="34" charset="0"/>
                    <a:ea typeface="Tahoma" panose="020B0604030504040204" pitchFamily="34" charset="0"/>
                    <a:cs typeface="Tahoma" panose="020B0604030504040204" pitchFamily="34" charset="0"/>
                  </a:rPr>
                  <a:t>PDFs and means of the </a:t>
                </a:r>
                <a14:m>
                  <m:oMath xmlns:m="http://schemas.openxmlformats.org/officeDocument/2006/math">
                    <m:sSub>
                      <m:sSubPr>
                        <m:ctrlPr>
                          <a:rPr lang="en-US" sz="1400" i="1" dirty="0">
                            <a:latin typeface="Cambria Math" panose="02040503050406030204" pitchFamily="18" charset="0"/>
                            <a:ea typeface="Tahoma" panose="020B0604030504040204" pitchFamily="34" charset="0"/>
                            <a:cs typeface="Tahoma" panose="020B0604030504040204" pitchFamily="34" charset="0"/>
                          </a:rPr>
                        </m:ctrlPr>
                      </m:sSubPr>
                      <m:e>
                        <m:r>
                          <a:rPr lang="en-US" sz="1400" b="0" i="1" dirty="0" smtClean="0">
                            <a:latin typeface="Cambria Math" panose="02040503050406030204" pitchFamily="18" charset="0"/>
                            <a:ea typeface="Tahoma" panose="020B0604030504040204" pitchFamily="34" charset="0"/>
                            <a:cs typeface="Tahoma" panose="020B0604030504040204" pitchFamily="34" charset="0"/>
                          </a:rPr>
                          <m:t>𝑞</m:t>
                        </m:r>
                      </m:e>
                      <m:sub>
                        <m:r>
                          <a:rPr lang="en-US" sz="1400" b="0" i="1" dirty="0" smtClean="0">
                            <a:latin typeface="Cambria Math" panose="02040503050406030204" pitchFamily="18" charset="0"/>
                            <a:ea typeface="Tahoma" panose="020B0604030504040204" pitchFamily="34" charset="0"/>
                            <a:cs typeface="Tahoma" panose="020B0604030504040204" pitchFamily="34" charset="0"/>
                          </a:rPr>
                          <m:t>𝑐</m:t>
                        </m:r>
                      </m:sub>
                    </m:sSub>
                  </m:oMath>
                </a14:m>
                <a:r>
                  <a:rPr lang="en-US" sz="1400"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7" name="Shape 4">
                <a:extLst>
                  <a:ext uri="{FF2B5EF4-FFF2-40B4-BE49-F238E27FC236}">
                    <a16:creationId xmlns:a16="http://schemas.microsoft.com/office/drawing/2014/main" id="{1A7CFCAB-9D39-0CA5-6DDB-7C41BA3224B1}"/>
                  </a:ext>
                </a:extLst>
              </p:cNvPr>
              <p:cNvSpPr>
                <a:spLocks noRot="1" noChangeAspect="1" noMove="1" noResize="1" noEditPoints="1" noAdjustHandles="1" noChangeArrowheads="1" noChangeShapeType="1" noTextEdit="1"/>
              </p:cNvSpPr>
              <p:nvPr/>
            </p:nvSpPr>
            <p:spPr>
              <a:xfrm>
                <a:off x="7492956" y="5755966"/>
                <a:ext cx="3285879" cy="408180"/>
              </a:xfrm>
              <a:prstGeom prst="roundRect">
                <a:avLst>
                  <a:gd name="adj" fmla="val 12000"/>
                </a:avLst>
              </a:prstGeom>
              <a:blipFill>
                <a:blip r:embed="rId4"/>
                <a:stretch>
                  <a:fillRect/>
                </a:stretch>
              </a:blipFill>
              <a:ln/>
            </p:spPr>
            <p:txBody>
              <a:bodyPr/>
              <a:lstStyle/>
              <a:p>
                <a:r>
                  <a:rPr lang="en-US">
                    <a:noFill/>
                  </a:rPr>
                  <a:t> </a:t>
                </a:r>
              </a:p>
            </p:txBody>
          </p:sp>
        </mc:Fallback>
      </mc:AlternateContent>
      <p:pic>
        <p:nvPicPr>
          <p:cNvPr id="15" name="Picture 14">
            <a:extLst>
              <a:ext uri="{FF2B5EF4-FFF2-40B4-BE49-F238E27FC236}">
                <a16:creationId xmlns:a16="http://schemas.microsoft.com/office/drawing/2014/main" id="{AD30DC8B-C61D-507B-5C7E-C81D630938D5}"/>
              </a:ext>
            </a:extLst>
          </p:cNvPr>
          <p:cNvPicPr>
            <a:picLocks noChangeAspect="1"/>
          </p:cNvPicPr>
          <p:nvPr/>
        </p:nvPicPr>
        <p:blipFill>
          <a:blip r:embed="rId5"/>
          <a:stretch>
            <a:fillRect/>
          </a:stretch>
        </p:blipFill>
        <p:spPr>
          <a:xfrm>
            <a:off x="1205971" y="2428276"/>
            <a:ext cx="4733861" cy="3200400"/>
          </a:xfrm>
          <a:prstGeom prst="rect">
            <a:avLst/>
          </a:prstGeom>
        </p:spPr>
      </p:pic>
      <p:pic>
        <p:nvPicPr>
          <p:cNvPr id="20" name="Picture 19">
            <a:extLst>
              <a:ext uri="{FF2B5EF4-FFF2-40B4-BE49-F238E27FC236}">
                <a16:creationId xmlns:a16="http://schemas.microsoft.com/office/drawing/2014/main" id="{36A8AF5B-3F72-5A4D-EA85-89D1DB48B819}"/>
              </a:ext>
            </a:extLst>
          </p:cNvPr>
          <p:cNvPicPr>
            <a:picLocks noChangeAspect="1"/>
          </p:cNvPicPr>
          <p:nvPr/>
        </p:nvPicPr>
        <p:blipFill>
          <a:blip r:embed="rId6"/>
          <a:stretch>
            <a:fillRect/>
          </a:stretch>
        </p:blipFill>
        <p:spPr>
          <a:xfrm>
            <a:off x="2856518" y="4418216"/>
            <a:ext cx="1734410" cy="640080"/>
          </a:xfrm>
          <a:prstGeom prst="rect">
            <a:avLst/>
          </a:prstGeom>
        </p:spPr>
      </p:pic>
      <p:pic>
        <p:nvPicPr>
          <p:cNvPr id="22" name="Picture 21">
            <a:extLst>
              <a:ext uri="{FF2B5EF4-FFF2-40B4-BE49-F238E27FC236}">
                <a16:creationId xmlns:a16="http://schemas.microsoft.com/office/drawing/2014/main" id="{FC923650-4CC7-8120-F459-7E0ED9238961}"/>
              </a:ext>
            </a:extLst>
          </p:cNvPr>
          <p:cNvPicPr>
            <a:picLocks noChangeAspect="1"/>
          </p:cNvPicPr>
          <p:nvPr/>
        </p:nvPicPr>
        <p:blipFill>
          <a:blip r:embed="rId7"/>
          <a:stretch>
            <a:fillRect/>
          </a:stretch>
        </p:blipFill>
        <p:spPr>
          <a:xfrm>
            <a:off x="6791052" y="2428276"/>
            <a:ext cx="4689685" cy="3200400"/>
          </a:xfrm>
          <a:prstGeom prst="rect">
            <a:avLst/>
          </a:prstGeom>
        </p:spPr>
      </p:pic>
      <p:pic>
        <p:nvPicPr>
          <p:cNvPr id="23" name="Picture 22">
            <a:extLst>
              <a:ext uri="{FF2B5EF4-FFF2-40B4-BE49-F238E27FC236}">
                <a16:creationId xmlns:a16="http://schemas.microsoft.com/office/drawing/2014/main" id="{CC0910DC-25F4-0A85-5641-30BE56AA2048}"/>
              </a:ext>
            </a:extLst>
          </p:cNvPr>
          <p:cNvPicPr>
            <a:picLocks noChangeAspect="1"/>
          </p:cNvPicPr>
          <p:nvPr/>
        </p:nvPicPr>
        <p:blipFill>
          <a:blip r:embed="rId6"/>
          <a:stretch>
            <a:fillRect/>
          </a:stretch>
        </p:blipFill>
        <p:spPr>
          <a:xfrm>
            <a:off x="9552370" y="2531117"/>
            <a:ext cx="1734410" cy="640080"/>
          </a:xfrm>
          <a:prstGeom prst="rect">
            <a:avLst/>
          </a:prstGeom>
        </p:spPr>
      </p:pic>
    </p:spTree>
    <p:extLst>
      <p:ext uri="{BB962C8B-B14F-4D97-AF65-F5344CB8AC3E}">
        <p14:creationId xmlns:p14="http://schemas.microsoft.com/office/powerpoint/2010/main" val="309321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3792E-E632-B838-2506-B387FBA373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5EECD3F-FD9E-F529-9912-76B4DDD8C87F}"/>
              </a:ext>
            </a:extLst>
          </p:cNvPr>
          <p:cNvSpPr/>
          <p:nvPr/>
        </p:nvSpPr>
        <p:spPr>
          <a:xfrm>
            <a:off x="575612" y="0"/>
            <a:ext cx="105104" cy="6858000"/>
          </a:xfrm>
          <a:prstGeom prst="rect">
            <a:avLst/>
          </a:prstGeom>
          <a:solidFill>
            <a:srgbClr val="43386F"/>
          </a:solidFill>
          <a:ln>
            <a:solidFill>
              <a:srgbClr val="43386F"/>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1319704-EF35-9DE2-3FFB-15FB80BF43B4}"/>
              </a:ext>
            </a:extLst>
          </p:cNvPr>
          <p:cNvSpPr/>
          <p:nvPr/>
        </p:nvSpPr>
        <p:spPr>
          <a:xfrm>
            <a:off x="0" y="1714500"/>
            <a:ext cx="546538" cy="3429000"/>
          </a:xfrm>
          <a:prstGeom prst="rect">
            <a:avLst/>
          </a:prstGeom>
          <a:solidFill>
            <a:schemeClr val="accent5">
              <a:lumMod val="50000"/>
            </a:schemeClr>
          </a:solidFill>
          <a:ln>
            <a:solidFill>
              <a:schemeClr val="accent5">
                <a:lumMod val="50000"/>
              </a:schemeClr>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B608ACC-8B9B-D1F2-2D72-BB154B486AFC}"/>
              </a:ext>
            </a:extLst>
          </p:cNvPr>
          <p:cNvSpPr/>
          <p:nvPr/>
        </p:nvSpPr>
        <p:spPr>
          <a:xfrm>
            <a:off x="628164" y="1229324"/>
            <a:ext cx="11540358" cy="95907"/>
          </a:xfrm>
          <a:prstGeom prst="rect">
            <a:avLst/>
          </a:prstGeom>
          <a:solidFill>
            <a:srgbClr val="43386F"/>
          </a:solidFill>
          <a:ln>
            <a:solidFill>
              <a:srgbClr val="43386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F6E719F-3C67-04B4-8BFC-4848BEFE65F7}"/>
              </a:ext>
            </a:extLst>
          </p:cNvPr>
          <p:cNvSpPr/>
          <p:nvPr/>
        </p:nvSpPr>
        <p:spPr>
          <a:xfrm>
            <a:off x="680716" y="1325231"/>
            <a:ext cx="11458732" cy="4562581"/>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799FD3E8-283A-E2D8-4DB1-CAA11B3B9C28}"/>
              </a:ext>
            </a:extLst>
          </p:cNvPr>
          <p:cNvSpPr txBox="1"/>
          <p:nvPr/>
        </p:nvSpPr>
        <p:spPr>
          <a:xfrm>
            <a:off x="838411" y="525906"/>
            <a:ext cx="5623540" cy="461665"/>
          </a:xfrm>
          <a:prstGeom prst="rect">
            <a:avLst/>
          </a:prstGeom>
          <a:solidFill>
            <a:schemeClr val="bg1"/>
          </a:solidFill>
          <a:ln w="28575">
            <a:solidFill>
              <a:schemeClr val="accent5">
                <a:lumMod val="50000"/>
              </a:schemeClr>
            </a:solidFill>
          </a:ln>
        </p:spPr>
        <p:txBody>
          <a:bodyPr wrap="square">
            <a:spAutoFit/>
          </a:bodyPr>
          <a:lstStyle/>
          <a:p>
            <a:r>
              <a:rPr lang="en-US" sz="2400" b="1" dirty="0">
                <a:solidFill>
                  <a:schemeClr val="accent2">
                    <a:lumMod val="50000"/>
                  </a:schemeClr>
                </a:solidFill>
                <a:latin typeface="Tahoma" panose="020B0604030504040204" pitchFamily="34" charset="0"/>
                <a:ea typeface="Tahoma" panose="020B0604030504040204" pitchFamily="34" charset="0"/>
                <a:cs typeface="Tahoma" panose="020B0604030504040204" pitchFamily="34" charset="0"/>
              </a:rPr>
              <a:t>Comparison of Run #1 and Run #2</a:t>
            </a:r>
          </a:p>
        </p:txBody>
      </p:sp>
      <p:sp>
        <p:nvSpPr>
          <p:cNvPr id="10" name="Content Placeholder 2">
            <a:extLst>
              <a:ext uri="{FF2B5EF4-FFF2-40B4-BE49-F238E27FC236}">
                <a16:creationId xmlns:a16="http://schemas.microsoft.com/office/drawing/2014/main" id="{E1CA00E5-463E-6D4A-1894-B6F6BD0E3F40}"/>
              </a:ext>
            </a:extLst>
          </p:cNvPr>
          <p:cNvSpPr txBox="1">
            <a:spLocks/>
          </p:cNvSpPr>
          <p:nvPr/>
        </p:nvSpPr>
        <p:spPr>
          <a:xfrm>
            <a:off x="1051545" y="1631275"/>
            <a:ext cx="6441412" cy="4107373"/>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00000"/>
              </a:lnSpc>
              <a:buFont typeface="Wingdings" pitchFamily="2" charset="2"/>
              <a:buChar char="§"/>
            </a:pPr>
            <a:endParaRPr lang="en-US" b="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11" name="Content Placeholder 3">
            <a:extLst>
              <a:ext uri="{FF2B5EF4-FFF2-40B4-BE49-F238E27FC236}">
                <a16:creationId xmlns:a16="http://schemas.microsoft.com/office/drawing/2014/main" id="{8211CA26-2659-63F2-701B-97F0D2331023}"/>
              </a:ext>
            </a:extLst>
          </p:cNvPr>
          <p:cNvSpPr txBox="1">
            <a:spLocks/>
          </p:cNvSpPr>
          <p:nvPr/>
        </p:nvSpPr>
        <p:spPr>
          <a:xfrm>
            <a:off x="7863786" y="1714500"/>
            <a:ext cx="3752601" cy="2743048"/>
          </a:xfrm>
          <a:prstGeom prst="rect">
            <a:avLst/>
          </a:prstGeom>
        </p:spPr>
        <p:txBody>
          <a:bodyPr>
            <a:normAutofit/>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marL="285750" indent="-285750">
              <a:lnSpc>
                <a:spcPct val="150000"/>
              </a:lnSpc>
              <a:buFont typeface="Wingdings" pitchFamily="2" charset="2"/>
              <a:buChar char="§"/>
            </a:pPr>
            <a:endParaRPr lang="en-US" dirty="0"/>
          </a:p>
        </p:txBody>
      </p:sp>
      <p:sp>
        <p:nvSpPr>
          <p:cNvPr id="12" name="Rectangle 11">
            <a:extLst>
              <a:ext uri="{FF2B5EF4-FFF2-40B4-BE49-F238E27FC236}">
                <a16:creationId xmlns:a16="http://schemas.microsoft.com/office/drawing/2014/main" id="{23794858-5398-0E5A-9945-5525F8462103}"/>
              </a:ext>
            </a:extLst>
          </p:cNvPr>
          <p:cNvSpPr/>
          <p:nvPr/>
        </p:nvSpPr>
        <p:spPr>
          <a:xfrm>
            <a:off x="680716" y="5887812"/>
            <a:ext cx="11458732" cy="970188"/>
          </a:xfrm>
          <a:prstGeom prst="rect">
            <a:avLst/>
          </a:prstGeom>
          <a:solidFill>
            <a:srgbClr val="536142"/>
          </a:solidFill>
          <a:ln>
            <a:solidFill>
              <a:srgbClr val="9EA5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D64A8226-217C-C198-60A8-64C7E42B7C85}"/>
                  </a:ext>
                </a:extLst>
              </p:cNvPr>
              <p:cNvGraphicFramePr>
                <a:graphicFrameLocks noGrp="1"/>
              </p:cNvGraphicFramePr>
              <p:nvPr/>
            </p:nvGraphicFramePr>
            <p:xfrm>
              <a:off x="1498362" y="1717865"/>
              <a:ext cx="9368420" cy="3096288"/>
            </p:xfrm>
            <a:graphic>
              <a:graphicData uri="http://schemas.openxmlformats.org/drawingml/2006/table">
                <a:tbl>
                  <a:tblPr firstRow="1" firstCol="1" bandRow="1">
                    <a:tableStyleId>{5940675A-B579-460E-94D1-54222C63F5DA}</a:tableStyleId>
                  </a:tblPr>
                  <a:tblGrid>
                    <a:gridCol w="2342105">
                      <a:extLst>
                        <a:ext uri="{9D8B030D-6E8A-4147-A177-3AD203B41FA5}">
                          <a16:colId xmlns:a16="http://schemas.microsoft.com/office/drawing/2014/main" val="3020828888"/>
                        </a:ext>
                      </a:extLst>
                    </a:gridCol>
                    <a:gridCol w="2342105">
                      <a:extLst>
                        <a:ext uri="{9D8B030D-6E8A-4147-A177-3AD203B41FA5}">
                          <a16:colId xmlns:a16="http://schemas.microsoft.com/office/drawing/2014/main" val="4122923738"/>
                        </a:ext>
                      </a:extLst>
                    </a:gridCol>
                    <a:gridCol w="2342105">
                      <a:extLst>
                        <a:ext uri="{9D8B030D-6E8A-4147-A177-3AD203B41FA5}">
                          <a16:colId xmlns:a16="http://schemas.microsoft.com/office/drawing/2014/main" val="1443539750"/>
                        </a:ext>
                      </a:extLst>
                    </a:gridCol>
                    <a:gridCol w="2342105">
                      <a:extLst>
                        <a:ext uri="{9D8B030D-6E8A-4147-A177-3AD203B41FA5}">
                          <a16:colId xmlns:a16="http://schemas.microsoft.com/office/drawing/2014/main" val="218607053"/>
                        </a:ext>
                      </a:extLst>
                    </a:gridCol>
                  </a:tblGrid>
                  <a:tr h="517326">
                    <a:tc>
                      <a:txBody>
                        <a:bodyPr/>
                        <a:lstStyle/>
                        <a:p>
                          <a:pPr marL="0" marR="0" algn="ctr">
                            <a:lnSpc>
                              <a:spcPct val="100000"/>
                            </a:lnSpc>
                            <a:spcBef>
                              <a:spcPts val="0"/>
                            </a:spcBef>
                            <a:spcAft>
                              <a:spcPts val="0"/>
                            </a:spcAft>
                          </a:pPr>
                          <a:r>
                            <a:rPr lang="en-US" altLang="en-US" sz="1600" b="1" dirty="0">
                              <a:solidFill>
                                <a:srgbClr val="000000"/>
                              </a:solidFill>
                              <a:latin typeface="Tahoma" panose="020B0604030504040204" pitchFamily="34" charset="0"/>
                              <a:ea typeface="Times New Roman" panose="02020603050405020304" pitchFamily="18" charset="0"/>
                            </a:rPr>
                            <a:t>Metric</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600" b="1" dirty="0">
                              <a:solidFill>
                                <a:srgbClr val="000000"/>
                              </a:solidFill>
                              <a:latin typeface="Tahoma" panose="020B0604030504040204" pitchFamily="34" charset="0"/>
                              <a:ea typeface="Times New Roman" panose="02020603050405020304" pitchFamily="18" charset="0"/>
                            </a:rPr>
                            <a:t>Error in Run #1</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600" b="1" dirty="0">
                              <a:solidFill>
                                <a:srgbClr val="000000"/>
                              </a:solidFill>
                              <a:latin typeface="Tahoma" panose="020B0604030504040204" pitchFamily="34" charset="0"/>
                              <a:ea typeface="Times New Roman" panose="02020603050405020304" pitchFamily="18" charset="0"/>
                            </a:rPr>
                            <a:t>Error in Run #2</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600" b="1" dirty="0">
                              <a:solidFill>
                                <a:srgbClr val="000000"/>
                              </a:solidFill>
                              <a:latin typeface="Tahoma" panose="020B0604030504040204" pitchFamily="34" charset="0"/>
                              <a:ea typeface="Times New Roman" panose="02020603050405020304" pitchFamily="18" charset="0"/>
                            </a:rPr>
                            <a:t>Verdict</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solidFill>
                          <a:schemeClr val="bg2">
                            <a:lumMod val="90000"/>
                          </a:schemeClr>
                        </a:solidFill>
                      </a:tcPr>
                    </a:tc>
                    <a:extLst>
                      <a:ext uri="{0D108BD9-81ED-4DB2-BD59-A6C34878D82A}">
                        <a16:rowId xmlns:a16="http://schemas.microsoft.com/office/drawing/2014/main" val="2681164120"/>
                      </a:ext>
                    </a:extLst>
                  </a:tr>
                  <a:tr h="798954">
                    <a:tc>
                      <a:txBody>
                        <a:bodyPr/>
                        <a:lstStyle/>
                        <a:p>
                          <a:pPr marL="0" marR="0" algn="ctr">
                            <a:lnSpc>
                              <a:spcPct val="100000"/>
                            </a:lnSpc>
                            <a:spcBef>
                              <a:spcPts val="0"/>
                            </a:spcBef>
                            <a:spcAft>
                              <a:spcPts val="0"/>
                            </a:spcAft>
                          </a:pPr>
                          <a:r>
                            <a:rPr lang="en-US" sz="1600" dirty="0">
                              <a:ea typeface="Cambria Math" panose="02040503050406030204" pitchFamily="18" charset="0"/>
                              <a:cs typeface="Tahoma" panose="020B0604030504040204" pitchFamily="34" charset="0"/>
                            </a:rPr>
                            <a:t>Mean </a:t>
                          </a:r>
                          <a14:m>
                            <m:oMath xmlns:m="http://schemas.openxmlformats.org/officeDocument/2006/math">
                              <m:sSub>
                                <m:sSubPr>
                                  <m:ctrlPr>
                                    <a:rPr lang="en-US" sz="1600" i="1" smtClean="0">
                                      <a:latin typeface="Cambria Math" panose="02040503050406030204" pitchFamily="18" charset="0"/>
                                      <a:ea typeface="Cambria Math" panose="02040503050406030204" pitchFamily="18" charset="0"/>
                                      <a:cs typeface="Tahoma" panose="020B0604030504040204" pitchFamily="34" charset="0"/>
                                    </a:rPr>
                                  </m:ctrlPr>
                                </m:sSubPr>
                                <m:e>
                                  <m:r>
                                    <a:rPr lang="en-US" sz="1600" b="0" i="1" smtClean="0">
                                      <a:latin typeface="Cambria Math" panose="02040503050406030204" pitchFamily="18" charset="0"/>
                                      <a:ea typeface="Cambria Math" panose="02040503050406030204" pitchFamily="18" charset="0"/>
                                      <a:cs typeface="Tahoma" panose="020B0604030504040204" pitchFamily="34" charset="0"/>
                                    </a:rPr>
                                    <m:t>𝑆</m:t>
                                  </m:r>
                                </m:e>
                                <m:sub>
                                  <m:r>
                                    <a:rPr lang="en-US" sz="1600" b="0" i="1" smtClean="0">
                                      <a:latin typeface="Cambria Math" panose="02040503050406030204" pitchFamily="18" charset="0"/>
                                      <a:ea typeface="Cambria Math" panose="02040503050406030204" pitchFamily="18" charset="0"/>
                                      <a:cs typeface="Tahoma" panose="020B0604030504040204" pitchFamily="34" charset="0"/>
                                    </a:rPr>
                                    <m:t>𝑒</m:t>
                                  </m:r>
                                </m:sub>
                              </m:sSub>
                            </m:oMath>
                          </a14:m>
                          <a:r>
                            <a:rPr lang="en-US" sz="1600" dirty="0">
                              <a:latin typeface="Tahoma" panose="020B0604030504040204" pitchFamily="34" charset="0"/>
                              <a:ea typeface="Tahoma" panose="020B0604030504040204" pitchFamily="34" charset="0"/>
                              <a:cs typeface="Tahoma" panose="020B0604030504040204" pitchFamily="34" charset="0"/>
                            </a:rPr>
                            <a:t> vs DNS truth </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0.027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0.247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Worse</a:t>
                          </a:r>
                        </a:p>
                      </a:txBody>
                      <a:tcPr marL="68580" marR="68580" marT="0" marB="0" anchor="ct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857250396"/>
                      </a:ext>
                    </a:extLst>
                  </a:tr>
                  <a:tr h="70658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ea typeface="Cambria Math" panose="02040503050406030204" pitchFamily="18" charset="0"/>
                              <a:cs typeface="Tahoma" panose="020B0604030504040204" pitchFamily="34" charset="0"/>
                            </a:rPr>
                            <a:t>Fluctuating </a:t>
                          </a:r>
                          <a14:m>
                            <m:oMath xmlns:m="http://schemas.openxmlformats.org/officeDocument/2006/math">
                              <m:sSub>
                                <m:sSubPr>
                                  <m:ctrlPr>
                                    <a:rPr lang="en-US" sz="1600" i="1" smtClean="0">
                                      <a:latin typeface="Cambria Math" panose="02040503050406030204" pitchFamily="18" charset="0"/>
                                      <a:ea typeface="Cambria Math" panose="02040503050406030204" pitchFamily="18" charset="0"/>
                                      <a:cs typeface="Tahoma" panose="020B0604030504040204" pitchFamily="34" charset="0"/>
                                    </a:rPr>
                                  </m:ctrlPr>
                                </m:sSubPr>
                                <m:e>
                                  <m:r>
                                    <a:rPr lang="en-US" sz="1600" b="0" i="1" smtClean="0">
                                      <a:latin typeface="Cambria Math" panose="02040503050406030204" pitchFamily="18" charset="0"/>
                                      <a:ea typeface="Cambria Math" panose="02040503050406030204" pitchFamily="18" charset="0"/>
                                      <a:cs typeface="Tahoma" panose="020B0604030504040204" pitchFamily="34" charset="0"/>
                                    </a:rPr>
                                    <m:t>𝑆</m:t>
                                  </m:r>
                                </m:e>
                                <m:sub>
                                  <m:r>
                                    <a:rPr lang="en-US" sz="1600" b="0" i="1" smtClean="0">
                                      <a:latin typeface="Cambria Math" panose="02040503050406030204" pitchFamily="18" charset="0"/>
                                      <a:ea typeface="Cambria Math" panose="02040503050406030204" pitchFamily="18" charset="0"/>
                                      <a:cs typeface="Tahoma" panose="020B0604030504040204" pitchFamily="34" charset="0"/>
                                    </a:rPr>
                                    <m:t>𝑒</m:t>
                                  </m:r>
                                </m:sub>
                              </m:sSub>
                            </m:oMath>
                          </a14:m>
                          <a:r>
                            <a:rPr lang="en-US" sz="1600" dirty="0">
                              <a:latin typeface="Tahoma" panose="020B0604030504040204" pitchFamily="34" charset="0"/>
                              <a:ea typeface="Tahoma" panose="020B0604030504040204" pitchFamily="34" charset="0"/>
                              <a:cs typeface="Tahoma" panose="020B0604030504040204" pitchFamily="34" charset="0"/>
                            </a:rPr>
                            <a:t> vs DNS truth</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0.093</a:t>
                          </a: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0.106</a:t>
                          </a: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Unchanged</a:t>
                          </a:r>
                        </a:p>
                      </a:txBody>
                      <a:tcPr marL="68580" marR="68580" marT="0" marB="0" anchor="ctr">
                        <a:lnL w="12700" cap="flat" cmpd="sng" algn="ctr">
                          <a:solidFill>
                            <a:schemeClr val="tx1"/>
                          </a:solidFill>
                          <a:prstDash val="solid"/>
                          <a:round/>
                          <a:headEnd type="none" w="med" len="med"/>
                          <a:tailEnd type="none" w="med" len="med"/>
                        </a:lnL>
                        <a:solidFill>
                          <a:schemeClr val="bg2">
                            <a:lumMod val="90000"/>
                          </a:schemeClr>
                        </a:solidFill>
                      </a:tcPr>
                    </a:tc>
                    <a:extLst>
                      <a:ext uri="{0D108BD9-81ED-4DB2-BD59-A6C34878D82A}">
                        <a16:rowId xmlns:a16="http://schemas.microsoft.com/office/drawing/2014/main" val="990567453"/>
                      </a:ext>
                    </a:extLst>
                  </a:tr>
                  <a:tr h="543339">
                    <a:tc>
                      <a:txBody>
                        <a:bodyPr/>
                        <a:lstStyle/>
                        <a:p>
                          <a:pPr marL="0" marR="0" algn="ctr">
                            <a:lnSpc>
                              <a:spcPct val="100000"/>
                            </a:lnSpc>
                            <a:spcBef>
                              <a:spcPts val="0"/>
                            </a:spcBef>
                            <a:spcAft>
                              <a:spcPts val="0"/>
                            </a:spcAft>
                          </a:pPr>
                          <a:r>
                            <a:rPr lang="en-US" sz="1600" dirty="0">
                              <a:ea typeface="Cambria Math" panose="02040503050406030204" pitchFamily="18" charset="0"/>
                              <a:cs typeface="Tahoma" panose="020B0604030504040204" pitchFamily="34" charset="0"/>
                            </a:rPr>
                            <a:t>Mean </a:t>
                          </a:r>
                          <a14:m>
                            <m:oMath xmlns:m="http://schemas.openxmlformats.org/officeDocument/2006/math">
                              <m:sSub>
                                <m:sSubPr>
                                  <m:ctrlPr>
                                    <a:rPr lang="en-US" sz="1600" i="1" smtClean="0">
                                      <a:latin typeface="Cambria Math" panose="02040503050406030204" pitchFamily="18" charset="0"/>
                                      <a:ea typeface="Cambria Math" panose="02040503050406030204" pitchFamily="18" charset="0"/>
                                      <a:cs typeface="Tahoma" panose="020B0604030504040204" pitchFamily="34" charset="0"/>
                                    </a:rPr>
                                  </m:ctrlPr>
                                </m:sSubPr>
                                <m:e>
                                  <m:r>
                                    <a:rPr lang="en-US" sz="1600" b="0" i="1" smtClean="0">
                                      <a:latin typeface="Cambria Math" panose="02040503050406030204" pitchFamily="18" charset="0"/>
                                      <a:ea typeface="Cambria Math" panose="02040503050406030204" pitchFamily="18" charset="0"/>
                                      <a:cs typeface="Tahoma" panose="020B0604030504040204" pitchFamily="34" charset="0"/>
                                    </a:rPr>
                                    <m:t>𝑞</m:t>
                                  </m:r>
                                </m:e>
                                <m:sub>
                                  <m:r>
                                    <a:rPr lang="en-US" sz="1600" b="0" i="1" smtClean="0">
                                      <a:latin typeface="Cambria Math" panose="02040503050406030204" pitchFamily="18" charset="0"/>
                                      <a:ea typeface="Cambria Math" panose="02040503050406030204" pitchFamily="18" charset="0"/>
                                      <a:cs typeface="Tahoma" panose="020B0604030504040204" pitchFamily="34" charset="0"/>
                                    </a:rPr>
                                    <m:t>𝑐</m:t>
                                  </m:r>
                                </m:sub>
                              </m:sSub>
                            </m:oMath>
                          </a14:m>
                          <a:r>
                            <a:rPr lang="en-US" sz="1600" dirty="0">
                              <a:latin typeface="Tahoma" panose="020B0604030504040204" pitchFamily="34" charset="0"/>
                              <a:ea typeface="Tahoma" panose="020B0604030504040204" pitchFamily="34" charset="0"/>
                              <a:cs typeface="Tahoma" panose="020B0604030504040204" pitchFamily="34" charset="0"/>
                            </a:rPr>
                            <a:t> vs DNS truth</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0.65</a:t>
                          </a:r>
                        </a:p>
                      </a:txBody>
                      <a:tcPr marL="68580" marR="68580" marT="0" marB="0" anchor="ctr">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0.0033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Significantly Better</a:t>
                          </a:r>
                        </a:p>
                      </a:txBody>
                      <a:tcPr marL="68580" marR="68580" marT="0" marB="0" anchor="ct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844778031"/>
                      </a:ext>
                    </a:extLst>
                  </a:tr>
                  <a:tr h="5300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ea typeface="Cambria Math" panose="02040503050406030204" pitchFamily="18" charset="0"/>
                              <a:cs typeface="Tahoma" panose="020B0604030504040204" pitchFamily="34" charset="0"/>
                            </a:rPr>
                            <a:t>Fluctuating </a:t>
                          </a:r>
                          <a14:m>
                            <m:oMath xmlns:m="http://schemas.openxmlformats.org/officeDocument/2006/math">
                              <m:sSub>
                                <m:sSubPr>
                                  <m:ctrlPr>
                                    <a:rPr lang="en-US" sz="1600" i="1" smtClean="0">
                                      <a:latin typeface="Cambria Math" panose="02040503050406030204" pitchFamily="18" charset="0"/>
                                      <a:ea typeface="Cambria Math" panose="02040503050406030204" pitchFamily="18" charset="0"/>
                                      <a:cs typeface="Tahoma" panose="020B0604030504040204" pitchFamily="34" charset="0"/>
                                    </a:rPr>
                                  </m:ctrlPr>
                                </m:sSubPr>
                                <m:e>
                                  <m:r>
                                    <a:rPr lang="en-US" sz="1600" b="0" i="1" smtClean="0">
                                      <a:latin typeface="Cambria Math" panose="02040503050406030204" pitchFamily="18" charset="0"/>
                                      <a:ea typeface="Cambria Math" panose="02040503050406030204" pitchFamily="18" charset="0"/>
                                      <a:cs typeface="Tahoma" panose="020B0604030504040204" pitchFamily="34" charset="0"/>
                                    </a:rPr>
                                    <m:t>𝑞</m:t>
                                  </m:r>
                                </m:e>
                                <m:sub>
                                  <m:r>
                                    <a:rPr lang="en-US" sz="1600" b="0" i="1" smtClean="0">
                                      <a:latin typeface="Cambria Math" panose="02040503050406030204" pitchFamily="18" charset="0"/>
                                      <a:ea typeface="Cambria Math" panose="02040503050406030204" pitchFamily="18" charset="0"/>
                                      <a:cs typeface="Tahoma" panose="020B0604030504040204" pitchFamily="34" charset="0"/>
                                    </a:rPr>
                                    <m:t>𝑐</m:t>
                                  </m:r>
                                </m:sub>
                              </m:sSub>
                            </m:oMath>
                          </a14:m>
                          <a:r>
                            <a:rPr lang="en-US" sz="1600" dirty="0">
                              <a:latin typeface="Tahoma" panose="020B0604030504040204" pitchFamily="34" charset="0"/>
                              <a:ea typeface="Tahoma" panose="020B0604030504040204" pitchFamily="34" charset="0"/>
                              <a:cs typeface="Tahoma" panose="020B0604030504040204" pitchFamily="34" charset="0"/>
                            </a:rPr>
                            <a:t> vs DNS truth</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0.86</a:t>
                          </a:r>
                        </a:p>
                      </a:txBody>
                      <a:tcPr marL="68580" marR="68580" marT="0" marB="0" anchor="ctr">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0.37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Better</a:t>
                          </a:r>
                        </a:p>
                      </a:txBody>
                      <a:tcPr marL="68580" marR="68580" marT="0" marB="0" anchor="ctr">
                        <a:lnL w="12700" cap="flat" cmpd="sng" algn="ctr">
                          <a:solidFill>
                            <a:schemeClr val="tx1"/>
                          </a:solidFill>
                          <a:prstDash val="solid"/>
                          <a:round/>
                          <a:headEnd type="none" w="med" len="med"/>
                          <a:tailEnd type="none" w="med" len="med"/>
                        </a:lnL>
                        <a:solidFill>
                          <a:schemeClr val="bg2">
                            <a:lumMod val="90000"/>
                          </a:schemeClr>
                        </a:solidFill>
                      </a:tcPr>
                    </a:tc>
                    <a:extLst>
                      <a:ext uri="{0D108BD9-81ED-4DB2-BD59-A6C34878D82A}">
                        <a16:rowId xmlns:a16="http://schemas.microsoft.com/office/drawing/2014/main" val="1011329732"/>
                      </a:ext>
                    </a:extLst>
                  </a:tr>
                </a:tbl>
              </a:graphicData>
            </a:graphic>
          </p:graphicFrame>
        </mc:Choice>
        <mc:Fallback xmlns="">
          <p:graphicFrame>
            <p:nvGraphicFramePr>
              <p:cNvPr id="9" name="Table 8">
                <a:extLst>
                  <a:ext uri="{FF2B5EF4-FFF2-40B4-BE49-F238E27FC236}">
                    <a16:creationId xmlns:a16="http://schemas.microsoft.com/office/drawing/2014/main" id="{D64A8226-217C-C198-60A8-64C7E42B7C85}"/>
                  </a:ext>
                </a:extLst>
              </p:cNvPr>
              <p:cNvGraphicFramePr>
                <a:graphicFrameLocks noGrp="1"/>
              </p:cNvGraphicFramePr>
              <p:nvPr>
                <p:extLst>
                  <p:ext uri="{D42A27DB-BD31-4B8C-83A1-F6EECF244321}">
                    <p14:modId xmlns:p14="http://schemas.microsoft.com/office/powerpoint/2010/main" val="4246485840"/>
                  </p:ext>
                </p:extLst>
              </p:nvPr>
            </p:nvGraphicFramePr>
            <p:xfrm>
              <a:off x="1498362" y="1717865"/>
              <a:ext cx="9368420" cy="3096288"/>
            </p:xfrm>
            <a:graphic>
              <a:graphicData uri="http://schemas.openxmlformats.org/drawingml/2006/table">
                <a:tbl>
                  <a:tblPr firstRow="1" firstCol="1" bandRow="1">
                    <a:tableStyleId>{5940675A-B579-460E-94D1-54222C63F5DA}</a:tableStyleId>
                  </a:tblPr>
                  <a:tblGrid>
                    <a:gridCol w="2342105">
                      <a:extLst>
                        <a:ext uri="{9D8B030D-6E8A-4147-A177-3AD203B41FA5}">
                          <a16:colId xmlns:a16="http://schemas.microsoft.com/office/drawing/2014/main" val="3020828888"/>
                        </a:ext>
                      </a:extLst>
                    </a:gridCol>
                    <a:gridCol w="2342105">
                      <a:extLst>
                        <a:ext uri="{9D8B030D-6E8A-4147-A177-3AD203B41FA5}">
                          <a16:colId xmlns:a16="http://schemas.microsoft.com/office/drawing/2014/main" val="4122923738"/>
                        </a:ext>
                      </a:extLst>
                    </a:gridCol>
                    <a:gridCol w="2342105">
                      <a:extLst>
                        <a:ext uri="{9D8B030D-6E8A-4147-A177-3AD203B41FA5}">
                          <a16:colId xmlns:a16="http://schemas.microsoft.com/office/drawing/2014/main" val="1443539750"/>
                        </a:ext>
                      </a:extLst>
                    </a:gridCol>
                    <a:gridCol w="2342105">
                      <a:extLst>
                        <a:ext uri="{9D8B030D-6E8A-4147-A177-3AD203B41FA5}">
                          <a16:colId xmlns:a16="http://schemas.microsoft.com/office/drawing/2014/main" val="218607053"/>
                        </a:ext>
                      </a:extLst>
                    </a:gridCol>
                  </a:tblGrid>
                  <a:tr h="517326">
                    <a:tc>
                      <a:txBody>
                        <a:bodyPr/>
                        <a:lstStyle/>
                        <a:p>
                          <a:pPr marL="0" marR="0" algn="ctr">
                            <a:lnSpc>
                              <a:spcPct val="100000"/>
                            </a:lnSpc>
                            <a:spcBef>
                              <a:spcPts val="0"/>
                            </a:spcBef>
                            <a:spcAft>
                              <a:spcPts val="0"/>
                            </a:spcAft>
                          </a:pPr>
                          <a:r>
                            <a:rPr lang="en-US" altLang="en-US" sz="1600" b="1" dirty="0">
                              <a:solidFill>
                                <a:srgbClr val="000000"/>
                              </a:solidFill>
                              <a:latin typeface="Tahoma" panose="020B0604030504040204" pitchFamily="34" charset="0"/>
                              <a:ea typeface="Times New Roman" panose="02020603050405020304" pitchFamily="18" charset="0"/>
                            </a:rPr>
                            <a:t>Metric</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600" b="1" dirty="0">
                              <a:solidFill>
                                <a:srgbClr val="000000"/>
                              </a:solidFill>
                              <a:latin typeface="Tahoma" panose="020B0604030504040204" pitchFamily="34" charset="0"/>
                              <a:ea typeface="Times New Roman" panose="02020603050405020304" pitchFamily="18" charset="0"/>
                            </a:rPr>
                            <a:t>Error in Run #1</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600" b="1" dirty="0">
                              <a:solidFill>
                                <a:srgbClr val="000000"/>
                              </a:solidFill>
                              <a:latin typeface="Tahoma" panose="020B0604030504040204" pitchFamily="34" charset="0"/>
                              <a:ea typeface="Times New Roman" panose="02020603050405020304" pitchFamily="18" charset="0"/>
                            </a:rPr>
                            <a:t>Error in Run #2</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en-US" sz="1600" b="1" dirty="0">
                              <a:solidFill>
                                <a:srgbClr val="000000"/>
                              </a:solidFill>
                              <a:latin typeface="Tahoma" panose="020B0604030504040204" pitchFamily="34" charset="0"/>
                              <a:ea typeface="Times New Roman" panose="02020603050405020304" pitchFamily="18" charset="0"/>
                            </a:rPr>
                            <a:t>Verdict</a:t>
                          </a:r>
                          <a:endPar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solidFill>
                          <a:schemeClr val="bg2">
                            <a:lumMod val="90000"/>
                          </a:schemeClr>
                        </a:solidFill>
                      </a:tcPr>
                    </a:tc>
                    <a:extLst>
                      <a:ext uri="{0D108BD9-81ED-4DB2-BD59-A6C34878D82A}">
                        <a16:rowId xmlns:a16="http://schemas.microsoft.com/office/drawing/2014/main" val="2681164120"/>
                      </a:ext>
                    </a:extLst>
                  </a:tr>
                  <a:tr h="798954">
                    <a:tc>
                      <a:txBody>
                        <a:bodyPr/>
                        <a:lstStyle/>
                        <a:p>
                          <a:endParaRPr lang="en-US"/>
                        </a:p>
                      </a:txBody>
                      <a:tcPr marL="68580" marR="68580" marT="0" marB="0" anchor="ctr">
                        <a:lnR w="12700" cap="flat" cmpd="sng" algn="ctr">
                          <a:solidFill>
                            <a:schemeClr val="tx1"/>
                          </a:solidFill>
                          <a:prstDash val="solid"/>
                          <a:round/>
                          <a:headEnd type="none" w="med" len="med"/>
                          <a:tailEnd type="none" w="med" len="med"/>
                        </a:lnR>
                        <a:blipFill>
                          <a:blip r:embed="rId3"/>
                          <a:stretch>
                            <a:fillRect t="-66667" r="-300000" b="-23492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0.027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0.247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Worse</a:t>
                          </a:r>
                        </a:p>
                      </a:txBody>
                      <a:tcPr marL="68580" marR="68580" marT="0" marB="0" anchor="ct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857250396"/>
                      </a:ext>
                    </a:extLst>
                  </a:tr>
                  <a:tr h="706582">
                    <a:tc>
                      <a:txBody>
                        <a:bodyPr/>
                        <a:lstStyle/>
                        <a:p>
                          <a:endParaRPr lang="en-US"/>
                        </a:p>
                      </a:txBody>
                      <a:tcPr marL="68580" marR="68580" marT="0" marB="0" anchor="ctr">
                        <a:blipFill>
                          <a:blip r:embed="rId3"/>
                          <a:stretch>
                            <a:fillRect t="-187500" r="-300000" b="-164286"/>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0.093</a:t>
                          </a: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0.106</a:t>
                          </a: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Unchanged</a:t>
                          </a:r>
                        </a:p>
                      </a:txBody>
                      <a:tcPr marL="68580" marR="68580" marT="0" marB="0" anchor="ctr">
                        <a:lnL w="12700" cap="flat" cmpd="sng" algn="ctr">
                          <a:solidFill>
                            <a:schemeClr val="tx1"/>
                          </a:solidFill>
                          <a:prstDash val="solid"/>
                          <a:round/>
                          <a:headEnd type="none" w="med" len="med"/>
                          <a:tailEnd type="none" w="med" len="med"/>
                        </a:lnL>
                        <a:solidFill>
                          <a:schemeClr val="bg2">
                            <a:lumMod val="90000"/>
                          </a:schemeClr>
                        </a:solidFill>
                      </a:tcPr>
                    </a:tc>
                    <a:extLst>
                      <a:ext uri="{0D108BD9-81ED-4DB2-BD59-A6C34878D82A}">
                        <a16:rowId xmlns:a16="http://schemas.microsoft.com/office/drawing/2014/main" val="990567453"/>
                      </a:ext>
                    </a:extLst>
                  </a:tr>
                  <a:tr h="543339">
                    <a:tc>
                      <a:txBody>
                        <a:bodyPr/>
                        <a:lstStyle/>
                        <a:p>
                          <a:endParaRPr lang="en-US"/>
                        </a:p>
                      </a:txBody>
                      <a:tcPr marL="68580" marR="68580" marT="0" marB="0" anchor="ctr">
                        <a:blipFill>
                          <a:blip r:embed="rId3"/>
                          <a:stretch>
                            <a:fillRect t="-374419" r="-300000" b="-113953"/>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0.65</a:t>
                          </a:r>
                        </a:p>
                      </a:txBody>
                      <a:tcPr marL="68580" marR="68580" marT="0" marB="0" anchor="ctr">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0.0033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Significantly Better</a:t>
                          </a:r>
                        </a:p>
                      </a:txBody>
                      <a:tcPr marL="68580" marR="68580" marT="0" marB="0" anchor="ct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3844778031"/>
                      </a:ext>
                    </a:extLst>
                  </a:tr>
                  <a:tr h="530087">
                    <a:tc>
                      <a:txBody>
                        <a:bodyPr/>
                        <a:lstStyle/>
                        <a:p>
                          <a:endParaRPr lang="en-US"/>
                        </a:p>
                      </a:txBody>
                      <a:tcPr marL="68580" marR="68580" marT="0" marB="0" anchor="ctr">
                        <a:blipFill>
                          <a:blip r:embed="rId3"/>
                          <a:stretch>
                            <a:fillRect t="-485714" r="-300000" b="-16667"/>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0.86</a:t>
                          </a:r>
                        </a:p>
                      </a:txBody>
                      <a:tcPr marL="68580" marR="68580" marT="0" marB="0" anchor="ctr">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0.37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Better</a:t>
                          </a:r>
                        </a:p>
                      </a:txBody>
                      <a:tcPr marL="68580" marR="68580" marT="0" marB="0" anchor="ctr">
                        <a:lnL w="12700" cap="flat" cmpd="sng" algn="ctr">
                          <a:solidFill>
                            <a:schemeClr val="tx1"/>
                          </a:solidFill>
                          <a:prstDash val="solid"/>
                          <a:round/>
                          <a:headEnd type="none" w="med" len="med"/>
                          <a:tailEnd type="none" w="med" len="med"/>
                        </a:lnL>
                        <a:solidFill>
                          <a:schemeClr val="bg2">
                            <a:lumMod val="90000"/>
                          </a:schemeClr>
                        </a:solidFill>
                      </a:tcPr>
                    </a:tc>
                    <a:extLst>
                      <a:ext uri="{0D108BD9-81ED-4DB2-BD59-A6C34878D82A}">
                        <a16:rowId xmlns:a16="http://schemas.microsoft.com/office/drawing/2014/main" val="1011329732"/>
                      </a:ext>
                    </a:extLst>
                  </a:tr>
                </a:tbl>
              </a:graphicData>
            </a:graphic>
          </p:graphicFrame>
        </mc:Fallback>
      </mc:AlternateContent>
      <p:sp>
        <p:nvSpPr>
          <p:cNvPr id="13" name="Rectangle 12">
            <a:extLst>
              <a:ext uri="{FF2B5EF4-FFF2-40B4-BE49-F238E27FC236}">
                <a16:creationId xmlns:a16="http://schemas.microsoft.com/office/drawing/2014/main" id="{CF76F00E-1931-4161-94E8-310600470E4E}"/>
              </a:ext>
            </a:extLst>
          </p:cNvPr>
          <p:cNvSpPr/>
          <p:nvPr/>
        </p:nvSpPr>
        <p:spPr>
          <a:xfrm>
            <a:off x="1487554" y="5030666"/>
            <a:ext cx="9379228" cy="620013"/>
          </a:xfrm>
          <a:prstGeom prst="rect">
            <a:avLst/>
          </a:prstGeom>
          <a:solidFill>
            <a:srgbClr val="FAF8F2"/>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sz="1600" dirty="0">
                <a:latin typeface="Tahoma" panose="020B0604030504040204" pitchFamily="34" charset="0"/>
                <a:ea typeface="Tahoma" panose="020B0604030504040204" pitchFamily="34" charset="0"/>
                <a:cs typeface="Tahoma" panose="020B0604030504040204" pitchFamily="34" charset="0"/>
              </a:rPr>
              <a:t>For future runs, the stochastic FNO model’s width/modes/layers need to be increased. This will increase the memory requirements and thus the model needs to be deployed on Perlmutter.</a:t>
            </a:r>
          </a:p>
        </p:txBody>
      </p:sp>
    </p:spTree>
    <p:extLst>
      <p:ext uri="{BB962C8B-B14F-4D97-AF65-F5344CB8AC3E}">
        <p14:creationId xmlns:p14="http://schemas.microsoft.com/office/powerpoint/2010/main" val="215971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1635</Words>
  <Application>Microsoft Macintosh PowerPoint</Application>
  <PresentationFormat>Widescreen</PresentationFormat>
  <Paragraphs>170</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Arial</vt:lpstr>
      <vt:lpstr>Cambria Math</vt:lpstr>
      <vt:lpstr>Tahoma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Abdullah Al Muti Sharfuddin</dc:creator>
  <cp:lastModifiedBy>Abdullah Al Muti Sharfuddin</cp:lastModifiedBy>
  <cp:revision>1</cp:revision>
  <dcterms:created xsi:type="dcterms:W3CDTF">2026-07-27T10:09:16Z</dcterms:created>
  <dcterms:modified xsi:type="dcterms:W3CDTF">2026-07-27T10:12:39Z</dcterms:modified>
</cp:coreProperties>
</file>